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98"/>
  </p:notesMasterIdLst>
  <p:handoutMasterIdLst>
    <p:handoutMasterId r:id="rId99"/>
  </p:handoutMasterIdLst>
  <p:sldIdLst>
    <p:sldId id="256" r:id="rId5"/>
    <p:sldId id="257" r:id="rId6"/>
    <p:sldId id="317" r:id="rId7"/>
    <p:sldId id="336" r:id="rId8"/>
    <p:sldId id="318" r:id="rId9"/>
    <p:sldId id="323" r:id="rId10"/>
    <p:sldId id="326" r:id="rId11"/>
    <p:sldId id="337" r:id="rId12"/>
    <p:sldId id="339" r:id="rId13"/>
    <p:sldId id="444" r:id="rId14"/>
    <p:sldId id="445" r:id="rId15"/>
    <p:sldId id="446" r:id="rId16"/>
    <p:sldId id="447" r:id="rId17"/>
    <p:sldId id="448" r:id="rId18"/>
    <p:sldId id="288" r:id="rId19"/>
    <p:sldId id="289" r:id="rId20"/>
    <p:sldId id="290" r:id="rId21"/>
    <p:sldId id="335" r:id="rId22"/>
    <p:sldId id="319" r:id="rId23"/>
    <p:sldId id="324" r:id="rId24"/>
    <p:sldId id="331" r:id="rId25"/>
    <p:sldId id="332" r:id="rId26"/>
    <p:sldId id="325" r:id="rId27"/>
    <p:sldId id="327" r:id="rId28"/>
    <p:sldId id="328" r:id="rId29"/>
    <p:sldId id="329" r:id="rId30"/>
    <p:sldId id="341" r:id="rId31"/>
    <p:sldId id="333" r:id="rId32"/>
    <p:sldId id="334" r:id="rId33"/>
    <p:sldId id="330" r:id="rId34"/>
    <p:sldId id="340" r:id="rId35"/>
    <p:sldId id="342" r:id="rId36"/>
    <p:sldId id="343" r:id="rId37"/>
    <p:sldId id="293" r:id="rId38"/>
    <p:sldId id="294" r:id="rId39"/>
    <p:sldId id="344" r:id="rId40"/>
    <p:sldId id="316" r:id="rId41"/>
    <p:sldId id="295" r:id="rId42"/>
    <p:sldId id="296" r:id="rId43"/>
    <p:sldId id="353" r:id="rId44"/>
    <p:sldId id="354" r:id="rId45"/>
    <p:sldId id="297" r:id="rId46"/>
    <p:sldId id="345" r:id="rId47"/>
    <p:sldId id="298" r:id="rId48"/>
    <p:sldId id="299" r:id="rId49"/>
    <p:sldId id="302" r:id="rId50"/>
    <p:sldId id="301" r:id="rId51"/>
    <p:sldId id="303" r:id="rId52"/>
    <p:sldId id="304" r:id="rId53"/>
    <p:sldId id="355" r:id="rId54"/>
    <p:sldId id="315" r:id="rId55"/>
    <p:sldId id="350" r:id="rId56"/>
    <p:sldId id="357" r:id="rId57"/>
    <p:sldId id="356" r:id="rId58"/>
    <p:sldId id="320" r:id="rId59"/>
    <p:sldId id="358" r:id="rId60"/>
    <p:sldId id="346" r:id="rId61"/>
    <p:sldId id="359" r:id="rId62"/>
    <p:sldId id="360" r:id="rId63"/>
    <p:sldId id="361" r:id="rId64"/>
    <p:sldId id="362" r:id="rId65"/>
    <p:sldId id="363" r:id="rId66"/>
    <p:sldId id="364" r:id="rId67"/>
    <p:sldId id="365" r:id="rId68"/>
    <p:sldId id="308" r:id="rId69"/>
    <p:sldId id="321" r:id="rId70"/>
    <p:sldId id="366" r:id="rId71"/>
    <p:sldId id="258" r:id="rId72"/>
    <p:sldId id="274" r:id="rId73"/>
    <p:sldId id="367" r:id="rId74"/>
    <p:sldId id="277" r:id="rId75"/>
    <p:sldId id="275" r:id="rId76"/>
    <p:sldId id="276" r:id="rId77"/>
    <p:sldId id="374" r:id="rId78"/>
    <p:sldId id="368" r:id="rId79"/>
    <p:sldId id="370" r:id="rId80"/>
    <p:sldId id="376" r:id="rId81"/>
    <p:sldId id="372" r:id="rId82"/>
    <p:sldId id="369" r:id="rId83"/>
    <p:sldId id="281" r:id="rId84"/>
    <p:sldId id="259" r:id="rId85"/>
    <p:sldId id="260" r:id="rId86"/>
    <p:sldId id="283" r:id="rId87"/>
    <p:sldId id="282" r:id="rId88"/>
    <p:sldId id="261" r:id="rId89"/>
    <p:sldId id="263" r:id="rId90"/>
    <p:sldId id="266" r:id="rId91"/>
    <p:sldId id="373" r:id="rId92"/>
    <p:sldId id="267" r:id="rId93"/>
    <p:sldId id="378" r:id="rId94"/>
    <p:sldId id="284" r:id="rId95"/>
    <p:sldId id="375" r:id="rId96"/>
    <p:sldId id="313" r:id="rId9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4789477-0031-F1BA-EF7E-C44843E3DA8A}" name="Casarin  Pietro" initials="PC" userId="S::s331312@studenti.polito.it::4f7a56a9-676c-4f1f-852c-a7281ab1f40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4472C4"/>
    <a:srgbClr val="FFFFFF"/>
    <a:srgbClr val="C5E0B4"/>
    <a:srgbClr val="FFACAC"/>
    <a:srgbClr val="A9D18E"/>
    <a:srgbClr val="8FAADC"/>
    <a:srgbClr val="FBFED2"/>
    <a:srgbClr val="00B050"/>
    <a:srgbClr val="FF2B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04" autoAdjust="0"/>
  </p:normalViewPr>
  <p:slideViewPr>
    <p:cSldViewPr snapToGrid="0">
      <p:cViewPr varScale="1">
        <p:scale>
          <a:sx n="112" d="100"/>
          <a:sy n="112" d="100"/>
        </p:scale>
        <p:origin x="552" y="9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2" d="100"/>
          <a:sy n="82" d="100"/>
        </p:scale>
        <p:origin x="3876"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heme" Target="theme/theme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presProps" Target="presProps.xml"/><Relationship Id="rId105"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notesMaster" Target="notesMasters/notesMaster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eo  Nicoli" userId="d701345e-286f-4444-af52-aa3e4a8a3db2" providerId="ADAL" clId="{93166CBF-7169-479B-8B08-D1E2A3000897}"/>
    <pc:docChg chg="undo custSel addSld delSld delMainMaster modMainMaster">
      <pc:chgData name="Matteo  Nicoli" userId="d701345e-286f-4444-af52-aa3e4a8a3db2" providerId="ADAL" clId="{93166CBF-7169-479B-8B08-D1E2A3000897}" dt="2025-02-04T09:23:58.213" v="32" actId="47"/>
      <pc:docMkLst>
        <pc:docMk/>
      </pc:docMkLst>
      <pc:sldChg chg="new del">
        <pc:chgData name="Matteo  Nicoli" userId="d701345e-286f-4444-af52-aa3e4a8a3db2" providerId="ADAL" clId="{93166CBF-7169-479B-8B08-D1E2A3000897}" dt="2025-02-04T09:23:21.124" v="28" actId="47"/>
        <pc:sldMkLst>
          <pc:docMk/>
          <pc:sldMk cId="222216928" sldId="257"/>
        </pc:sldMkLst>
      </pc:sldChg>
      <pc:sldChg chg="new del">
        <pc:chgData name="Matteo  Nicoli" userId="d701345e-286f-4444-af52-aa3e4a8a3db2" providerId="ADAL" clId="{93166CBF-7169-479B-8B08-D1E2A3000897}" dt="2025-02-04T09:23:06.462" v="23" actId="47"/>
        <pc:sldMkLst>
          <pc:docMk/>
          <pc:sldMk cId="1302439349" sldId="257"/>
        </pc:sldMkLst>
      </pc:sldChg>
      <pc:sldChg chg="new del">
        <pc:chgData name="Matteo  Nicoli" userId="d701345e-286f-4444-af52-aa3e4a8a3db2" providerId="ADAL" clId="{93166CBF-7169-479B-8B08-D1E2A3000897}" dt="2025-02-04T09:23:50.476" v="30" actId="47"/>
        <pc:sldMkLst>
          <pc:docMk/>
          <pc:sldMk cId="1302671971" sldId="257"/>
        </pc:sldMkLst>
      </pc:sldChg>
      <pc:sldChg chg="new del">
        <pc:chgData name="Matteo  Nicoli" userId="d701345e-286f-4444-af52-aa3e4a8a3db2" providerId="ADAL" clId="{93166CBF-7169-479B-8B08-D1E2A3000897}" dt="2025-02-04T09:23:58.213" v="32" actId="47"/>
        <pc:sldMkLst>
          <pc:docMk/>
          <pc:sldMk cId="2777094024" sldId="257"/>
        </pc:sldMkLst>
      </pc:sldChg>
      <pc:sldChg chg="new del">
        <pc:chgData name="Matteo  Nicoli" userId="d701345e-286f-4444-af52-aa3e4a8a3db2" providerId="ADAL" clId="{93166CBF-7169-479B-8B08-D1E2A3000897}" dt="2025-02-04T09:22:56.375" v="21" actId="47"/>
        <pc:sldMkLst>
          <pc:docMk/>
          <pc:sldMk cId="3890935393" sldId="257"/>
        </pc:sldMkLst>
      </pc:sldChg>
      <pc:sldChg chg="new del">
        <pc:chgData name="Matteo  Nicoli" userId="d701345e-286f-4444-af52-aa3e4a8a3db2" providerId="ADAL" clId="{93166CBF-7169-479B-8B08-D1E2A3000897}" dt="2025-02-04T09:23:20.465" v="27" actId="47"/>
        <pc:sldMkLst>
          <pc:docMk/>
          <pc:sldMk cId="3867418112" sldId="258"/>
        </pc:sldMkLst>
      </pc:sldChg>
      <pc:sldMasterChg chg="addSp delSp modSp mod modSldLayout sldLayoutOrd">
        <pc:chgData name="Matteo  Nicoli" userId="d701345e-286f-4444-af52-aa3e4a8a3db2" providerId="ADAL" clId="{93166CBF-7169-479B-8B08-D1E2A3000897}" dt="2025-02-04T09:23:13.823" v="24" actId="20578"/>
        <pc:sldMasterMkLst>
          <pc:docMk/>
          <pc:sldMasterMk cId="138402043" sldId="2147483660"/>
        </pc:sldMasterMkLst>
        <pc:spChg chg="add del">
          <ac:chgData name="Matteo  Nicoli" userId="d701345e-286f-4444-af52-aa3e4a8a3db2" providerId="ADAL" clId="{93166CBF-7169-479B-8B08-D1E2A3000897}" dt="2025-02-04T09:20:59.378" v="14" actId="478"/>
          <ac:spMkLst>
            <pc:docMk/>
            <pc:sldMasterMk cId="138402043" sldId="2147483660"/>
            <ac:spMk id="2" creationId="{00000000-0000-0000-0000-000000000000}"/>
          </ac:spMkLst>
        </pc:spChg>
        <pc:spChg chg="add del">
          <ac:chgData name="Matteo  Nicoli" userId="d701345e-286f-4444-af52-aa3e4a8a3db2" providerId="ADAL" clId="{93166CBF-7169-479B-8B08-D1E2A3000897}" dt="2025-02-04T09:20:58.738" v="13" actId="478"/>
          <ac:spMkLst>
            <pc:docMk/>
            <pc:sldMasterMk cId="138402043" sldId="2147483660"/>
            <ac:spMk id="3" creationId="{00000000-0000-0000-0000-000000000000}"/>
          </ac:spMkLst>
        </pc:spChg>
        <pc:spChg chg="add del">
          <ac:chgData name="Matteo  Nicoli" userId="d701345e-286f-4444-af52-aa3e4a8a3db2" providerId="ADAL" clId="{93166CBF-7169-479B-8B08-D1E2A3000897}" dt="2025-02-04T09:20:58.194" v="12" actId="478"/>
          <ac:spMkLst>
            <pc:docMk/>
            <pc:sldMasterMk cId="138402043" sldId="2147483660"/>
            <ac:spMk id="4" creationId="{00000000-0000-0000-0000-000000000000}"/>
          </ac:spMkLst>
        </pc:spChg>
        <pc:spChg chg="add del">
          <ac:chgData name="Matteo  Nicoli" userId="d701345e-286f-4444-af52-aa3e4a8a3db2" providerId="ADAL" clId="{93166CBF-7169-479B-8B08-D1E2A3000897}" dt="2025-02-04T09:20:57.188" v="11" actId="478"/>
          <ac:spMkLst>
            <pc:docMk/>
            <pc:sldMasterMk cId="138402043" sldId="2147483660"/>
            <ac:spMk id="5" creationId="{00000000-0000-0000-0000-000000000000}"/>
          </ac:spMkLst>
        </pc:spChg>
        <pc:spChg chg="add del">
          <ac:chgData name="Matteo  Nicoli" userId="d701345e-286f-4444-af52-aa3e4a8a3db2" providerId="ADAL" clId="{93166CBF-7169-479B-8B08-D1E2A3000897}" dt="2025-02-04T09:20:56.379" v="10" actId="478"/>
          <ac:spMkLst>
            <pc:docMk/>
            <pc:sldMasterMk cId="138402043" sldId="2147483660"/>
            <ac:spMk id="6" creationId="{00000000-0000-0000-0000-000000000000}"/>
          </ac:spMkLst>
        </pc:spChg>
        <pc:spChg chg="mod">
          <ac:chgData name="Matteo  Nicoli" userId="d701345e-286f-4444-af52-aa3e4a8a3db2" providerId="ADAL" clId="{93166CBF-7169-479B-8B08-D1E2A3000897}" dt="2025-02-04T09:20:28.116" v="8"/>
          <ac:spMkLst>
            <pc:docMk/>
            <pc:sldMasterMk cId="138402043" sldId="2147483660"/>
            <ac:spMk id="8" creationId="{BD6E1D37-1260-8C1A-2367-978CB5E572BF}"/>
          </ac:spMkLst>
        </pc:spChg>
        <pc:spChg chg="mod">
          <ac:chgData name="Matteo  Nicoli" userId="d701345e-286f-4444-af52-aa3e4a8a3db2" providerId="ADAL" clId="{93166CBF-7169-479B-8B08-D1E2A3000897}" dt="2025-02-04T09:20:28.116" v="8"/>
          <ac:spMkLst>
            <pc:docMk/>
            <pc:sldMasterMk cId="138402043" sldId="2147483660"/>
            <ac:spMk id="9" creationId="{E1D89CEB-CAFA-B884-9B4D-2A9E011BBABC}"/>
          </ac:spMkLst>
        </pc:spChg>
        <pc:spChg chg="add mod">
          <ac:chgData name="Matteo  Nicoli" userId="d701345e-286f-4444-af52-aa3e4a8a3db2" providerId="ADAL" clId="{93166CBF-7169-479B-8B08-D1E2A3000897}" dt="2025-02-04T09:20:49.217" v="9"/>
          <ac:spMkLst>
            <pc:docMk/>
            <pc:sldMasterMk cId="138402043" sldId="2147483660"/>
            <ac:spMk id="10" creationId="{D737DC89-2A5F-7D0D-2DC3-79028F864FB0}"/>
          </ac:spMkLst>
        </pc:spChg>
        <pc:spChg chg="add mod">
          <ac:chgData name="Matteo  Nicoli" userId="d701345e-286f-4444-af52-aa3e4a8a3db2" providerId="ADAL" clId="{93166CBF-7169-479B-8B08-D1E2A3000897}" dt="2025-02-04T09:20:49.217" v="9"/>
          <ac:spMkLst>
            <pc:docMk/>
            <pc:sldMasterMk cId="138402043" sldId="2147483660"/>
            <ac:spMk id="11" creationId="{CAA2B64F-9FFA-6535-DC9A-7CDA1EEC5C1A}"/>
          </ac:spMkLst>
        </pc:spChg>
        <pc:spChg chg="add mod">
          <ac:chgData name="Matteo  Nicoli" userId="d701345e-286f-4444-af52-aa3e4a8a3db2" providerId="ADAL" clId="{93166CBF-7169-479B-8B08-D1E2A3000897}" dt="2025-02-04T09:20:28.116" v="8"/>
          <ac:spMkLst>
            <pc:docMk/>
            <pc:sldMasterMk cId="138402043" sldId="2147483660"/>
            <ac:spMk id="15" creationId="{B8573BA5-CC80-09E3-03F1-55E5D789437A}"/>
          </ac:spMkLst>
        </pc:spChg>
        <pc:spChg chg="add mod">
          <ac:chgData name="Matteo  Nicoli" userId="d701345e-286f-4444-af52-aa3e4a8a3db2" providerId="ADAL" clId="{93166CBF-7169-479B-8B08-D1E2A3000897}" dt="2025-02-04T09:20:28.116" v="8"/>
          <ac:spMkLst>
            <pc:docMk/>
            <pc:sldMasterMk cId="138402043" sldId="2147483660"/>
            <ac:spMk id="16" creationId="{B83E0307-485F-811E-7B9F-A5A82DDCC5ED}"/>
          </ac:spMkLst>
        </pc:spChg>
        <pc:spChg chg="add mod">
          <ac:chgData name="Matteo  Nicoli" userId="d701345e-286f-4444-af52-aa3e4a8a3db2" providerId="ADAL" clId="{93166CBF-7169-479B-8B08-D1E2A3000897}" dt="2025-02-04T09:20:28.116" v="8"/>
          <ac:spMkLst>
            <pc:docMk/>
            <pc:sldMasterMk cId="138402043" sldId="2147483660"/>
            <ac:spMk id="17" creationId="{211E1612-8A3B-1615-147E-E6C93D654D76}"/>
          </ac:spMkLst>
        </pc:spChg>
        <pc:spChg chg="add mod">
          <ac:chgData name="Matteo  Nicoli" userId="d701345e-286f-4444-af52-aa3e4a8a3db2" providerId="ADAL" clId="{93166CBF-7169-479B-8B08-D1E2A3000897}" dt="2025-02-04T09:20:28.116" v="8"/>
          <ac:spMkLst>
            <pc:docMk/>
            <pc:sldMasterMk cId="138402043" sldId="2147483660"/>
            <ac:spMk id="18" creationId="{5C16664F-57C1-1B82-A574-C143C2E35D54}"/>
          </ac:spMkLst>
        </pc:spChg>
        <pc:picChg chg="add mod">
          <ac:chgData name="Matteo  Nicoli" userId="d701345e-286f-4444-af52-aa3e4a8a3db2" providerId="ADAL" clId="{93166CBF-7169-479B-8B08-D1E2A3000897}" dt="2025-02-04T09:20:28.116" v="8"/>
          <ac:picMkLst>
            <pc:docMk/>
            <pc:sldMasterMk cId="138402043" sldId="2147483660"/>
            <ac:picMk id="12" creationId="{A658C789-A91C-CFC2-106B-FF6A94480193}"/>
          </ac:picMkLst>
        </pc:picChg>
        <pc:picChg chg="add mod">
          <ac:chgData name="Matteo  Nicoli" userId="d701345e-286f-4444-af52-aa3e4a8a3db2" providerId="ADAL" clId="{93166CBF-7169-479B-8B08-D1E2A3000897}" dt="2025-02-04T09:20:28.116" v="8"/>
          <ac:picMkLst>
            <pc:docMk/>
            <pc:sldMasterMk cId="138402043" sldId="2147483660"/>
            <ac:picMk id="14" creationId="{0F74C139-1A91-D986-6B10-E5C46D4BE5BE}"/>
          </ac:picMkLst>
        </pc:picChg>
        <pc:sldLayoutChg chg="ord">
          <pc:chgData name="Matteo  Nicoli" userId="d701345e-286f-4444-af52-aa3e4a8a3db2" providerId="ADAL" clId="{93166CBF-7169-479B-8B08-D1E2A3000897}" dt="2025-02-04T09:23:13.823" v="24" actId="20578"/>
          <pc:sldLayoutMkLst>
            <pc:docMk/>
            <pc:sldMasterMk cId="138402043" sldId="2147483660"/>
            <pc:sldLayoutMk cId="3605092882" sldId="2147483673"/>
          </pc:sldLayoutMkLst>
        </pc:sldLayoutChg>
        <pc:sldLayoutChg chg="addSp delSp modSp">
          <pc:chgData name="Matteo  Nicoli" userId="d701345e-286f-4444-af52-aa3e4a8a3db2" providerId="ADAL" clId="{93166CBF-7169-479B-8B08-D1E2A3000897}" dt="2025-02-04T09:21:04.166" v="15"/>
          <pc:sldLayoutMkLst>
            <pc:docMk/>
            <pc:sldMasterMk cId="138402043" sldId="2147483660"/>
            <pc:sldLayoutMk cId="3964258165" sldId="2147483679"/>
          </pc:sldLayoutMkLst>
          <pc:spChg chg="add mod">
            <ac:chgData name="Matteo  Nicoli" userId="d701345e-286f-4444-af52-aa3e4a8a3db2" providerId="ADAL" clId="{93166CBF-7169-479B-8B08-D1E2A3000897}" dt="2025-02-04T09:19:56.988" v="2"/>
            <ac:spMkLst>
              <pc:docMk/>
              <pc:sldMasterMk cId="138402043" sldId="2147483660"/>
              <pc:sldLayoutMk cId="3964258165" sldId="2147483679"/>
              <ac:spMk id="2" creationId="{034E8C7A-B46D-9A25-8E35-9B29F2D812A2}"/>
            </ac:spMkLst>
          </pc:spChg>
          <pc:spChg chg="add del">
            <ac:chgData name="Matteo  Nicoli" userId="d701345e-286f-4444-af52-aa3e4a8a3db2" providerId="ADAL" clId="{93166CBF-7169-479B-8B08-D1E2A3000897}" dt="2025-02-04T09:21:04.166" v="15"/>
            <ac:spMkLst>
              <pc:docMk/>
              <pc:sldMasterMk cId="138402043" sldId="2147483660"/>
              <pc:sldLayoutMk cId="3964258165" sldId="2147483679"/>
              <ac:spMk id="19" creationId="{6C494165-8702-9DC3-B014-CB099DBE4FE9}"/>
            </ac:spMkLst>
          </pc:spChg>
        </pc:sldLayoutChg>
        <pc:sldLayoutChg chg="modSp mod">
          <pc:chgData name="Matteo  Nicoli" userId="d701345e-286f-4444-af52-aa3e4a8a3db2" providerId="ADAL" clId="{93166CBF-7169-479B-8B08-D1E2A3000897}" dt="2025-02-04T09:21:26.763" v="19" actId="14100"/>
          <pc:sldLayoutMkLst>
            <pc:docMk/>
            <pc:sldMasterMk cId="138402043" sldId="2147483660"/>
            <pc:sldLayoutMk cId="3462982006" sldId="2147483680"/>
          </pc:sldLayoutMkLst>
          <pc:spChg chg="mod">
            <ac:chgData name="Matteo  Nicoli" userId="d701345e-286f-4444-af52-aa3e4a8a3db2" providerId="ADAL" clId="{93166CBF-7169-479B-8B08-D1E2A3000897}" dt="2025-02-04T09:21:17.722" v="17" actId="14100"/>
            <ac:spMkLst>
              <pc:docMk/>
              <pc:sldMasterMk cId="138402043" sldId="2147483660"/>
              <pc:sldLayoutMk cId="3462982006" sldId="2147483680"/>
              <ac:spMk id="5" creationId="{964F0DE8-234A-1409-10EC-1A1BF9A906FD}"/>
            </ac:spMkLst>
          </pc:spChg>
          <pc:spChg chg="mod">
            <ac:chgData name="Matteo  Nicoli" userId="d701345e-286f-4444-af52-aa3e4a8a3db2" providerId="ADAL" clId="{93166CBF-7169-479B-8B08-D1E2A3000897}" dt="2025-02-04T09:21:26.763" v="19" actId="14100"/>
            <ac:spMkLst>
              <pc:docMk/>
              <pc:sldMasterMk cId="138402043" sldId="2147483660"/>
              <pc:sldLayoutMk cId="3462982006" sldId="2147483680"/>
              <ac:spMk id="18" creationId="{CCF395BF-6BA9-B54C-D194-D4F85E53458B}"/>
            </ac:spMkLst>
          </pc:spChg>
        </pc:sldLayoutChg>
      </pc:sldMasterChg>
      <pc:sldMasterChg chg="del">
        <pc:chgData name="Matteo  Nicoli" userId="d701345e-286f-4444-af52-aa3e4a8a3db2" providerId="ADAL" clId="{93166CBF-7169-479B-8B08-D1E2A3000897}" dt="2025-02-04T09:19:39.620" v="0" actId="2696"/>
        <pc:sldMasterMkLst>
          <pc:docMk/>
          <pc:sldMasterMk cId="3097308779" sldId="2147483690"/>
        </pc:sldMasterMkLst>
      </pc:sldMasterChg>
    </pc:docChg>
  </pc:docChgLst>
  <pc:docChgLst>
    <pc:chgData name="Casarin  Pietro" userId="4f7a56a9-676c-4f1f-852c-a7281ab1f407" providerId="ADAL" clId="{2628B03B-5C88-4AC9-A051-1E7E80B48B24}"/>
    <pc:docChg chg="addSld delSld modSld">
      <pc:chgData name="Casarin  Pietro" userId="4f7a56a9-676c-4f1f-852c-a7281ab1f407" providerId="ADAL" clId="{2628B03B-5C88-4AC9-A051-1E7E80B48B24}" dt="2025-11-20T16:41:45.497" v="1" actId="47"/>
      <pc:docMkLst>
        <pc:docMk/>
      </pc:docMkLst>
      <pc:sldChg chg="del">
        <pc:chgData name="Casarin  Pietro" userId="4f7a56a9-676c-4f1f-852c-a7281ab1f407" providerId="ADAL" clId="{2628B03B-5C88-4AC9-A051-1E7E80B48B24}" dt="2025-11-20T16:41:45.497" v="1" actId="47"/>
        <pc:sldMkLst>
          <pc:docMk/>
          <pc:sldMk cId="2875954261" sldId="272"/>
        </pc:sldMkLst>
      </pc:sldChg>
      <pc:sldChg chg="del">
        <pc:chgData name="Casarin  Pietro" userId="4f7a56a9-676c-4f1f-852c-a7281ab1f407" providerId="ADAL" clId="{2628B03B-5C88-4AC9-A051-1E7E80B48B24}" dt="2025-11-20T16:41:45.497" v="1" actId="47"/>
        <pc:sldMkLst>
          <pc:docMk/>
          <pc:sldMk cId="4250950513" sldId="273"/>
        </pc:sldMkLst>
      </pc:sldChg>
      <pc:sldChg chg="del">
        <pc:chgData name="Casarin  Pietro" userId="4f7a56a9-676c-4f1f-852c-a7281ab1f407" providerId="ADAL" clId="{2628B03B-5C88-4AC9-A051-1E7E80B48B24}" dt="2025-11-20T16:41:45.497" v="1" actId="47"/>
        <pc:sldMkLst>
          <pc:docMk/>
          <pc:sldMk cId="2833617062" sldId="278"/>
        </pc:sldMkLst>
      </pc:sldChg>
      <pc:sldChg chg="del">
        <pc:chgData name="Casarin  Pietro" userId="4f7a56a9-676c-4f1f-852c-a7281ab1f407" providerId="ADAL" clId="{2628B03B-5C88-4AC9-A051-1E7E80B48B24}" dt="2025-11-20T16:41:45.497" v="1" actId="47"/>
        <pc:sldMkLst>
          <pc:docMk/>
          <pc:sldMk cId="3268612339" sldId="279"/>
        </pc:sldMkLst>
      </pc:sldChg>
      <pc:sldChg chg="del">
        <pc:chgData name="Casarin  Pietro" userId="4f7a56a9-676c-4f1f-852c-a7281ab1f407" providerId="ADAL" clId="{2628B03B-5C88-4AC9-A051-1E7E80B48B24}" dt="2025-11-20T16:41:45.497" v="1" actId="47"/>
        <pc:sldMkLst>
          <pc:docMk/>
          <pc:sldMk cId="1723392900" sldId="280"/>
        </pc:sldMkLst>
      </pc:sldChg>
      <pc:sldChg chg="add">
        <pc:chgData name="Casarin  Pietro" userId="4f7a56a9-676c-4f1f-852c-a7281ab1f407" providerId="ADAL" clId="{2628B03B-5C88-4AC9-A051-1E7E80B48B24}" dt="2025-11-20T16:41:38.249" v="0"/>
        <pc:sldMkLst>
          <pc:docMk/>
          <pc:sldMk cId="2222393522" sldId="444"/>
        </pc:sldMkLst>
      </pc:sldChg>
      <pc:sldChg chg="add">
        <pc:chgData name="Casarin  Pietro" userId="4f7a56a9-676c-4f1f-852c-a7281ab1f407" providerId="ADAL" clId="{2628B03B-5C88-4AC9-A051-1E7E80B48B24}" dt="2025-11-20T16:41:38.249" v="0"/>
        <pc:sldMkLst>
          <pc:docMk/>
          <pc:sldMk cId="3934564172" sldId="445"/>
        </pc:sldMkLst>
      </pc:sldChg>
      <pc:sldChg chg="add">
        <pc:chgData name="Casarin  Pietro" userId="4f7a56a9-676c-4f1f-852c-a7281ab1f407" providerId="ADAL" clId="{2628B03B-5C88-4AC9-A051-1E7E80B48B24}" dt="2025-11-20T16:41:38.249" v="0"/>
        <pc:sldMkLst>
          <pc:docMk/>
          <pc:sldMk cId="2698442756" sldId="446"/>
        </pc:sldMkLst>
      </pc:sldChg>
      <pc:sldChg chg="add">
        <pc:chgData name="Casarin  Pietro" userId="4f7a56a9-676c-4f1f-852c-a7281ab1f407" providerId="ADAL" clId="{2628B03B-5C88-4AC9-A051-1E7E80B48B24}" dt="2025-11-20T16:41:38.249" v="0"/>
        <pc:sldMkLst>
          <pc:docMk/>
          <pc:sldMk cId="67609192" sldId="447"/>
        </pc:sldMkLst>
      </pc:sldChg>
      <pc:sldChg chg="add">
        <pc:chgData name="Casarin  Pietro" userId="4f7a56a9-676c-4f1f-852c-a7281ab1f407" providerId="ADAL" clId="{2628B03B-5C88-4AC9-A051-1E7E80B48B24}" dt="2025-11-20T16:41:38.249" v="0"/>
        <pc:sldMkLst>
          <pc:docMk/>
          <pc:sldMk cId="2603785167" sldId="44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D:\pietro_casarin\Pietro\Pietro\Pietro\Literature\CRM%20probabilities\GEV.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it-IT" dirty="0"/>
              <a:t>10 </a:t>
            </a:r>
            <a:r>
              <a:rPr lang="it-IT" dirty="0" err="1"/>
              <a:t>years</a:t>
            </a:r>
            <a:r>
              <a:rPr lang="it-IT" dirty="0"/>
              <a:t> </a:t>
            </a:r>
            <a:r>
              <a:rPr lang="it-IT" dirty="0" err="1"/>
              <a:t>return</a:t>
            </a:r>
            <a:r>
              <a:rPr lang="it-IT" dirty="0"/>
              <a:t> </a:t>
            </a:r>
            <a:r>
              <a:rPr lang="it-IT" dirty="0" err="1"/>
              <a:t>levels</a:t>
            </a:r>
            <a:endParaRPr lang="it-IT" dirty="0"/>
          </a:p>
        </c:rich>
      </c:tx>
      <c:layout>
        <c:manualLayout>
          <c:xMode val="edge"/>
          <c:yMode val="edge"/>
          <c:x val="0.41876597543160082"/>
          <c:y val="0"/>
        </c:manualLayout>
      </c:layout>
      <c:overlay val="0"/>
      <c:spPr>
        <a:noFill/>
        <a:ln>
          <a:noFill/>
        </a:ln>
        <a:effectLst/>
      </c:spPr>
    </c:title>
    <c:autoTitleDeleted val="0"/>
    <c:plotArea>
      <c:layout>
        <c:manualLayout>
          <c:layoutTarget val="inner"/>
          <c:xMode val="edge"/>
          <c:yMode val="edge"/>
          <c:x val="5.3803232297246394E-2"/>
          <c:y val="4.738567867104386E-2"/>
          <c:w val="0.82625115997023124"/>
          <c:h val="0.69474884604941611"/>
        </c:manualLayout>
      </c:layout>
      <c:barChart>
        <c:barDir val="col"/>
        <c:grouping val="clustered"/>
        <c:varyColors val="0"/>
        <c:ser>
          <c:idx val="1"/>
          <c:order val="0"/>
          <c:tx>
            <c:v>5 years window</c:v>
          </c:tx>
          <c:invertIfNegative val="0"/>
          <c:cat>
            <c:strRef>
              <c:f>Results!$X$9:$X$31</c:f>
              <c:strCache>
                <c:ptCount val="23"/>
                <c:pt idx="0">
                  <c:v>	Crude Oil 	</c:v>
                </c:pt>
                <c:pt idx="1">
                  <c:v>	Aluminium	</c:v>
                </c:pt>
                <c:pt idx="2">
                  <c:v>	REE	</c:v>
                </c:pt>
                <c:pt idx="3">
                  <c:v>	Boron	</c:v>
                </c:pt>
                <c:pt idx="4">
                  <c:v>	Chromium	</c:v>
                </c:pt>
                <c:pt idx="5">
                  <c:v>	Cobalt	</c:v>
                </c:pt>
                <c:pt idx="6">
                  <c:v>	Copper	</c:v>
                </c:pt>
                <c:pt idx="7">
                  <c:v>	Germanium	</c:v>
                </c:pt>
                <c:pt idx="8">
                  <c:v>	Natural graphite	</c:v>
                </c:pt>
                <c:pt idx="9">
                  <c:v>	Indium	</c:v>
                </c:pt>
                <c:pt idx="10">
                  <c:v>	Lithium	</c:v>
                </c:pt>
                <c:pt idx="11">
                  <c:v>	Magnesium	</c:v>
                </c:pt>
                <c:pt idx="12">
                  <c:v>	Manganese	</c:v>
                </c:pt>
                <c:pt idx="13">
                  <c:v>	Molybdenum	</c:v>
                </c:pt>
                <c:pt idx="14">
                  <c:v>	Nickel	</c:v>
                </c:pt>
                <c:pt idx="15">
                  <c:v>	Phosphate rock	</c:v>
                </c:pt>
                <c:pt idx="16">
                  <c:v>	Platinum - group metals	</c:v>
                </c:pt>
                <c:pt idx="17">
                  <c:v>	Silicon	</c:v>
                </c:pt>
                <c:pt idx="18">
                  <c:v>	Silver	</c:v>
                </c:pt>
                <c:pt idx="19">
                  <c:v>	Tantalum	</c:v>
                </c:pt>
                <c:pt idx="20">
                  <c:v>	Titanium	</c:v>
                </c:pt>
                <c:pt idx="21">
                  <c:v>	Vanadium	</c:v>
                </c:pt>
                <c:pt idx="22">
                  <c:v>	Zirconium	</c:v>
                </c:pt>
              </c:strCache>
            </c:strRef>
          </c:cat>
          <c:val>
            <c:numRef>
              <c:f>Results!$R$9:$R$31</c:f>
              <c:numCache>
                <c:formatCode>0%</c:formatCode>
                <c:ptCount val="23"/>
                <c:pt idx="0">
                  <c:v>1.468006829934136</c:v>
                </c:pt>
                <c:pt idx="1">
                  <c:v>0.44662775132640897</c:v>
                </c:pt>
                <c:pt idx="2">
                  <c:v>2.0348248005565091</c:v>
                </c:pt>
                <c:pt idx="3">
                  <c:v>0.32829251594270192</c:v>
                </c:pt>
                <c:pt idx="4">
                  <c:v>0.66728696847902291</c:v>
                </c:pt>
                <c:pt idx="5">
                  <c:v>1.048743138165926</c:v>
                </c:pt>
                <c:pt idx="6">
                  <c:v>0.60462205476086417</c:v>
                </c:pt>
                <c:pt idx="7">
                  <c:v>0.57678047896271467</c:v>
                </c:pt>
                <c:pt idx="8">
                  <c:v>0.40077890824058521</c:v>
                </c:pt>
                <c:pt idx="9">
                  <c:v>1.9996406605507</c:v>
                </c:pt>
                <c:pt idx="10">
                  <c:v>0.40918359027913781</c:v>
                </c:pt>
                <c:pt idx="11">
                  <c:v>0.60119873542532276</c:v>
                </c:pt>
                <c:pt idx="12">
                  <c:v>1.86368164495884</c:v>
                </c:pt>
                <c:pt idx="13">
                  <c:v>1.466020825897465</c:v>
                </c:pt>
                <c:pt idx="14">
                  <c:v>1.091149178864024</c:v>
                </c:pt>
                <c:pt idx="15">
                  <c:v>0.96559144893559412</c:v>
                </c:pt>
                <c:pt idx="16">
                  <c:v>1.055915099700218</c:v>
                </c:pt>
                <c:pt idx="17">
                  <c:v>0.49076871900793517</c:v>
                </c:pt>
                <c:pt idx="18">
                  <c:v>0.75825082499075802</c:v>
                </c:pt>
                <c:pt idx="19">
                  <c:v>2.3717095592128561</c:v>
                </c:pt>
                <c:pt idx="20">
                  <c:v>0.50608405970435888</c:v>
                </c:pt>
                <c:pt idx="21">
                  <c:v>1.582859482417869</c:v>
                </c:pt>
                <c:pt idx="22">
                  <c:v>1.53288349064695</c:v>
                </c:pt>
              </c:numCache>
            </c:numRef>
          </c:val>
          <c:extLst>
            <c:ext xmlns:c16="http://schemas.microsoft.com/office/drawing/2014/chart" uri="{C3380CC4-5D6E-409C-BE32-E72D297353CC}">
              <c16:uniqueId val="{00000000-763B-4863-BFFD-3942968C9BAD}"/>
            </c:ext>
          </c:extLst>
        </c:ser>
        <c:ser>
          <c:idx val="0"/>
          <c:order val="1"/>
          <c:tx>
            <c:v>2 years window</c:v>
          </c:tx>
          <c:spPr>
            <a:solidFill>
              <a:schemeClr val="accent1"/>
            </a:solidFill>
            <a:ln>
              <a:noFill/>
            </a:ln>
            <a:effectLst/>
          </c:spPr>
          <c:invertIfNegative val="0"/>
          <c:cat>
            <c:strRef>
              <c:f>Results!$X$9:$X$31</c:f>
              <c:strCache>
                <c:ptCount val="23"/>
                <c:pt idx="0">
                  <c:v>	Crude Oil 	</c:v>
                </c:pt>
                <c:pt idx="1">
                  <c:v>	Aluminium	</c:v>
                </c:pt>
                <c:pt idx="2">
                  <c:v>	REE	</c:v>
                </c:pt>
                <c:pt idx="3">
                  <c:v>	Boron	</c:v>
                </c:pt>
                <c:pt idx="4">
                  <c:v>	Chromium	</c:v>
                </c:pt>
                <c:pt idx="5">
                  <c:v>	Cobalt	</c:v>
                </c:pt>
                <c:pt idx="6">
                  <c:v>	Copper	</c:v>
                </c:pt>
                <c:pt idx="7">
                  <c:v>	Germanium	</c:v>
                </c:pt>
                <c:pt idx="8">
                  <c:v>	Natural graphite	</c:v>
                </c:pt>
                <c:pt idx="9">
                  <c:v>	Indium	</c:v>
                </c:pt>
                <c:pt idx="10">
                  <c:v>	Lithium	</c:v>
                </c:pt>
                <c:pt idx="11">
                  <c:v>	Magnesium	</c:v>
                </c:pt>
                <c:pt idx="12">
                  <c:v>	Manganese	</c:v>
                </c:pt>
                <c:pt idx="13">
                  <c:v>	Molybdenum	</c:v>
                </c:pt>
                <c:pt idx="14">
                  <c:v>	Nickel	</c:v>
                </c:pt>
                <c:pt idx="15">
                  <c:v>	Phosphate rock	</c:v>
                </c:pt>
                <c:pt idx="16">
                  <c:v>	Platinum - group metals	</c:v>
                </c:pt>
                <c:pt idx="17">
                  <c:v>	Silicon	</c:v>
                </c:pt>
                <c:pt idx="18">
                  <c:v>	Silver	</c:v>
                </c:pt>
                <c:pt idx="19">
                  <c:v>	Tantalum	</c:v>
                </c:pt>
                <c:pt idx="20">
                  <c:v>	Titanium	</c:v>
                </c:pt>
                <c:pt idx="21">
                  <c:v>	Vanadium	</c:v>
                </c:pt>
                <c:pt idx="22">
                  <c:v>	Zirconium	</c:v>
                </c:pt>
              </c:strCache>
            </c:strRef>
          </c:cat>
          <c:val>
            <c:numRef>
              <c:f>Results!$AC$9:$AC$31</c:f>
              <c:numCache>
                <c:formatCode>0%</c:formatCode>
                <c:ptCount val="23"/>
                <c:pt idx="0">
                  <c:v>0.80442882007916139</c:v>
                </c:pt>
                <c:pt idx="1">
                  <c:v>0.32809727524500709</c:v>
                </c:pt>
                <c:pt idx="2">
                  <c:v>1.476380925558874</c:v>
                </c:pt>
                <c:pt idx="3">
                  <c:v>0.22084555407434711</c:v>
                </c:pt>
                <c:pt idx="4">
                  <c:v>0.50345254504774128</c:v>
                </c:pt>
                <c:pt idx="5">
                  <c:v>0.73972968011377294</c:v>
                </c:pt>
                <c:pt idx="6">
                  <c:v>0.3920882415560058</c:v>
                </c:pt>
                <c:pt idx="7">
                  <c:v>0.42296463513142218</c:v>
                </c:pt>
                <c:pt idx="8">
                  <c:v>0.2928965140620825</c:v>
                </c:pt>
                <c:pt idx="9">
                  <c:v>0.9662403883794306</c:v>
                </c:pt>
                <c:pt idx="10">
                  <c:v>0.32498195083484382</c:v>
                </c:pt>
                <c:pt idx="11">
                  <c:v>0.28248141829938839</c:v>
                </c:pt>
                <c:pt idx="12">
                  <c:v>0.42319942901699692</c:v>
                </c:pt>
                <c:pt idx="13">
                  <c:v>0.87972834774468789</c:v>
                </c:pt>
                <c:pt idx="14">
                  <c:v>0.59762945436693538</c:v>
                </c:pt>
                <c:pt idx="15">
                  <c:v>0.36892999995976727</c:v>
                </c:pt>
                <c:pt idx="16">
                  <c:v>0.68257063360958803</c:v>
                </c:pt>
                <c:pt idx="17">
                  <c:v>0.32156267323997678</c:v>
                </c:pt>
                <c:pt idx="18">
                  <c:v>0.52629167429577439</c:v>
                </c:pt>
                <c:pt idx="19">
                  <c:v>1.2019854522663069</c:v>
                </c:pt>
                <c:pt idx="20">
                  <c:v>0.26994713666047032</c:v>
                </c:pt>
                <c:pt idx="21">
                  <c:v>1.029805505861644</c:v>
                </c:pt>
                <c:pt idx="22">
                  <c:v>0.76665215674553111</c:v>
                </c:pt>
              </c:numCache>
            </c:numRef>
          </c:val>
          <c:extLst>
            <c:ext xmlns:c16="http://schemas.microsoft.com/office/drawing/2014/chart" uri="{C3380CC4-5D6E-409C-BE32-E72D297353CC}">
              <c16:uniqueId val="{00000001-763B-4863-BFFD-3942968C9BAD}"/>
            </c:ext>
          </c:extLst>
        </c:ser>
        <c:dLbls>
          <c:showLegendKey val="0"/>
          <c:showVal val="0"/>
          <c:showCatName val="0"/>
          <c:showSerName val="0"/>
          <c:showPercent val="0"/>
          <c:showBubbleSize val="0"/>
        </c:dLbls>
        <c:gapWidth val="219"/>
        <c:overlap val="-27"/>
        <c:axId val="1295546048"/>
        <c:axId val="1295560448"/>
      </c:barChart>
      <c:catAx>
        <c:axId val="1295546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crossAx val="1295560448"/>
        <c:crosses val="autoZero"/>
        <c:auto val="1"/>
        <c:lblAlgn val="ctr"/>
        <c:lblOffset val="100"/>
        <c:noMultiLvlLbl val="0"/>
      </c:catAx>
      <c:valAx>
        <c:axId val="129556044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crossAx val="1295546048"/>
        <c:crosses val="autoZero"/>
        <c:crossBetween val="between"/>
      </c:valAx>
    </c:plotArea>
    <c:legend>
      <c:legendPos val="r"/>
      <c:overlay val="0"/>
    </c:legend>
    <c:plotVisOnly val="1"/>
    <c:dispBlanksAs val="gap"/>
    <c:showDLblsOverMax val="0"/>
    <c:extLst/>
  </c:chart>
  <c:txPr>
    <a:bodyPr/>
    <a:lstStyle/>
    <a:p>
      <a:pPr>
        <a:defRPr/>
      </a:pPr>
      <a:endParaRPr lang="it-IT"/>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2B9983-9F93-A5C4-F272-57069BDB29A5}"/>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7E012C-77C8-2F13-3819-5B6C7455F421}"/>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E1908BDE-B729-4958-B355-2244C20EB9F1}" type="datetimeFigureOut">
              <a:rPr lang="en-US" smtClean="0"/>
              <a:t>11/20/2025</a:t>
            </a:fld>
            <a:endParaRPr lang="en-US"/>
          </a:p>
        </p:txBody>
      </p:sp>
      <p:sp>
        <p:nvSpPr>
          <p:cNvPr id="4" name="Footer Placeholder 3">
            <a:extLst>
              <a:ext uri="{FF2B5EF4-FFF2-40B4-BE49-F238E27FC236}">
                <a16:creationId xmlns:a16="http://schemas.microsoft.com/office/drawing/2014/main" id="{EFB74DA6-0913-4BF0-F77E-72F93562E7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A597D2-B63D-284C-DF75-8610F7BCA4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76EF01-4BBC-4958-9BB9-E059C61D5846}" type="slidenum">
              <a:rPr lang="en-US" smtClean="0"/>
              <a:t>‹#›</a:t>
            </a:fld>
            <a:endParaRPr lang="en-US"/>
          </a:p>
        </p:txBody>
      </p:sp>
    </p:spTree>
    <p:extLst>
      <p:ext uri="{BB962C8B-B14F-4D97-AF65-F5344CB8AC3E}">
        <p14:creationId xmlns:p14="http://schemas.microsoft.com/office/powerpoint/2010/main" val="242978055"/>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C6BD687-B78D-446B-80E3-83F2416DC90C}" type="datetimeFigureOut">
              <a:rPr lang="en-US" smtClean="0"/>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E2A412-E42E-4377-9041-233A6856EAA6}" type="slidenum">
              <a:rPr lang="en-US" smtClean="0"/>
              <a:t>‹#›</a:t>
            </a:fld>
            <a:endParaRPr lang="en-US"/>
          </a:p>
        </p:txBody>
      </p:sp>
    </p:spTree>
    <p:extLst>
      <p:ext uri="{BB962C8B-B14F-4D97-AF65-F5344CB8AC3E}">
        <p14:creationId xmlns:p14="http://schemas.microsoft.com/office/powerpoint/2010/main" val="366195677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0" name="Gruppo 3">
            <a:extLst>
              <a:ext uri="{FF2B5EF4-FFF2-40B4-BE49-F238E27FC236}">
                <a16:creationId xmlns:a16="http://schemas.microsoft.com/office/drawing/2014/main" id="{06C48EA1-99E6-2E15-B5F3-02D9EFFB59DF}"/>
              </a:ext>
            </a:extLst>
          </p:cNvPr>
          <p:cNvGrpSpPr/>
          <p:nvPr userDrawn="1"/>
        </p:nvGrpSpPr>
        <p:grpSpPr>
          <a:xfrm>
            <a:off x="-1" y="4922218"/>
            <a:ext cx="12192001" cy="1935785"/>
            <a:chOff x="0" y="4717815"/>
            <a:chExt cx="12192001" cy="2082800"/>
          </a:xfrm>
          <a:solidFill>
            <a:srgbClr val="4682B4"/>
          </a:solidFill>
        </p:grpSpPr>
        <p:sp>
          <p:nvSpPr>
            <p:cNvPr id="21" name="Rettangolo 7">
              <a:extLst>
                <a:ext uri="{FF2B5EF4-FFF2-40B4-BE49-F238E27FC236}">
                  <a16:creationId xmlns:a16="http://schemas.microsoft.com/office/drawing/2014/main" id="{FB1DE2A5-1EBF-2169-BDE7-B4B08D2099FE}"/>
                </a:ext>
              </a:extLst>
            </p:cNvPr>
            <p:cNvSpPr/>
            <p:nvPr userDrawn="1"/>
          </p:nvSpPr>
          <p:spPr>
            <a:xfrm>
              <a:off x="2541600" y="4717815"/>
              <a:ext cx="9650401" cy="20828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mj-lt"/>
                <a:ea typeface="Microsoft YaHei" panose="020B0503020204020204" pitchFamily="34" charset="-122"/>
              </a:endParaRPr>
            </a:p>
          </p:txBody>
        </p:sp>
        <p:sp>
          <p:nvSpPr>
            <p:cNvPr id="22" name="Input manuale 22">
              <a:extLst>
                <a:ext uri="{FF2B5EF4-FFF2-40B4-BE49-F238E27FC236}">
                  <a16:creationId xmlns:a16="http://schemas.microsoft.com/office/drawing/2014/main" id="{E7977EEE-15BF-7D3B-FA85-9F2327A930B2}"/>
                </a:ext>
              </a:extLst>
            </p:cNvPr>
            <p:cNvSpPr/>
            <p:nvPr userDrawn="1"/>
          </p:nvSpPr>
          <p:spPr>
            <a:xfrm>
              <a:off x="0" y="4717815"/>
              <a:ext cx="2541600" cy="208280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10000 h 10000"/>
                <a:gd name="connsiteX1" fmla="*/ 10000 w 10000"/>
                <a:gd name="connsiteY1" fmla="*/ 0 h 10000"/>
                <a:gd name="connsiteX2" fmla="*/ 10000 w 10000"/>
                <a:gd name="connsiteY2" fmla="*/ 10000 h 10000"/>
                <a:gd name="connsiteX3" fmla="*/ 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a:moveTo>
                    <a:pt x="0" y="10000"/>
                  </a:moveTo>
                  <a:lnTo>
                    <a:pt x="10000" y="0"/>
                  </a:lnTo>
                  <a:lnTo>
                    <a:pt x="10000" y="10000"/>
                  </a:lnTo>
                  <a:lnTo>
                    <a:pt x="0" y="1000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mj-lt"/>
              </a:endParaRPr>
            </a:p>
          </p:txBody>
        </p:sp>
      </p:grpSp>
      <p:sp>
        <p:nvSpPr>
          <p:cNvPr id="2" name="Title 1"/>
          <p:cNvSpPr>
            <a:spLocks noGrp="1"/>
          </p:cNvSpPr>
          <p:nvPr>
            <p:ph type="ctrTitle"/>
          </p:nvPr>
        </p:nvSpPr>
        <p:spPr>
          <a:xfrm>
            <a:off x="914400" y="834691"/>
            <a:ext cx="10363200" cy="2387600"/>
          </a:xfrm>
          <a:prstGeom prst="rect">
            <a:avLst/>
          </a:prstGeom>
        </p:spPr>
        <p:txBody>
          <a:bodyPr anchor="b">
            <a:normAutofit/>
          </a:bodyPr>
          <a:lstStyle>
            <a:lvl1pPr algn="ctr">
              <a:defRPr sz="4800" b="1">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4000" y="3314366"/>
            <a:ext cx="9144000" cy="1547530"/>
          </a:xfrm>
          <a:prstGeom prst="rect">
            <a:avLst/>
          </a:prstGeom>
        </p:spPr>
        <p:txBody>
          <a:bodyPr>
            <a:normAutofit/>
          </a:bodyPr>
          <a:lstStyle>
            <a:lvl1pPr marL="0" indent="0" algn="ctr">
              <a:buNone/>
              <a:defRPr sz="2800">
                <a:latin typeface="Tahoma" panose="020B0604030504040204" pitchFamily="34" charset="0"/>
                <a:ea typeface="Tahoma" panose="020B0604030504040204" pitchFamily="34" charset="0"/>
                <a:cs typeface="Tahoma" panose="020B0604030504040204" pitchFamily="34" charset="0"/>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a:t>Click to edit Master subtitle style</a:t>
            </a:r>
            <a:endParaRPr lang="en-US" dirty="0"/>
          </a:p>
        </p:txBody>
      </p:sp>
      <p:pic>
        <p:nvPicPr>
          <p:cNvPr id="13" name="Graphic 12">
            <a:extLst>
              <a:ext uri="{FF2B5EF4-FFF2-40B4-BE49-F238E27FC236}">
                <a16:creationId xmlns:a16="http://schemas.microsoft.com/office/drawing/2014/main" id="{30A322F8-FFAE-36F6-5EEB-DAD27B07F04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68820" y="22616"/>
            <a:ext cx="2162957" cy="720000"/>
          </a:xfrm>
          <a:prstGeom prst="rect">
            <a:avLst/>
          </a:prstGeom>
        </p:spPr>
      </p:pic>
      <p:pic>
        <p:nvPicPr>
          <p:cNvPr id="8" name="Picture 2">
            <a:extLst>
              <a:ext uri="{FF2B5EF4-FFF2-40B4-BE49-F238E27FC236}">
                <a16:creationId xmlns:a16="http://schemas.microsoft.com/office/drawing/2014/main" id="{A080161E-58B4-118F-34DE-55764DEDFD1D}"/>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900441" y="22616"/>
            <a:ext cx="650323" cy="720000"/>
          </a:xfrm>
          <a:prstGeom prst="rect">
            <a:avLst/>
          </a:prstGeom>
          <a:noFill/>
          <a:extLst>
            <a:ext uri="{909E8E84-426E-40DD-AFC4-6F175D3DCCD1}">
              <a14:hiddenFill xmlns:a14="http://schemas.microsoft.com/office/drawing/2010/main">
                <a:solidFill>
                  <a:srgbClr val="FFFFFF"/>
                </a:solidFill>
              </a14:hiddenFill>
            </a:ext>
          </a:extLst>
        </p:spPr>
      </p:pic>
      <p:pic>
        <p:nvPicPr>
          <p:cNvPr id="9" name="Elemento grafico 11">
            <a:extLst>
              <a:ext uri="{FF2B5EF4-FFF2-40B4-BE49-F238E27FC236}">
                <a16:creationId xmlns:a16="http://schemas.microsoft.com/office/drawing/2014/main" id="{54A21E57-7D6F-1327-6821-F2F7667C9CB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8465" y="22616"/>
            <a:ext cx="1636363" cy="720000"/>
          </a:xfrm>
          <a:prstGeom prst="rect">
            <a:avLst/>
          </a:prstGeom>
        </p:spPr>
      </p:pic>
      <p:sp>
        <p:nvSpPr>
          <p:cNvPr id="10" name="Date Placeholder 9">
            <a:extLst>
              <a:ext uri="{FF2B5EF4-FFF2-40B4-BE49-F238E27FC236}">
                <a16:creationId xmlns:a16="http://schemas.microsoft.com/office/drawing/2014/main" id="{A2F9EB31-4404-FEF5-0AA2-A05508592653}"/>
              </a:ext>
            </a:extLst>
          </p:cNvPr>
          <p:cNvSpPr>
            <a:spLocks noGrp="1"/>
          </p:cNvSpPr>
          <p:nvPr>
            <p:ph type="dt" sz="half" idx="10"/>
          </p:nvPr>
        </p:nvSpPr>
        <p:spPr>
          <a:xfrm>
            <a:off x="504562" y="6491618"/>
            <a:ext cx="2160000" cy="360000"/>
          </a:xfrm>
          <a:prstGeom prst="rect">
            <a:avLst/>
          </a:prstGeom>
        </p:spPr>
        <p:txBody>
          <a:bodyPr/>
          <a:lstStyle>
            <a:lvl1pPr>
              <a:defRPr sz="1050" b="0">
                <a:solidFill>
                  <a:schemeClr val="bg1"/>
                </a:solidFill>
                <a:latin typeface="+mj-lt"/>
              </a:defRPr>
            </a:lvl1pPr>
          </a:lstStyle>
          <a:p>
            <a:endParaRPr lang="en-US" dirty="0"/>
          </a:p>
        </p:txBody>
      </p:sp>
      <p:sp>
        <p:nvSpPr>
          <p:cNvPr id="11" name="Footer Placeholder 10">
            <a:extLst>
              <a:ext uri="{FF2B5EF4-FFF2-40B4-BE49-F238E27FC236}">
                <a16:creationId xmlns:a16="http://schemas.microsoft.com/office/drawing/2014/main" id="{C9C5B705-D08B-2E8D-4A95-65D533F3D010}"/>
              </a:ext>
            </a:extLst>
          </p:cNvPr>
          <p:cNvSpPr>
            <a:spLocks noGrp="1"/>
          </p:cNvSpPr>
          <p:nvPr>
            <p:ph type="ftr" sz="quarter" idx="11"/>
          </p:nvPr>
        </p:nvSpPr>
        <p:spPr>
          <a:xfrm>
            <a:off x="2682687" y="6501928"/>
            <a:ext cx="6796800" cy="360000"/>
          </a:xfrm>
          <a:prstGeom prst="rect">
            <a:avLst/>
          </a:prstGeom>
        </p:spPr>
        <p:txBody>
          <a:bodyPr/>
          <a:lstStyle>
            <a:lvl1pPr>
              <a:defRPr sz="1050" b="1">
                <a:solidFill>
                  <a:schemeClr val="bg1"/>
                </a:solidFill>
                <a:latin typeface="+mj-lt"/>
              </a:defRPr>
            </a:lvl1pPr>
          </a:lstStyle>
          <a:p>
            <a:endParaRPr lang="en-US" dirty="0"/>
          </a:p>
        </p:txBody>
      </p:sp>
      <p:sp>
        <p:nvSpPr>
          <p:cNvPr id="12" name="Slide Number Placeholder 11">
            <a:extLst>
              <a:ext uri="{FF2B5EF4-FFF2-40B4-BE49-F238E27FC236}">
                <a16:creationId xmlns:a16="http://schemas.microsoft.com/office/drawing/2014/main" id="{C49F1E37-AC35-5452-8522-25BE9E4C459A}"/>
              </a:ext>
            </a:extLst>
          </p:cNvPr>
          <p:cNvSpPr>
            <a:spLocks noGrp="1"/>
          </p:cNvSpPr>
          <p:nvPr>
            <p:ph type="sldNum" sz="quarter" idx="12"/>
          </p:nvPr>
        </p:nvSpPr>
        <p:spPr>
          <a:xfrm>
            <a:off x="11652000" y="6501928"/>
            <a:ext cx="540000" cy="360000"/>
          </a:xfrm>
          <a:prstGeom prst="rect">
            <a:avLst/>
          </a:prstGeom>
        </p:spPr>
        <p:txBody>
          <a:bodyPr/>
          <a:lstStyle>
            <a:lvl1pPr>
              <a:defRPr sz="1050" b="0">
                <a:solidFill>
                  <a:schemeClr val="bg1"/>
                </a:solidFill>
                <a:latin typeface="+mj-lt"/>
              </a:defRPr>
            </a:lvl1pPr>
          </a:lstStyle>
          <a:p>
            <a:fld id="{76FB5D22-4C0B-46C2-85E7-1C11683839F5}" type="slidenum">
              <a:rPr lang="en-US" smtClean="0"/>
              <a:pPr/>
              <a:t>‹#›</a:t>
            </a:fld>
            <a:endParaRPr lang="en-US" dirty="0"/>
          </a:p>
        </p:txBody>
      </p:sp>
      <p:sp>
        <p:nvSpPr>
          <p:cNvPr id="14" name="TextBox 13">
            <a:extLst>
              <a:ext uri="{FF2B5EF4-FFF2-40B4-BE49-F238E27FC236}">
                <a16:creationId xmlns:a16="http://schemas.microsoft.com/office/drawing/2014/main" id="{CEC73AE6-4BF8-1041-E9D5-52DB85F9D32C}"/>
              </a:ext>
            </a:extLst>
          </p:cNvPr>
          <p:cNvSpPr txBox="1"/>
          <p:nvPr userDrawn="1"/>
        </p:nvSpPr>
        <p:spPr>
          <a:xfrm>
            <a:off x="2541599" y="5614417"/>
            <a:ext cx="7889904" cy="338554"/>
          </a:xfrm>
          <a:prstGeom prst="rect">
            <a:avLst/>
          </a:prstGeom>
          <a:noFill/>
        </p:spPr>
        <p:txBody>
          <a:bodyPr wrap="square" rtlCol="0">
            <a:spAutoFit/>
          </a:bodyPr>
          <a:lstStyle/>
          <a:p>
            <a:r>
              <a:rPr lang="it-IT" sz="1600" b="1" dirty="0">
                <a:solidFill>
                  <a:schemeClr val="bg1"/>
                </a:solidFill>
                <a:effectLst/>
                <a:latin typeface="+mj-lt"/>
                <a:ea typeface="Calibri" panose="020F0502020204030204" pitchFamily="34" charset="0"/>
              </a:rPr>
              <a:t>MAHTEP Group, Energy Department “Galileo Ferraris”, Politecnico di Torino</a:t>
            </a:r>
            <a:endParaRPr lang="en-US" sz="1600" b="1" dirty="0">
              <a:solidFill>
                <a:schemeClr val="bg1"/>
              </a:solidFill>
              <a:latin typeface="+mj-lt"/>
            </a:endParaRPr>
          </a:p>
        </p:txBody>
      </p:sp>
    </p:spTree>
    <p:extLst>
      <p:ext uri="{BB962C8B-B14F-4D97-AF65-F5344CB8AC3E}">
        <p14:creationId xmlns:p14="http://schemas.microsoft.com/office/powerpoint/2010/main" val="1059261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Long Title)">
    <p:spTree>
      <p:nvGrpSpPr>
        <p:cNvPr id="1" name=""/>
        <p:cNvGrpSpPr/>
        <p:nvPr/>
      </p:nvGrpSpPr>
      <p:grpSpPr>
        <a:xfrm>
          <a:off x="0" y="0"/>
          <a:ext cx="0" cy="0"/>
          <a:chOff x="0" y="0"/>
          <a:chExt cx="0" cy="0"/>
        </a:xfrm>
      </p:grpSpPr>
      <p:grpSp>
        <p:nvGrpSpPr>
          <p:cNvPr id="7" name="Gruppo 6">
            <a:extLst>
              <a:ext uri="{FF2B5EF4-FFF2-40B4-BE49-F238E27FC236}">
                <a16:creationId xmlns:a16="http://schemas.microsoft.com/office/drawing/2014/main" id="{E1070EDE-4EAF-28B6-D264-E63C96D3BD27}"/>
              </a:ext>
            </a:extLst>
          </p:cNvPr>
          <p:cNvGrpSpPr/>
          <p:nvPr userDrawn="1"/>
        </p:nvGrpSpPr>
        <p:grpSpPr>
          <a:xfrm>
            <a:off x="1858518" y="6473494"/>
            <a:ext cx="10333483" cy="392142"/>
            <a:chOff x="1858519" y="6473494"/>
            <a:chExt cx="10333482" cy="392142"/>
          </a:xfrm>
          <a:solidFill>
            <a:srgbClr val="4682B4"/>
          </a:solidFill>
        </p:grpSpPr>
        <p:sp>
          <p:nvSpPr>
            <p:cNvPr id="8" name="Rettangolo 21">
              <a:extLst>
                <a:ext uri="{FF2B5EF4-FFF2-40B4-BE49-F238E27FC236}">
                  <a16:creationId xmlns:a16="http://schemas.microsoft.com/office/drawing/2014/main" id="{754E8F9B-D2D2-E079-15FE-3AEC56B2BC53}"/>
                </a:ext>
              </a:extLst>
            </p:cNvPr>
            <p:cNvSpPr/>
            <p:nvPr userDrawn="1"/>
          </p:nvSpPr>
          <p:spPr>
            <a:xfrm>
              <a:off x="2371955" y="6474139"/>
              <a:ext cx="9820046" cy="39149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Tahoma" panose="020B0604030504040204" pitchFamily="34" charset="0"/>
                <a:ea typeface="Tahoma" panose="020B0604030504040204" pitchFamily="34" charset="0"/>
                <a:cs typeface="Tahoma" panose="020B0604030504040204" pitchFamily="34" charset="0"/>
              </a:endParaRPr>
            </a:p>
          </p:txBody>
        </p:sp>
        <p:sp>
          <p:nvSpPr>
            <p:cNvPr id="9" name="Input manuale 22">
              <a:extLst>
                <a:ext uri="{FF2B5EF4-FFF2-40B4-BE49-F238E27FC236}">
                  <a16:creationId xmlns:a16="http://schemas.microsoft.com/office/drawing/2014/main" id="{0489F77E-B696-0FDB-663B-20587F47300B}"/>
                </a:ext>
              </a:extLst>
            </p:cNvPr>
            <p:cNvSpPr/>
            <p:nvPr userDrawn="1"/>
          </p:nvSpPr>
          <p:spPr>
            <a:xfrm>
              <a:off x="1858519" y="6473494"/>
              <a:ext cx="513436" cy="39214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10000 h 10000"/>
                <a:gd name="connsiteX1" fmla="*/ 10000 w 10000"/>
                <a:gd name="connsiteY1" fmla="*/ 0 h 10000"/>
                <a:gd name="connsiteX2" fmla="*/ 10000 w 10000"/>
                <a:gd name="connsiteY2" fmla="*/ 10000 h 10000"/>
                <a:gd name="connsiteX3" fmla="*/ 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a:moveTo>
                    <a:pt x="0" y="10000"/>
                  </a:moveTo>
                  <a:lnTo>
                    <a:pt x="10000" y="0"/>
                  </a:lnTo>
                  <a:lnTo>
                    <a:pt x="10000" y="10000"/>
                  </a:lnTo>
                  <a:lnTo>
                    <a:pt x="0" y="1000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Tahoma" panose="020B0604030504040204" pitchFamily="34" charset="0"/>
                <a:ea typeface="Tahoma" panose="020B0604030504040204" pitchFamily="34" charset="0"/>
                <a:cs typeface="Tahoma" panose="020B0604030504040204" pitchFamily="34" charset="0"/>
              </a:endParaRPr>
            </a:p>
          </p:txBody>
        </p:sp>
      </p:grpSp>
      <p:sp>
        <p:nvSpPr>
          <p:cNvPr id="4" name="Date Placeholder 3"/>
          <p:cNvSpPr>
            <a:spLocks noGrp="1"/>
          </p:cNvSpPr>
          <p:nvPr>
            <p:ph type="dt" sz="half" idx="10"/>
          </p:nvPr>
        </p:nvSpPr>
        <p:spPr>
          <a:xfrm>
            <a:off x="2322624" y="6506660"/>
            <a:ext cx="2160000" cy="360000"/>
          </a:xfrm>
          <a:prstGeom prst="rect">
            <a:avLst/>
          </a:prstGeom>
        </p:spPr>
        <p:txBody>
          <a:bodyPr/>
          <a:lstStyle>
            <a:lvl1pPr>
              <a:defRPr>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endParaRPr lang="en-US" dirty="0"/>
          </a:p>
        </p:txBody>
      </p:sp>
      <p:sp>
        <p:nvSpPr>
          <p:cNvPr id="5" name="Footer Placeholder 4"/>
          <p:cNvSpPr>
            <a:spLocks noGrp="1"/>
          </p:cNvSpPr>
          <p:nvPr>
            <p:ph type="ftr" sz="quarter" idx="11"/>
          </p:nvPr>
        </p:nvSpPr>
        <p:spPr>
          <a:xfrm>
            <a:off x="4489453" y="6506660"/>
            <a:ext cx="4988287" cy="360000"/>
          </a:xfrm>
          <a:prstGeom prst="rect">
            <a:avLst/>
          </a:prstGeom>
        </p:spPr>
        <p:txBody>
          <a:bodyPr/>
          <a:lstStyle>
            <a:lvl1pPr>
              <a:defRPr>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endParaRPr lang="en-US" dirty="0"/>
          </a:p>
        </p:txBody>
      </p:sp>
      <p:sp>
        <p:nvSpPr>
          <p:cNvPr id="6" name="Slide Number Placeholder 5"/>
          <p:cNvSpPr>
            <a:spLocks noGrp="1"/>
          </p:cNvSpPr>
          <p:nvPr>
            <p:ph type="sldNum" sz="quarter" idx="12"/>
          </p:nvPr>
        </p:nvSpPr>
        <p:spPr>
          <a:xfrm>
            <a:off x="11651902" y="6506660"/>
            <a:ext cx="540000" cy="360000"/>
          </a:xfrm>
          <a:prstGeom prst="rect">
            <a:avLst/>
          </a:prstGeom>
        </p:spPr>
        <p:txBody>
          <a:bodyPr/>
          <a:lstStyle>
            <a:lvl1pPr>
              <a:defRPr>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fld id="{76FB5D22-4C0B-46C2-85E7-1C11683839F5}" type="slidenum">
              <a:rPr lang="en-US" smtClean="0"/>
              <a:pPr/>
              <a:t>‹#›</a:t>
            </a:fld>
            <a:endParaRPr lang="en-US"/>
          </a:p>
        </p:txBody>
      </p:sp>
      <p:pic>
        <p:nvPicPr>
          <p:cNvPr id="3" name="Graphic 2">
            <a:extLst>
              <a:ext uri="{FF2B5EF4-FFF2-40B4-BE49-F238E27FC236}">
                <a16:creationId xmlns:a16="http://schemas.microsoft.com/office/drawing/2014/main" id="{D4D426D3-F6BB-EA38-4FE0-E21E8A95257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20936"/>
          <a:stretch/>
        </p:blipFill>
        <p:spPr>
          <a:xfrm>
            <a:off x="198913" y="6446860"/>
            <a:ext cx="1490972" cy="392400"/>
          </a:xfrm>
          <a:prstGeom prst="rect">
            <a:avLst/>
          </a:prstGeom>
        </p:spPr>
      </p:pic>
      <p:sp>
        <p:nvSpPr>
          <p:cNvPr id="17" name="Segnaposto contenuto 2">
            <a:extLst>
              <a:ext uri="{FF2B5EF4-FFF2-40B4-BE49-F238E27FC236}">
                <a16:creationId xmlns:a16="http://schemas.microsoft.com/office/drawing/2014/main" id="{A7943C5A-3877-C1DC-63EA-6C398A1B7DA5}"/>
              </a:ext>
            </a:extLst>
          </p:cNvPr>
          <p:cNvSpPr>
            <a:spLocks noGrp="1"/>
          </p:cNvSpPr>
          <p:nvPr>
            <p:ph idx="13"/>
          </p:nvPr>
        </p:nvSpPr>
        <p:spPr>
          <a:xfrm>
            <a:off x="653846" y="1204547"/>
            <a:ext cx="10884311" cy="5064369"/>
          </a:xfrm>
          <a:prstGeom prst="rect">
            <a:avLst/>
          </a:prstGeom>
        </p:spPr>
        <p:txBody>
          <a:bodyPr vert="horz" lIns="91440" tIns="45720" rIns="91440" bIns="45720" rtlCol="0">
            <a:normAutofit/>
          </a:bodyPr>
          <a:lstStyle>
            <a:lvl1pPr>
              <a:defRPr lang="en-US" dirty="0" smtClean="0"/>
            </a:lvl1pPr>
            <a:lvl2pPr>
              <a:defRPr lang="en-US" dirty="0"/>
            </a:lvl2pPr>
            <a:lvl3pPr>
              <a:defRPr lang="en-US" dirty="0"/>
            </a:lvl3pPr>
            <a:lvl4pPr>
              <a:defRPr lang="en-US" dirty="0"/>
            </a:lvl4pPr>
            <a:lvl5pPr>
              <a:defRPr lang="en-US" noProof="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dirty="0"/>
          </a:p>
        </p:txBody>
      </p:sp>
      <p:pic>
        <p:nvPicPr>
          <p:cNvPr id="13" name="Picture 2">
            <a:extLst>
              <a:ext uri="{FF2B5EF4-FFF2-40B4-BE49-F238E27FC236}">
                <a16:creationId xmlns:a16="http://schemas.microsoft.com/office/drawing/2014/main" id="{2A928F3E-3489-480D-47B0-B87AD2E2DD5A}"/>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1535101" y="110718"/>
            <a:ext cx="520259" cy="576000"/>
          </a:xfrm>
          <a:prstGeom prst="rect">
            <a:avLst/>
          </a:prstGeom>
          <a:noFill/>
          <a:extLst>
            <a:ext uri="{909E8E84-426E-40DD-AFC4-6F175D3DCCD1}">
              <a14:hiddenFill xmlns:a14="http://schemas.microsoft.com/office/drawing/2010/main">
                <a:solidFill>
                  <a:srgbClr val="FFFFFF"/>
                </a:solidFill>
              </a14:hiddenFill>
            </a:ext>
          </a:extLst>
        </p:spPr>
      </p:pic>
      <p:pic>
        <p:nvPicPr>
          <p:cNvPr id="14" name="Elemento grafico 11">
            <a:extLst>
              <a:ext uri="{FF2B5EF4-FFF2-40B4-BE49-F238E27FC236}">
                <a16:creationId xmlns:a16="http://schemas.microsoft.com/office/drawing/2014/main" id="{351B5C94-0AA2-928C-E8A8-81FC1893BB03}"/>
              </a:ext>
            </a:extLst>
          </p:cNvPr>
          <p:cNvPicPr>
            <a:picLocks noChangeAspect="1"/>
          </p:cNvPicPr>
          <p:nvPr userDrawn="1"/>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r="51850"/>
          <a:stretch/>
        </p:blipFill>
        <p:spPr>
          <a:xfrm>
            <a:off x="10639385" y="110718"/>
            <a:ext cx="630329" cy="576000"/>
          </a:xfrm>
          <a:prstGeom prst="rect">
            <a:avLst/>
          </a:prstGeom>
        </p:spPr>
      </p:pic>
      <p:grpSp>
        <p:nvGrpSpPr>
          <p:cNvPr id="15" name="Gruppo 4">
            <a:extLst>
              <a:ext uri="{FF2B5EF4-FFF2-40B4-BE49-F238E27FC236}">
                <a16:creationId xmlns:a16="http://schemas.microsoft.com/office/drawing/2014/main" id="{6485980F-F38D-F2EE-6172-B837C35B5B76}"/>
              </a:ext>
            </a:extLst>
          </p:cNvPr>
          <p:cNvGrpSpPr/>
          <p:nvPr userDrawn="1"/>
        </p:nvGrpSpPr>
        <p:grpSpPr>
          <a:xfrm>
            <a:off x="0" y="5745"/>
            <a:ext cx="10591139" cy="981966"/>
            <a:chOff x="0" y="0"/>
            <a:chExt cx="10591137" cy="981966"/>
          </a:xfrm>
          <a:solidFill>
            <a:srgbClr val="4682B4"/>
          </a:solidFill>
        </p:grpSpPr>
        <p:sp>
          <p:nvSpPr>
            <p:cNvPr id="16" name="Rettangolo 7">
              <a:extLst>
                <a:ext uri="{FF2B5EF4-FFF2-40B4-BE49-F238E27FC236}">
                  <a16:creationId xmlns:a16="http://schemas.microsoft.com/office/drawing/2014/main" id="{1F85DB5C-2986-A7D4-4C80-A54BDA569061}"/>
                </a:ext>
              </a:extLst>
            </p:cNvPr>
            <p:cNvSpPr/>
            <p:nvPr userDrawn="1"/>
          </p:nvSpPr>
          <p:spPr>
            <a:xfrm>
              <a:off x="0" y="0"/>
              <a:ext cx="9310448" cy="98196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mj-lt"/>
                <a:ea typeface="Microsoft YaHei" panose="020B0503020204020204" pitchFamily="34" charset="-122"/>
                <a:cs typeface="Poppins ExtraBold" panose="00000900000000000000" pitchFamily="2" charset="0"/>
              </a:endParaRPr>
            </a:p>
          </p:txBody>
        </p:sp>
        <p:sp>
          <p:nvSpPr>
            <p:cNvPr id="18" name="Input manuale 22">
              <a:extLst>
                <a:ext uri="{FF2B5EF4-FFF2-40B4-BE49-F238E27FC236}">
                  <a16:creationId xmlns:a16="http://schemas.microsoft.com/office/drawing/2014/main" id="{EF60CBB2-D056-DB5F-C813-9B6D0550622E}"/>
                </a:ext>
              </a:extLst>
            </p:cNvPr>
            <p:cNvSpPr/>
            <p:nvPr userDrawn="1"/>
          </p:nvSpPr>
          <p:spPr>
            <a:xfrm rot="10800000">
              <a:off x="9302337" y="0"/>
              <a:ext cx="1288800" cy="98196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10000 h 10000"/>
                <a:gd name="connsiteX1" fmla="*/ 10000 w 10000"/>
                <a:gd name="connsiteY1" fmla="*/ 0 h 10000"/>
                <a:gd name="connsiteX2" fmla="*/ 10000 w 10000"/>
                <a:gd name="connsiteY2" fmla="*/ 10000 h 10000"/>
                <a:gd name="connsiteX3" fmla="*/ 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a:moveTo>
                    <a:pt x="0" y="10000"/>
                  </a:moveTo>
                  <a:lnTo>
                    <a:pt x="10000" y="0"/>
                  </a:lnTo>
                  <a:lnTo>
                    <a:pt x="10000" y="10000"/>
                  </a:lnTo>
                  <a:lnTo>
                    <a:pt x="0" y="1000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j-lt"/>
                <a:cs typeface="Poppins ExtraBold" panose="00000900000000000000" pitchFamily="2" charset="0"/>
              </a:endParaRPr>
            </a:p>
          </p:txBody>
        </p:sp>
      </p:grpSp>
      <p:sp>
        <p:nvSpPr>
          <p:cNvPr id="19" name="Title 1">
            <a:extLst>
              <a:ext uri="{FF2B5EF4-FFF2-40B4-BE49-F238E27FC236}">
                <a16:creationId xmlns:a16="http://schemas.microsoft.com/office/drawing/2014/main" id="{6C494165-8702-9DC3-B014-CB099DBE4FE9}"/>
              </a:ext>
            </a:extLst>
          </p:cNvPr>
          <p:cNvSpPr>
            <a:spLocks noGrp="1"/>
          </p:cNvSpPr>
          <p:nvPr>
            <p:ph type="title"/>
          </p:nvPr>
        </p:nvSpPr>
        <p:spPr>
          <a:xfrm>
            <a:off x="0" y="5745"/>
            <a:ext cx="9310448" cy="981965"/>
          </a:xfrm>
        </p:spPr>
        <p:txBody>
          <a:bodyPr>
            <a:normAutofit/>
          </a:bodyPr>
          <a:lstStyle>
            <a:lvl1pPr marL="360000">
              <a:defRPr sz="2800"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Tree>
    <p:extLst>
      <p:ext uri="{BB962C8B-B14F-4D97-AF65-F5344CB8AC3E}">
        <p14:creationId xmlns:p14="http://schemas.microsoft.com/office/powerpoint/2010/main" val="3964258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Short Title)">
    <p:spTree>
      <p:nvGrpSpPr>
        <p:cNvPr id="1" name=""/>
        <p:cNvGrpSpPr/>
        <p:nvPr/>
      </p:nvGrpSpPr>
      <p:grpSpPr>
        <a:xfrm>
          <a:off x="0" y="0"/>
          <a:ext cx="0" cy="0"/>
          <a:chOff x="0" y="0"/>
          <a:chExt cx="0" cy="0"/>
        </a:xfrm>
      </p:grpSpPr>
      <p:grpSp>
        <p:nvGrpSpPr>
          <p:cNvPr id="7" name="Gruppo 6">
            <a:extLst>
              <a:ext uri="{FF2B5EF4-FFF2-40B4-BE49-F238E27FC236}">
                <a16:creationId xmlns:a16="http://schemas.microsoft.com/office/drawing/2014/main" id="{E1070EDE-4EAF-28B6-D264-E63C96D3BD27}"/>
              </a:ext>
            </a:extLst>
          </p:cNvPr>
          <p:cNvGrpSpPr/>
          <p:nvPr userDrawn="1"/>
        </p:nvGrpSpPr>
        <p:grpSpPr>
          <a:xfrm>
            <a:off x="1858518" y="6473494"/>
            <a:ext cx="10333483" cy="392142"/>
            <a:chOff x="1858519" y="6473494"/>
            <a:chExt cx="10333482" cy="392142"/>
          </a:xfrm>
          <a:solidFill>
            <a:srgbClr val="4682B4"/>
          </a:solidFill>
        </p:grpSpPr>
        <p:sp>
          <p:nvSpPr>
            <p:cNvPr id="8" name="Rettangolo 21">
              <a:extLst>
                <a:ext uri="{FF2B5EF4-FFF2-40B4-BE49-F238E27FC236}">
                  <a16:creationId xmlns:a16="http://schemas.microsoft.com/office/drawing/2014/main" id="{754E8F9B-D2D2-E079-15FE-3AEC56B2BC53}"/>
                </a:ext>
              </a:extLst>
            </p:cNvPr>
            <p:cNvSpPr/>
            <p:nvPr userDrawn="1"/>
          </p:nvSpPr>
          <p:spPr>
            <a:xfrm>
              <a:off x="2371955" y="6474139"/>
              <a:ext cx="9820046" cy="39149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Tahoma" panose="020B0604030504040204" pitchFamily="34" charset="0"/>
                <a:ea typeface="Tahoma" panose="020B0604030504040204" pitchFamily="34" charset="0"/>
                <a:cs typeface="Tahoma" panose="020B0604030504040204" pitchFamily="34" charset="0"/>
              </a:endParaRPr>
            </a:p>
          </p:txBody>
        </p:sp>
        <p:sp>
          <p:nvSpPr>
            <p:cNvPr id="9" name="Input manuale 22">
              <a:extLst>
                <a:ext uri="{FF2B5EF4-FFF2-40B4-BE49-F238E27FC236}">
                  <a16:creationId xmlns:a16="http://schemas.microsoft.com/office/drawing/2014/main" id="{0489F77E-B696-0FDB-663B-20587F47300B}"/>
                </a:ext>
              </a:extLst>
            </p:cNvPr>
            <p:cNvSpPr/>
            <p:nvPr userDrawn="1"/>
          </p:nvSpPr>
          <p:spPr>
            <a:xfrm>
              <a:off x="1858519" y="6473494"/>
              <a:ext cx="513436" cy="39214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10000 h 10000"/>
                <a:gd name="connsiteX1" fmla="*/ 10000 w 10000"/>
                <a:gd name="connsiteY1" fmla="*/ 0 h 10000"/>
                <a:gd name="connsiteX2" fmla="*/ 10000 w 10000"/>
                <a:gd name="connsiteY2" fmla="*/ 10000 h 10000"/>
                <a:gd name="connsiteX3" fmla="*/ 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a:moveTo>
                    <a:pt x="0" y="10000"/>
                  </a:moveTo>
                  <a:lnTo>
                    <a:pt x="10000" y="0"/>
                  </a:lnTo>
                  <a:lnTo>
                    <a:pt x="10000" y="10000"/>
                  </a:lnTo>
                  <a:lnTo>
                    <a:pt x="0" y="1000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Tahoma" panose="020B0604030504040204" pitchFamily="34" charset="0"/>
                <a:ea typeface="Tahoma" panose="020B0604030504040204" pitchFamily="34" charset="0"/>
                <a:cs typeface="Tahoma" panose="020B0604030504040204" pitchFamily="34" charset="0"/>
              </a:endParaRPr>
            </a:p>
          </p:txBody>
        </p:sp>
      </p:grpSp>
      <p:pic>
        <p:nvPicPr>
          <p:cNvPr id="17" name="Graphic 16">
            <a:extLst>
              <a:ext uri="{FF2B5EF4-FFF2-40B4-BE49-F238E27FC236}">
                <a16:creationId xmlns:a16="http://schemas.microsoft.com/office/drawing/2014/main" id="{60B3F3E6-8AB7-1385-DC98-A4C77BE334C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20936"/>
          <a:stretch/>
        </p:blipFill>
        <p:spPr>
          <a:xfrm>
            <a:off x="198913" y="6446860"/>
            <a:ext cx="1490972" cy="392400"/>
          </a:xfrm>
          <a:prstGeom prst="rect">
            <a:avLst/>
          </a:prstGeom>
        </p:spPr>
      </p:pic>
      <p:sp>
        <p:nvSpPr>
          <p:cNvPr id="19" name="Segnaposto contenuto 2">
            <a:extLst>
              <a:ext uri="{FF2B5EF4-FFF2-40B4-BE49-F238E27FC236}">
                <a16:creationId xmlns:a16="http://schemas.microsoft.com/office/drawing/2014/main" id="{E77400D7-658F-BB16-0338-67BF426BA4A1}"/>
              </a:ext>
            </a:extLst>
          </p:cNvPr>
          <p:cNvSpPr>
            <a:spLocks noGrp="1"/>
          </p:cNvSpPr>
          <p:nvPr>
            <p:ph idx="13"/>
          </p:nvPr>
        </p:nvSpPr>
        <p:spPr>
          <a:xfrm>
            <a:off x="653846" y="738554"/>
            <a:ext cx="10884311" cy="5530361"/>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noProof="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dirty="0"/>
          </a:p>
        </p:txBody>
      </p:sp>
      <p:pic>
        <p:nvPicPr>
          <p:cNvPr id="13" name="Picture 2">
            <a:extLst>
              <a:ext uri="{FF2B5EF4-FFF2-40B4-BE49-F238E27FC236}">
                <a16:creationId xmlns:a16="http://schemas.microsoft.com/office/drawing/2014/main" id="{D13D9156-5518-3A1E-AD31-6B0D99E4CC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1382701" y="18424"/>
            <a:ext cx="390195" cy="432000"/>
          </a:xfrm>
          <a:prstGeom prst="rect">
            <a:avLst/>
          </a:prstGeom>
          <a:noFill/>
          <a:extLst>
            <a:ext uri="{909E8E84-426E-40DD-AFC4-6F175D3DCCD1}">
              <a14:hiddenFill xmlns:a14="http://schemas.microsoft.com/office/drawing/2010/main">
                <a:solidFill>
                  <a:srgbClr val="FFFFFF"/>
                </a:solidFill>
              </a14:hiddenFill>
            </a:ext>
          </a:extLst>
        </p:spPr>
      </p:pic>
      <p:pic>
        <p:nvPicPr>
          <p:cNvPr id="14" name="Elemento grafico 11">
            <a:extLst>
              <a:ext uri="{FF2B5EF4-FFF2-40B4-BE49-F238E27FC236}">
                <a16:creationId xmlns:a16="http://schemas.microsoft.com/office/drawing/2014/main" id="{067D9D3D-1ABB-7412-FA35-997FF5A52709}"/>
              </a:ext>
            </a:extLst>
          </p:cNvPr>
          <p:cNvPicPr>
            <a:picLocks noChangeAspect="1"/>
          </p:cNvPicPr>
          <p:nvPr userDrawn="1"/>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r="51850"/>
          <a:stretch/>
        </p:blipFill>
        <p:spPr>
          <a:xfrm>
            <a:off x="10486985" y="18424"/>
            <a:ext cx="472747" cy="432000"/>
          </a:xfrm>
          <a:prstGeom prst="rect">
            <a:avLst/>
          </a:prstGeom>
        </p:spPr>
      </p:pic>
      <p:sp>
        <p:nvSpPr>
          <p:cNvPr id="3" name="Date Placeholder 3">
            <a:extLst>
              <a:ext uri="{FF2B5EF4-FFF2-40B4-BE49-F238E27FC236}">
                <a16:creationId xmlns:a16="http://schemas.microsoft.com/office/drawing/2014/main" id="{2B2D7891-6E03-AE06-B03C-E6C7C78989A1}"/>
              </a:ext>
            </a:extLst>
          </p:cNvPr>
          <p:cNvSpPr>
            <a:spLocks noGrp="1"/>
          </p:cNvSpPr>
          <p:nvPr>
            <p:ph type="dt" sz="half" idx="10"/>
          </p:nvPr>
        </p:nvSpPr>
        <p:spPr>
          <a:xfrm>
            <a:off x="2322624" y="6506660"/>
            <a:ext cx="2160000" cy="360000"/>
          </a:xfrm>
          <a:prstGeom prst="rect">
            <a:avLst/>
          </a:prstGeom>
        </p:spPr>
        <p:txBody>
          <a:bodyPr/>
          <a:lstStyle>
            <a:lvl1pPr>
              <a:defRPr>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endParaRPr lang="en-US" dirty="0"/>
          </a:p>
        </p:txBody>
      </p:sp>
      <p:sp>
        <p:nvSpPr>
          <p:cNvPr id="15" name="Footer Placeholder 4">
            <a:extLst>
              <a:ext uri="{FF2B5EF4-FFF2-40B4-BE49-F238E27FC236}">
                <a16:creationId xmlns:a16="http://schemas.microsoft.com/office/drawing/2014/main" id="{DDD988DA-27F5-AE82-9264-78F8A2837515}"/>
              </a:ext>
            </a:extLst>
          </p:cNvPr>
          <p:cNvSpPr>
            <a:spLocks noGrp="1"/>
          </p:cNvSpPr>
          <p:nvPr>
            <p:ph type="ftr" sz="quarter" idx="11"/>
          </p:nvPr>
        </p:nvSpPr>
        <p:spPr>
          <a:xfrm>
            <a:off x="4489453" y="6506660"/>
            <a:ext cx="4988287" cy="360000"/>
          </a:xfrm>
          <a:prstGeom prst="rect">
            <a:avLst/>
          </a:prstGeom>
        </p:spPr>
        <p:txBody>
          <a:bodyPr/>
          <a:lstStyle>
            <a:lvl1pPr>
              <a:defRPr>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endParaRPr lang="en-US" dirty="0"/>
          </a:p>
        </p:txBody>
      </p:sp>
      <p:sp>
        <p:nvSpPr>
          <p:cNvPr id="16" name="Slide Number Placeholder 5">
            <a:extLst>
              <a:ext uri="{FF2B5EF4-FFF2-40B4-BE49-F238E27FC236}">
                <a16:creationId xmlns:a16="http://schemas.microsoft.com/office/drawing/2014/main" id="{55DDAED9-F631-C8B4-22D9-7A94E3DD8BA9}"/>
              </a:ext>
            </a:extLst>
          </p:cNvPr>
          <p:cNvSpPr>
            <a:spLocks noGrp="1"/>
          </p:cNvSpPr>
          <p:nvPr>
            <p:ph type="sldNum" sz="quarter" idx="12"/>
          </p:nvPr>
        </p:nvSpPr>
        <p:spPr>
          <a:xfrm>
            <a:off x="11651902" y="6506660"/>
            <a:ext cx="540000" cy="360000"/>
          </a:xfrm>
          <a:prstGeom prst="rect">
            <a:avLst/>
          </a:prstGeom>
        </p:spPr>
        <p:txBody>
          <a:bodyPr/>
          <a:lstStyle>
            <a:lvl1pPr>
              <a:defRPr>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fld id="{76FB5D22-4C0B-46C2-85E7-1C11683839F5}" type="slidenum">
              <a:rPr lang="en-US" smtClean="0"/>
              <a:pPr/>
              <a:t>‹#›</a:t>
            </a:fld>
            <a:endParaRPr lang="en-US"/>
          </a:p>
        </p:txBody>
      </p:sp>
      <p:grpSp>
        <p:nvGrpSpPr>
          <p:cNvPr id="4" name="Gruppo 4">
            <a:extLst>
              <a:ext uri="{FF2B5EF4-FFF2-40B4-BE49-F238E27FC236}">
                <a16:creationId xmlns:a16="http://schemas.microsoft.com/office/drawing/2014/main" id="{F80B9D5D-016C-43FD-F646-D7DAAF543D54}"/>
              </a:ext>
            </a:extLst>
          </p:cNvPr>
          <p:cNvGrpSpPr/>
          <p:nvPr userDrawn="1"/>
        </p:nvGrpSpPr>
        <p:grpSpPr>
          <a:xfrm>
            <a:off x="2" y="-1"/>
            <a:ext cx="9921239" cy="468851"/>
            <a:chOff x="0" y="-6"/>
            <a:chExt cx="9921238" cy="981974"/>
          </a:xfrm>
          <a:solidFill>
            <a:srgbClr val="4682B4"/>
          </a:solidFill>
        </p:grpSpPr>
        <p:sp>
          <p:nvSpPr>
            <p:cNvPr id="5" name="Rettangolo 7">
              <a:extLst>
                <a:ext uri="{FF2B5EF4-FFF2-40B4-BE49-F238E27FC236}">
                  <a16:creationId xmlns:a16="http://schemas.microsoft.com/office/drawing/2014/main" id="{964F0DE8-234A-1409-10EC-1A1BF9A906FD}"/>
                </a:ext>
              </a:extLst>
            </p:cNvPr>
            <p:cNvSpPr/>
            <p:nvPr userDrawn="1"/>
          </p:nvSpPr>
          <p:spPr>
            <a:xfrm>
              <a:off x="0" y="-4"/>
              <a:ext cx="9310448" cy="9819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Poppins ExtraBold" panose="00000900000000000000" pitchFamily="2" charset="0"/>
                <a:ea typeface="Microsoft YaHei" panose="020B0503020204020204" pitchFamily="34" charset="-122"/>
                <a:cs typeface="Poppins ExtraBold" panose="00000900000000000000" pitchFamily="2" charset="0"/>
              </a:endParaRPr>
            </a:p>
          </p:txBody>
        </p:sp>
        <p:sp>
          <p:nvSpPr>
            <p:cNvPr id="6" name="Input manuale 22">
              <a:extLst>
                <a:ext uri="{FF2B5EF4-FFF2-40B4-BE49-F238E27FC236}">
                  <a16:creationId xmlns:a16="http://schemas.microsoft.com/office/drawing/2014/main" id="{F8A25F83-5DB0-25BB-5979-BC7B2D323C8A}"/>
                </a:ext>
              </a:extLst>
            </p:cNvPr>
            <p:cNvSpPr/>
            <p:nvPr userDrawn="1"/>
          </p:nvSpPr>
          <p:spPr>
            <a:xfrm rot="10800000">
              <a:off x="9309238" y="-6"/>
              <a:ext cx="612000" cy="981966"/>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10000 h 10000"/>
                <a:gd name="connsiteX1" fmla="*/ 10000 w 10000"/>
                <a:gd name="connsiteY1" fmla="*/ 0 h 10000"/>
                <a:gd name="connsiteX2" fmla="*/ 10000 w 10000"/>
                <a:gd name="connsiteY2" fmla="*/ 10000 h 10000"/>
                <a:gd name="connsiteX3" fmla="*/ 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a:moveTo>
                    <a:pt x="0" y="10000"/>
                  </a:moveTo>
                  <a:lnTo>
                    <a:pt x="10000" y="0"/>
                  </a:lnTo>
                  <a:lnTo>
                    <a:pt x="10000" y="10000"/>
                  </a:lnTo>
                  <a:lnTo>
                    <a:pt x="0" y="1000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Poppins ExtraBold" panose="00000900000000000000" pitchFamily="2" charset="0"/>
                <a:cs typeface="Poppins ExtraBold" panose="00000900000000000000" pitchFamily="2" charset="0"/>
              </a:endParaRPr>
            </a:p>
          </p:txBody>
        </p:sp>
      </p:grpSp>
      <p:sp>
        <p:nvSpPr>
          <p:cNvPr id="18" name="Title 1">
            <a:extLst>
              <a:ext uri="{FF2B5EF4-FFF2-40B4-BE49-F238E27FC236}">
                <a16:creationId xmlns:a16="http://schemas.microsoft.com/office/drawing/2014/main" id="{CCF395BF-6BA9-B54C-D194-D4F85E53458B}"/>
              </a:ext>
            </a:extLst>
          </p:cNvPr>
          <p:cNvSpPr>
            <a:spLocks noGrp="1"/>
          </p:cNvSpPr>
          <p:nvPr>
            <p:ph type="title"/>
          </p:nvPr>
        </p:nvSpPr>
        <p:spPr>
          <a:xfrm>
            <a:off x="1" y="-1024"/>
            <a:ext cx="9310448" cy="469872"/>
          </a:xfrm>
          <a:prstGeom prst="rect">
            <a:avLst/>
          </a:prstGeom>
        </p:spPr>
        <p:txBody>
          <a:bodyPr>
            <a:normAutofit/>
          </a:bodyPr>
          <a:lstStyle>
            <a:lvl1pPr marL="180000">
              <a:defRPr sz="2400"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Tree>
    <p:extLst>
      <p:ext uri="{BB962C8B-B14F-4D97-AF65-F5344CB8AC3E}">
        <p14:creationId xmlns:p14="http://schemas.microsoft.com/office/powerpoint/2010/main" val="3462982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Long Title)">
    <p:spTree>
      <p:nvGrpSpPr>
        <p:cNvPr id="1" name=""/>
        <p:cNvGrpSpPr/>
        <p:nvPr/>
      </p:nvGrpSpPr>
      <p:grpSpPr>
        <a:xfrm>
          <a:off x="0" y="0"/>
          <a:ext cx="0" cy="0"/>
          <a:chOff x="0" y="0"/>
          <a:chExt cx="0" cy="0"/>
        </a:xfrm>
      </p:grpSpPr>
      <p:grpSp>
        <p:nvGrpSpPr>
          <p:cNvPr id="20" name="Gruppo 3">
            <a:extLst>
              <a:ext uri="{FF2B5EF4-FFF2-40B4-BE49-F238E27FC236}">
                <a16:creationId xmlns:a16="http://schemas.microsoft.com/office/drawing/2014/main" id="{06C48EA1-99E6-2E15-B5F3-02D9EFFB59DF}"/>
              </a:ext>
            </a:extLst>
          </p:cNvPr>
          <p:cNvGrpSpPr/>
          <p:nvPr userDrawn="1"/>
        </p:nvGrpSpPr>
        <p:grpSpPr>
          <a:xfrm>
            <a:off x="7620" y="5861918"/>
            <a:ext cx="12184381" cy="998273"/>
            <a:chOff x="7620" y="4679810"/>
            <a:chExt cx="12184381" cy="2082802"/>
          </a:xfrm>
          <a:solidFill>
            <a:srgbClr val="4682B4"/>
          </a:solidFill>
        </p:grpSpPr>
        <p:sp>
          <p:nvSpPr>
            <p:cNvPr id="21" name="Rettangolo 7">
              <a:extLst>
                <a:ext uri="{FF2B5EF4-FFF2-40B4-BE49-F238E27FC236}">
                  <a16:creationId xmlns:a16="http://schemas.microsoft.com/office/drawing/2014/main" id="{FB1DE2A5-1EBF-2169-BDE7-B4B08D2099FE}"/>
                </a:ext>
              </a:extLst>
            </p:cNvPr>
            <p:cNvSpPr/>
            <p:nvPr userDrawn="1"/>
          </p:nvSpPr>
          <p:spPr>
            <a:xfrm>
              <a:off x="1314420" y="4679810"/>
              <a:ext cx="10877581" cy="20828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Tahoma" panose="020B0604030504040204" pitchFamily="34" charset="0"/>
                <a:ea typeface="Tahoma" panose="020B0604030504040204" pitchFamily="34" charset="0"/>
                <a:cs typeface="Tahoma" panose="020B0604030504040204" pitchFamily="34" charset="0"/>
              </a:endParaRPr>
            </a:p>
          </p:txBody>
        </p:sp>
        <p:sp>
          <p:nvSpPr>
            <p:cNvPr id="22" name="Input manuale 22">
              <a:extLst>
                <a:ext uri="{FF2B5EF4-FFF2-40B4-BE49-F238E27FC236}">
                  <a16:creationId xmlns:a16="http://schemas.microsoft.com/office/drawing/2014/main" id="{E7977EEE-15BF-7D3B-FA85-9F2327A930B2}"/>
                </a:ext>
              </a:extLst>
            </p:cNvPr>
            <p:cNvSpPr/>
            <p:nvPr userDrawn="1"/>
          </p:nvSpPr>
          <p:spPr>
            <a:xfrm>
              <a:off x="7620" y="4679812"/>
              <a:ext cx="1306800" cy="208280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10000 h 10000"/>
                <a:gd name="connsiteX1" fmla="*/ 10000 w 10000"/>
                <a:gd name="connsiteY1" fmla="*/ 0 h 10000"/>
                <a:gd name="connsiteX2" fmla="*/ 10000 w 10000"/>
                <a:gd name="connsiteY2" fmla="*/ 10000 h 10000"/>
                <a:gd name="connsiteX3" fmla="*/ 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a:moveTo>
                    <a:pt x="0" y="10000"/>
                  </a:moveTo>
                  <a:lnTo>
                    <a:pt x="10000" y="0"/>
                  </a:lnTo>
                  <a:lnTo>
                    <a:pt x="10000" y="10000"/>
                  </a:lnTo>
                  <a:lnTo>
                    <a:pt x="0" y="1000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Tahoma" panose="020B0604030504040204" pitchFamily="34" charset="0"/>
                <a:ea typeface="Tahoma" panose="020B0604030504040204" pitchFamily="34" charset="0"/>
                <a:cs typeface="Tahoma" panose="020B0604030504040204" pitchFamily="34" charset="0"/>
              </a:endParaRPr>
            </a:p>
          </p:txBody>
        </p:sp>
      </p:grpSp>
      <p:sp>
        <p:nvSpPr>
          <p:cNvPr id="2" name="Title 1"/>
          <p:cNvSpPr>
            <a:spLocks noGrp="1"/>
          </p:cNvSpPr>
          <p:nvPr>
            <p:ph type="ctrTitle"/>
          </p:nvPr>
        </p:nvSpPr>
        <p:spPr>
          <a:xfrm>
            <a:off x="914400" y="834691"/>
            <a:ext cx="10363200" cy="2387600"/>
          </a:xfrm>
          <a:prstGeom prst="rect">
            <a:avLst/>
          </a:prstGeom>
        </p:spPr>
        <p:txBody>
          <a:bodyPr vert="horz" lIns="91440" tIns="45720" rIns="91440" bIns="45720" rtlCol="0" anchor="b">
            <a:normAutofit/>
          </a:bodyPr>
          <a:lstStyle>
            <a:lvl1pPr>
              <a:defRPr lang="en-US" sz="4800" b="1" dirty="0"/>
            </a:lvl1pPr>
          </a:lstStyle>
          <a:p>
            <a:pPr lvl="0" algn="ctr"/>
            <a:r>
              <a:rPr lang="en-US"/>
              <a:t>Click to edit Master title style</a:t>
            </a:r>
            <a:endParaRPr lang="en-US" dirty="0"/>
          </a:p>
        </p:txBody>
      </p:sp>
      <p:sp>
        <p:nvSpPr>
          <p:cNvPr id="3" name="Subtitle 2"/>
          <p:cNvSpPr>
            <a:spLocks noGrp="1"/>
          </p:cNvSpPr>
          <p:nvPr>
            <p:ph type="subTitle" idx="1"/>
          </p:nvPr>
        </p:nvSpPr>
        <p:spPr>
          <a:xfrm>
            <a:off x="1524000" y="3314366"/>
            <a:ext cx="9144000" cy="1655762"/>
          </a:xfrm>
          <a:prstGeom prst="rect">
            <a:avLst/>
          </a:prstGeom>
        </p:spPr>
        <p:txBody>
          <a:bodyPr vert="horz" lIns="91440" tIns="45720" rIns="91440" bIns="45720" rtlCol="0">
            <a:normAutofit/>
          </a:bodyPr>
          <a:lstStyle>
            <a:lvl1pPr>
              <a:defRPr lang="en-US" sz="2800" dirty="0"/>
            </a:lvl1pPr>
          </a:lstStyle>
          <a:p>
            <a:pPr marL="0" lvl="0" indent="0" algn="ctr">
              <a:buNone/>
            </a:pPr>
            <a:r>
              <a:rPr lang="en-US"/>
              <a:t>Click to edit Master subtitle style</a:t>
            </a:r>
            <a:endParaRPr lang="en-US" dirty="0"/>
          </a:p>
        </p:txBody>
      </p:sp>
      <p:sp>
        <p:nvSpPr>
          <p:cNvPr id="4" name="Date Placeholder 3"/>
          <p:cNvSpPr>
            <a:spLocks noGrp="1"/>
          </p:cNvSpPr>
          <p:nvPr>
            <p:ph type="dt" sz="half" idx="10"/>
          </p:nvPr>
        </p:nvSpPr>
        <p:spPr>
          <a:xfrm>
            <a:off x="510616" y="6499231"/>
            <a:ext cx="2160000" cy="360000"/>
          </a:xfrm>
          <a:prstGeom prst="rect">
            <a:avLst/>
          </a:prstGeom>
        </p:spPr>
        <p:txBody>
          <a:bodyPr/>
          <a:lstStyle>
            <a:lvl1pPr>
              <a:defRPr sz="1050" b="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endParaRPr lang="en-US" dirty="0"/>
          </a:p>
        </p:txBody>
      </p:sp>
      <p:sp>
        <p:nvSpPr>
          <p:cNvPr id="5" name="Footer Placeholder 4"/>
          <p:cNvSpPr>
            <a:spLocks noGrp="1"/>
          </p:cNvSpPr>
          <p:nvPr>
            <p:ph type="ftr" sz="quarter" idx="11"/>
          </p:nvPr>
        </p:nvSpPr>
        <p:spPr>
          <a:xfrm>
            <a:off x="2688716" y="6499231"/>
            <a:ext cx="6796686" cy="360000"/>
          </a:xfrm>
          <a:prstGeom prst="rect">
            <a:avLst/>
          </a:prstGeom>
        </p:spPr>
        <p:txBody>
          <a:bodyPr/>
          <a:lstStyle>
            <a:lvl1pPr>
              <a:defRPr sz="1050"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endParaRPr lang="en-US" dirty="0"/>
          </a:p>
        </p:txBody>
      </p:sp>
      <p:sp>
        <p:nvSpPr>
          <p:cNvPr id="6" name="Slide Number Placeholder 5"/>
          <p:cNvSpPr>
            <a:spLocks noGrp="1"/>
          </p:cNvSpPr>
          <p:nvPr>
            <p:ph type="sldNum" sz="quarter" idx="12"/>
          </p:nvPr>
        </p:nvSpPr>
        <p:spPr>
          <a:xfrm>
            <a:off x="11658600" y="6499231"/>
            <a:ext cx="540000" cy="360000"/>
          </a:xfrm>
          <a:prstGeom prst="rect">
            <a:avLst/>
          </a:prstGeom>
        </p:spPr>
        <p:txBody>
          <a:bodyPr/>
          <a:lstStyle>
            <a:lvl1pPr>
              <a:defRPr sz="1050" b="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fld id="{76FB5D22-4C0B-46C2-85E7-1C11683839F5}" type="slidenum">
              <a:rPr lang="en-US" smtClean="0"/>
              <a:pPr/>
              <a:t>‹#›</a:t>
            </a:fld>
            <a:endParaRPr lang="en-US" dirty="0"/>
          </a:p>
        </p:txBody>
      </p:sp>
      <p:pic>
        <p:nvPicPr>
          <p:cNvPr id="13" name="Graphic 12">
            <a:extLst>
              <a:ext uri="{FF2B5EF4-FFF2-40B4-BE49-F238E27FC236}">
                <a16:creationId xmlns:a16="http://schemas.microsoft.com/office/drawing/2014/main" id="{89115074-5B78-9D1A-EA49-84860D994E5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39156" y="22616"/>
            <a:ext cx="2162957" cy="720000"/>
          </a:xfrm>
          <a:prstGeom prst="rect">
            <a:avLst/>
          </a:prstGeom>
        </p:spPr>
      </p:pic>
      <p:pic>
        <p:nvPicPr>
          <p:cNvPr id="8" name="Picture 2">
            <a:extLst>
              <a:ext uri="{FF2B5EF4-FFF2-40B4-BE49-F238E27FC236}">
                <a16:creationId xmlns:a16="http://schemas.microsoft.com/office/drawing/2014/main" id="{0C085891-1FB6-3A7D-04D7-00DBBFED71E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90064" y="124569"/>
            <a:ext cx="484397" cy="536297"/>
          </a:xfrm>
          <a:prstGeom prst="rect">
            <a:avLst/>
          </a:prstGeom>
          <a:noFill/>
          <a:extLst>
            <a:ext uri="{909E8E84-426E-40DD-AFC4-6F175D3DCCD1}">
              <a14:hiddenFill xmlns:a14="http://schemas.microsoft.com/office/drawing/2010/main">
                <a:solidFill>
                  <a:srgbClr val="FFFFFF"/>
                </a:solidFill>
              </a14:hiddenFill>
            </a:ext>
          </a:extLst>
        </p:spPr>
      </p:pic>
      <p:pic>
        <p:nvPicPr>
          <p:cNvPr id="9" name="Elemento grafico 11">
            <a:extLst>
              <a:ext uri="{FF2B5EF4-FFF2-40B4-BE49-F238E27FC236}">
                <a16:creationId xmlns:a16="http://schemas.microsoft.com/office/drawing/2014/main" id="{D5A33C3A-831B-2D49-145F-8AB90CCCAAFB}"/>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8465" y="124565"/>
            <a:ext cx="1217577" cy="535734"/>
          </a:xfrm>
          <a:prstGeom prst="rect">
            <a:avLst/>
          </a:prstGeom>
        </p:spPr>
      </p:pic>
      <p:sp>
        <p:nvSpPr>
          <p:cNvPr id="7" name="TextBox 6">
            <a:extLst>
              <a:ext uri="{FF2B5EF4-FFF2-40B4-BE49-F238E27FC236}">
                <a16:creationId xmlns:a16="http://schemas.microsoft.com/office/drawing/2014/main" id="{3652FAB9-70BC-8022-DAFC-F08A901F5C83}"/>
              </a:ext>
            </a:extLst>
          </p:cNvPr>
          <p:cNvSpPr txBox="1"/>
          <p:nvPr userDrawn="1"/>
        </p:nvSpPr>
        <p:spPr>
          <a:xfrm>
            <a:off x="2115131" y="6023309"/>
            <a:ext cx="7961738" cy="338554"/>
          </a:xfrm>
          <a:prstGeom prst="rect">
            <a:avLst/>
          </a:prstGeom>
          <a:noFill/>
        </p:spPr>
        <p:txBody>
          <a:bodyPr wrap="square" rtlCol="0">
            <a:spAutoFit/>
          </a:bodyPr>
          <a:lstStyle>
            <a:defPPr>
              <a:defRPr lang="en-US"/>
            </a:defPPr>
            <a:lvl1pPr>
              <a:defRPr sz="1600" b="1">
                <a:solidFill>
                  <a:schemeClr val="bg1"/>
                </a:solidFill>
                <a:effectLst/>
                <a:latin typeface="+mj-lt"/>
                <a:ea typeface="Calibri" panose="020F0502020204030204" pitchFamily="34" charset="0"/>
              </a:defRPr>
            </a:lvl1pPr>
          </a:lstStyle>
          <a:p>
            <a:pPr lvl="0" algn="ctr"/>
            <a:r>
              <a:rPr lang="it-IT" dirty="0"/>
              <a:t>MAHTEP Group, Energy Department “Galileo Ferraris”, Politecnico di Torino</a:t>
            </a:r>
            <a:endParaRPr lang="en-US" dirty="0"/>
          </a:p>
        </p:txBody>
      </p:sp>
    </p:spTree>
    <p:extLst>
      <p:ext uri="{BB962C8B-B14F-4D97-AF65-F5344CB8AC3E}">
        <p14:creationId xmlns:p14="http://schemas.microsoft.com/office/powerpoint/2010/main" val="36050928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7"/>
            <a:ext cx="10515600" cy="18759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8"/>
            <a:ext cx="2743200" cy="365125"/>
          </a:xfrm>
          <a:prstGeom prst="rect">
            <a:avLst/>
          </a:prstGeom>
        </p:spPr>
        <p:txBody>
          <a:bodyPr vert="horz" lIns="91440" tIns="45720" rIns="91440" bIns="45720" rtlCol="0" anchor="ctr"/>
          <a:lstStyle>
            <a:lvl1pPr algn="l">
              <a:defRPr sz="900">
                <a:solidFill>
                  <a:schemeClr val="tx1">
                    <a:tint val="75000"/>
                  </a:schemeClr>
                </a:solidFill>
                <a:latin typeface="Poppins" panose="00000500000000000000" pitchFamily="2" charset="0"/>
                <a:cs typeface="Poppins" panose="00000500000000000000" pitchFamily="2" charset="0"/>
              </a:defRPr>
            </a:lvl1pPr>
          </a:lstStyle>
          <a:p>
            <a:endParaRPr lang="en-US"/>
          </a:p>
        </p:txBody>
      </p:sp>
      <p:sp>
        <p:nvSpPr>
          <p:cNvPr id="5" name="Footer Placeholder 4"/>
          <p:cNvSpPr>
            <a:spLocks noGrp="1"/>
          </p:cNvSpPr>
          <p:nvPr>
            <p:ph type="ftr" sz="quarter" idx="3"/>
          </p:nvPr>
        </p:nvSpPr>
        <p:spPr>
          <a:xfrm>
            <a:off x="4038600" y="6356358"/>
            <a:ext cx="4114800" cy="365125"/>
          </a:xfrm>
          <a:prstGeom prst="rect">
            <a:avLst/>
          </a:prstGeom>
        </p:spPr>
        <p:txBody>
          <a:bodyPr vert="horz" lIns="91440" tIns="45720" rIns="91440" bIns="45720" rtlCol="0" anchor="ctr"/>
          <a:lstStyle>
            <a:lvl1pPr algn="ctr">
              <a:defRPr sz="900">
                <a:solidFill>
                  <a:schemeClr val="tx1">
                    <a:tint val="75000"/>
                  </a:schemeClr>
                </a:solidFill>
                <a:latin typeface="Poppins" panose="00000500000000000000" pitchFamily="2" charset="0"/>
                <a:cs typeface="Poppins" panose="00000500000000000000" pitchFamily="2" charset="0"/>
              </a:defRPr>
            </a:lvl1pPr>
          </a:lstStyle>
          <a:p>
            <a:endParaRPr lang="en-US"/>
          </a:p>
        </p:txBody>
      </p:sp>
      <p:sp>
        <p:nvSpPr>
          <p:cNvPr id="6" name="Slide Number Placeholder 5"/>
          <p:cNvSpPr>
            <a:spLocks noGrp="1"/>
          </p:cNvSpPr>
          <p:nvPr>
            <p:ph type="sldNum" sz="quarter" idx="4"/>
          </p:nvPr>
        </p:nvSpPr>
        <p:spPr>
          <a:xfrm>
            <a:off x="8610600" y="6356358"/>
            <a:ext cx="2743200" cy="365125"/>
          </a:xfrm>
          <a:prstGeom prst="rect">
            <a:avLst/>
          </a:prstGeom>
        </p:spPr>
        <p:txBody>
          <a:bodyPr vert="horz" lIns="91440" tIns="45720" rIns="91440" bIns="45720" rtlCol="0" anchor="ctr"/>
          <a:lstStyle>
            <a:lvl1pPr algn="r">
              <a:defRPr sz="900">
                <a:solidFill>
                  <a:schemeClr val="tx1">
                    <a:tint val="75000"/>
                  </a:schemeClr>
                </a:solidFill>
                <a:latin typeface="Poppins" panose="00000500000000000000" pitchFamily="2" charset="0"/>
                <a:cs typeface="Poppins" panose="00000500000000000000" pitchFamily="2" charset="0"/>
              </a:defRPr>
            </a:lvl1pPr>
          </a:lstStyle>
          <a:p>
            <a:fld id="{76FB5D22-4C0B-46C2-85E7-1C11683839F5}" type="slidenum">
              <a:rPr lang="en-US" smtClean="0"/>
              <a:pPr/>
              <a:t>‹#›</a:t>
            </a:fld>
            <a:endParaRPr lang="en-US"/>
          </a:p>
        </p:txBody>
      </p:sp>
    </p:spTree>
    <p:extLst>
      <p:ext uri="{BB962C8B-B14F-4D97-AF65-F5344CB8AC3E}">
        <p14:creationId xmlns:p14="http://schemas.microsoft.com/office/powerpoint/2010/main" val="138402043"/>
      </p:ext>
    </p:extLst>
  </p:cSld>
  <p:clrMap bg1="lt1" tx1="dk1" bg2="lt2" tx2="dk2" accent1="accent1" accent2="accent2" accent3="accent3" accent4="accent4" accent5="accent5" accent6="accent6" hlink="hlink" folHlink="folHlink"/>
  <p:sldLayoutIdLst>
    <p:sldLayoutId id="2147483681" r:id="rId1"/>
    <p:sldLayoutId id="2147483679" r:id="rId2"/>
    <p:sldLayoutId id="2147483680" r:id="rId3"/>
    <p:sldLayoutId id="2147483673" r:id="rId4"/>
  </p:sldLayoutIdLst>
  <p:hf sldNum="0" hdr="0" ftr="0" dt="0"/>
  <p:txStyles>
    <p:titleStyle>
      <a:lvl1pPr algn="l" defTabSz="685783" rtl="0" eaLnBrk="1" latinLnBrk="0" hangingPunct="1">
        <a:lnSpc>
          <a:spcPct val="90000"/>
        </a:lnSpc>
        <a:spcBef>
          <a:spcPct val="0"/>
        </a:spcBef>
        <a:buNone/>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4.png"/><Relationship Id="rId5" Type="http://schemas.openxmlformats.org/officeDocument/2006/relationships/image" Target="../media/image9.png"/><Relationship Id="rId15" Type="http://schemas.openxmlformats.org/officeDocument/2006/relationships/image" Target="../media/image18.png"/><Relationship Id="rId10" Type="http://schemas.openxmlformats.org/officeDocument/2006/relationships/hyperlink" Target="http://www.flaticon.com/" TargetMode="External"/><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rosys.dera.bgr.de/mapapps49prev/resources/apps/rosys2/index.html?lang=e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13.png"/><Relationship Id="rId2" Type="http://schemas.openxmlformats.org/officeDocument/2006/relationships/hyperlink" Target="Pietro/Pietro/Pietro/Literature/CRM%20probabilities/GEV.py" TargetMode="Externa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emf"/><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6.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8.emf"/><Relationship Id="rId7" Type="http://schemas.openxmlformats.org/officeDocument/2006/relationships/image" Target="../media/image9.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1.emf"/><Relationship Id="rId5" Type="http://schemas.openxmlformats.org/officeDocument/2006/relationships/image" Target="../media/image70.emf"/><Relationship Id="rId4" Type="http://schemas.openxmlformats.org/officeDocument/2006/relationships/image" Target="../media/image69.png"/></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2.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3.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4.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oi.org/10.5089/9798400271953.001"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doi.org/10.1111/jiec.13517" TargetMode="External"/><Relationship Id="rId2" Type="http://schemas.openxmlformats.org/officeDocument/2006/relationships/hyperlink" Target="https://doi.org/10.3386/w24965"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emf"/><Relationship Id="rId1" Type="http://schemas.openxmlformats.org/officeDocument/2006/relationships/slideLayout" Target="../slideLayouts/slideLayout2.xml"/><Relationship Id="rId4" Type="http://schemas.openxmlformats.org/officeDocument/2006/relationships/image" Target="../media/image81.emf"/></Relationships>
</file>

<file path=ppt/slides/_rels/slide9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D9C77-6E4B-0856-9138-8E5E57C10E7B}"/>
              </a:ext>
            </a:extLst>
          </p:cNvPr>
          <p:cNvSpPr>
            <a:spLocks noGrp="1"/>
          </p:cNvSpPr>
          <p:nvPr>
            <p:ph type="ctrTitle"/>
          </p:nvPr>
        </p:nvSpPr>
        <p:spPr>
          <a:xfrm>
            <a:off x="914400" y="2065527"/>
            <a:ext cx="10363200" cy="682291"/>
          </a:xfrm>
        </p:spPr>
        <p:txBody>
          <a:bodyPr>
            <a:normAutofit fontScale="90000"/>
          </a:bodyPr>
          <a:lstStyle/>
          <a:p>
            <a:r>
              <a:rPr lang="it-IT" dirty="0"/>
              <a:t>Internship work</a:t>
            </a:r>
            <a:endParaRPr lang="en-US" dirty="0"/>
          </a:p>
        </p:txBody>
      </p:sp>
      <p:sp>
        <p:nvSpPr>
          <p:cNvPr id="3" name="Subtitle 2">
            <a:extLst>
              <a:ext uri="{FF2B5EF4-FFF2-40B4-BE49-F238E27FC236}">
                <a16:creationId xmlns:a16="http://schemas.microsoft.com/office/drawing/2014/main" id="{662DEC61-5566-8425-7E69-64EF30D1A4D2}"/>
              </a:ext>
            </a:extLst>
          </p:cNvPr>
          <p:cNvSpPr>
            <a:spLocks noGrp="1"/>
          </p:cNvSpPr>
          <p:nvPr>
            <p:ph type="subTitle" idx="1"/>
          </p:nvPr>
        </p:nvSpPr>
        <p:spPr>
          <a:xfrm>
            <a:off x="1524000" y="2809419"/>
            <a:ext cx="9144000" cy="1239161"/>
          </a:xfrm>
        </p:spPr>
        <p:txBody>
          <a:bodyPr>
            <a:normAutofit fontScale="85000" lnSpcReduction="20000"/>
          </a:bodyPr>
          <a:lstStyle/>
          <a:p>
            <a:r>
              <a:rPr lang="en-US" dirty="0"/>
              <a:t>Tentative estimate of the probability of occurrence of temporary supply disruption events and their intensity in terms of reduced supply and increased costs, by assuming probabilities and normalized cost increments like the past energy crises. </a:t>
            </a:r>
          </a:p>
        </p:txBody>
      </p:sp>
      <p:sp>
        <p:nvSpPr>
          <p:cNvPr id="4" name="TextBox 3">
            <a:extLst>
              <a:ext uri="{FF2B5EF4-FFF2-40B4-BE49-F238E27FC236}">
                <a16:creationId xmlns:a16="http://schemas.microsoft.com/office/drawing/2014/main" id="{9EEF21D8-9755-79B4-3FE4-AC6E82DC3D3B}"/>
              </a:ext>
            </a:extLst>
          </p:cNvPr>
          <p:cNvSpPr txBox="1"/>
          <p:nvPr/>
        </p:nvSpPr>
        <p:spPr>
          <a:xfrm>
            <a:off x="9790545" y="4110182"/>
            <a:ext cx="1847273" cy="369332"/>
          </a:xfrm>
          <a:prstGeom prst="rect">
            <a:avLst/>
          </a:prstGeom>
          <a:noFill/>
        </p:spPr>
        <p:txBody>
          <a:bodyPr wrap="square" rtlCol="0">
            <a:spAutoFit/>
          </a:bodyPr>
          <a:lstStyle/>
          <a:p>
            <a:r>
              <a:rPr lang="it-IT" dirty="0"/>
              <a:t>Pietro Casarin</a:t>
            </a:r>
          </a:p>
        </p:txBody>
      </p:sp>
    </p:spTree>
    <p:extLst>
      <p:ext uri="{BB962C8B-B14F-4D97-AF65-F5344CB8AC3E}">
        <p14:creationId xmlns:p14="http://schemas.microsoft.com/office/powerpoint/2010/main" val="1963012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3F9415-ED45-C8BA-E448-71D74BBC515A}"/>
              </a:ext>
            </a:extLst>
          </p:cNvPr>
          <p:cNvSpPr>
            <a:spLocks noGrp="1"/>
          </p:cNvSpPr>
          <p:nvPr>
            <p:ph type="title"/>
          </p:nvPr>
        </p:nvSpPr>
        <p:spPr/>
        <p:txBody>
          <a:bodyPr/>
          <a:lstStyle/>
          <a:p>
            <a:r>
              <a:rPr lang="en-US" dirty="0"/>
              <a:t>Supply disruption scenarios building</a:t>
            </a:r>
          </a:p>
        </p:txBody>
      </p:sp>
      <p:grpSp>
        <p:nvGrpSpPr>
          <p:cNvPr id="15" name="Group 14">
            <a:extLst>
              <a:ext uri="{FF2B5EF4-FFF2-40B4-BE49-F238E27FC236}">
                <a16:creationId xmlns:a16="http://schemas.microsoft.com/office/drawing/2014/main" id="{0C045818-D216-5294-83C0-10576E6EFAA3}"/>
              </a:ext>
            </a:extLst>
          </p:cNvPr>
          <p:cNvGrpSpPr/>
          <p:nvPr/>
        </p:nvGrpSpPr>
        <p:grpSpPr>
          <a:xfrm>
            <a:off x="1502153" y="4911771"/>
            <a:ext cx="4125831" cy="1022545"/>
            <a:chOff x="1425290" y="5303057"/>
            <a:chExt cx="4125831" cy="1022545"/>
          </a:xfrm>
        </p:grpSpPr>
        <p:grpSp>
          <p:nvGrpSpPr>
            <p:cNvPr id="228" name="Group 227">
              <a:extLst>
                <a:ext uri="{FF2B5EF4-FFF2-40B4-BE49-F238E27FC236}">
                  <a16:creationId xmlns:a16="http://schemas.microsoft.com/office/drawing/2014/main" id="{BD061422-DB2B-3D40-633B-BE104F589BE1}"/>
                </a:ext>
              </a:extLst>
            </p:cNvPr>
            <p:cNvGrpSpPr/>
            <p:nvPr/>
          </p:nvGrpSpPr>
          <p:grpSpPr>
            <a:xfrm>
              <a:off x="1425290" y="5303057"/>
              <a:ext cx="4125831" cy="1022545"/>
              <a:chOff x="1425290" y="5303057"/>
              <a:chExt cx="4125831" cy="1022545"/>
            </a:xfrm>
          </p:grpSpPr>
          <p:sp>
            <p:nvSpPr>
              <p:cNvPr id="156" name="Arrow: Down 155">
                <a:extLst>
                  <a:ext uri="{FF2B5EF4-FFF2-40B4-BE49-F238E27FC236}">
                    <a16:creationId xmlns:a16="http://schemas.microsoft.com/office/drawing/2014/main" id="{465A3AB6-8C88-35E9-3785-2EFE546BC016}"/>
                  </a:ext>
                </a:extLst>
              </p:cNvPr>
              <p:cNvSpPr/>
              <p:nvPr/>
            </p:nvSpPr>
            <p:spPr>
              <a:xfrm rot="16200000">
                <a:off x="5024623" y="5517163"/>
                <a:ext cx="133898" cy="919099"/>
              </a:xfrm>
              <a:prstGeom prst="downArrow">
                <a:avLst/>
              </a:prstGeom>
              <a:solidFill>
                <a:srgbClr val="4472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7" name="Group 226">
                <a:extLst>
                  <a:ext uri="{FF2B5EF4-FFF2-40B4-BE49-F238E27FC236}">
                    <a16:creationId xmlns:a16="http://schemas.microsoft.com/office/drawing/2014/main" id="{4053E850-DACD-A189-FD68-17F5AF21F735}"/>
                  </a:ext>
                </a:extLst>
              </p:cNvPr>
              <p:cNvGrpSpPr/>
              <p:nvPr/>
            </p:nvGrpSpPr>
            <p:grpSpPr>
              <a:xfrm>
                <a:off x="1425290" y="5303057"/>
                <a:ext cx="3831205" cy="1022545"/>
                <a:chOff x="1425290" y="5303057"/>
                <a:chExt cx="3831205" cy="1022545"/>
              </a:xfrm>
            </p:grpSpPr>
            <p:sp>
              <p:nvSpPr>
                <p:cNvPr id="157" name="Arrow: Down 156">
                  <a:extLst>
                    <a:ext uri="{FF2B5EF4-FFF2-40B4-BE49-F238E27FC236}">
                      <a16:creationId xmlns:a16="http://schemas.microsoft.com/office/drawing/2014/main" id="{D267766F-25F6-DF9F-3DF4-828B4BB108F0}"/>
                    </a:ext>
                  </a:extLst>
                </p:cNvPr>
                <p:cNvSpPr/>
                <p:nvPr/>
              </p:nvSpPr>
              <p:spPr>
                <a:xfrm rot="15121539" flipH="1">
                  <a:off x="4814878" y="4997556"/>
                  <a:ext cx="136116" cy="747118"/>
                </a:xfrm>
                <a:prstGeom prst="downArrow">
                  <a:avLst/>
                </a:prstGeom>
                <a:solidFill>
                  <a:srgbClr val="4472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8E0F70CD-70A6-BDD4-4612-F2E357D0ADED}"/>
                    </a:ext>
                  </a:extLst>
                </p:cNvPr>
                <p:cNvSpPr/>
                <p:nvPr/>
              </p:nvSpPr>
              <p:spPr>
                <a:xfrm>
                  <a:off x="1425290" y="5355421"/>
                  <a:ext cx="3218868" cy="970181"/>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r>
                    <a:rPr lang="en-US" sz="1100" dirty="0"/>
                    <a:t>Price elasticity of the supply/demand of CRMs:</a:t>
                  </a:r>
                </a:p>
                <a:p>
                  <a:pPr marL="171450" indent="-171450">
                    <a:buFont typeface="Arial" panose="020B0604020202020204" pitchFamily="34" charset="0"/>
                    <a:buChar char="•"/>
                  </a:pPr>
                  <a:r>
                    <a:rPr lang="en-US" sz="1100" dirty="0"/>
                    <a:t>How CRMs markets and supply chains behave</a:t>
                  </a:r>
                </a:p>
                <a:p>
                  <a:pPr marL="171450" indent="-171450">
                    <a:buFont typeface="Arial" panose="020B0604020202020204" pitchFamily="34" charset="0"/>
                    <a:buChar char="•"/>
                  </a:pPr>
                  <a:r>
                    <a:rPr lang="en-US" sz="1100" dirty="0"/>
                    <a:t>Key methodologies</a:t>
                  </a:r>
                </a:p>
                <a:p>
                  <a:pPr marL="171450" indent="-171450">
                    <a:buFont typeface="Arial" panose="020B0604020202020204" pitchFamily="34" charset="0"/>
                    <a:buChar char="•"/>
                  </a:pPr>
                  <a:r>
                    <a:rPr lang="en-US" sz="1100" dirty="0"/>
                    <a:t>Supply or demand elasticity?</a:t>
                  </a:r>
                </a:p>
                <a:p>
                  <a:pPr marL="171450" indent="-171450">
                    <a:buFont typeface="Arial" panose="020B0604020202020204" pitchFamily="34" charset="0"/>
                    <a:buChar char="•"/>
                  </a:pPr>
                  <a:r>
                    <a:rPr lang="en-US" sz="1100" dirty="0"/>
                    <a:t>Short-run or long-run elasticity?</a:t>
                  </a:r>
                </a:p>
              </p:txBody>
            </p:sp>
          </p:grpSp>
        </p:grpSp>
        <p:pic>
          <p:nvPicPr>
            <p:cNvPr id="19" name="Picture 18">
              <a:extLst>
                <a:ext uri="{FF2B5EF4-FFF2-40B4-BE49-F238E27FC236}">
                  <a16:creationId xmlns:a16="http://schemas.microsoft.com/office/drawing/2014/main" id="{AD6190FA-A317-7F12-FD6F-19A6964B5693}"/>
                </a:ext>
              </a:extLst>
            </p:cNvPr>
            <p:cNvPicPr>
              <a:picLocks noChangeAspect="1"/>
            </p:cNvPicPr>
            <p:nvPr/>
          </p:nvPicPr>
          <p:blipFill>
            <a:blip r:embed="rId2"/>
            <a:stretch>
              <a:fillRect/>
            </a:stretch>
          </p:blipFill>
          <p:spPr>
            <a:xfrm>
              <a:off x="4180532" y="5904249"/>
              <a:ext cx="290077" cy="280348"/>
            </a:xfrm>
            <a:prstGeom prst="rect">
              <a:avLst/>
            </a:prstGeom>
          </p:spPr>
        </p:pic>
      </p:grpSp>
      <p:grpSp>
        <p:nvGrpSpPr>
          <p:cNvPr id="35" name="Group 34">
            <a:extLst>
              <a:ext uri="{FF2B5EF4-FFF2-40B4-BE49-F238E27FC236}">
                <a16:creationId xmlns:a16="http://schemas.microsoft.com/office/drawing/2014/main" id="{5EE7A26B-3751-7434-9142-E1DF40BB79AC}"/>
              </a:ext>
            </a:extLst>
          </p:cNvPr>
          <p:cNvGrpSpPr/>
          <p:nvPr/>
        </p:nvGrpSpPr>
        <p:grpSpPr>
          <a:xfrm>
            <a:off x="-671688" y="2976503"/>
            <a:ext cx="2155195" cy="1402276"/>
            <a:chOff x="616955" y="3457092"/>
            <a:chExt cx="2391650" cy="1526967"/>
          </a:xfrm>
        </p:grpSpPr>
        <p:sp>
          <p:nvSpPr>
            <p:cNvPr id="34" name="Oval 33">
              <a:extLst>
                <a:ext uri="{FF2B5EF4-FFF2-40B4-BE49-F238E27FC236}">
                  <a16:creationId xmlns:a16="http://schemas.microsoft.com/office/drawing/2014/main" id="{AE52D511-8008-5A44-E35F-3732D8BA893F}"/>
                </a:ext>
              </a:extLst>
            </p:cNvPr>
            <p:cNvSpPr/>
            <p:nvPr/>
          </p:nvSpPr>
          <p:spPr>
            <a:xfrm>
              <a:off x="616955" y="3457092"/>
              <a:ext cx="2391650" cy="1526967"/>
            </a:xfrm>
            <a:prstGeom prst="roundRect">
              <a:avLst/>
            </a:prstGeom>
            <a:solidFill>
              <a:srgbClr val="FBFED2"/>
            </a:solidFill>
            <a:ln w="19050">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13675CE8-4850-DE85-4938-E075EFA22AC0}"/>
                </a:ext>
              </a:extLst>
            </p:cNvPr>
            <p:cNvGrpSpPr/>
            <p:nvPr/>
          </p:nvGrpSpPr>
          <p:grpSpPr>
            <a:xfrm>
              <a:off x="1340011" y="3650648"/>
              <a:ext cx="1288496" cy="1047270"/>
              <a:chOff x="1340011" y="3650648"/>
              <a:chExt cx="1288496" cy="1047270"/>
            </a:xfrm>
          </p:grpSpPr>
          <p:grpSp>
            <p:nvGrpSpPr>
              <p:cNvPr id="9" name="Group 8">
                <a:extLst>
                  <a:ext uri="{FF2B5EF4-FFF2-40B4-BE49-F238E27FC236}">
                    <a16:creationId xmlns:a16="http://schemas.microsoft.com/office/drawing/2014/main" id="{E33CDE6F-D360-1DA3-2F5B-9339D38F245F}"/>
                  </a:ext>
                </a:extLst>
              </p:cNvPr>
              <p:cNvGrpSpPr/>
              <p:nvPr/>
            </p:nvGrpSpPr>
            <p:grpSpPr>
              <a:xfrm>
                <a:off x="1340011" y="3650648"/>
                <a:ext cx="1288496" cy="745630"/>
                <a:chOff x="1441611" y="3502867"/>
                <a:chExt cx="1288496" cy="745630"/>
              </a:xfrm>
            </p:grpSpPr>
            <p:sp>
              <p:nvSpPr>
                <p:cNvPr id="7" name="TextBox 6">
                  <a:extLst>
                    <a:ext uri="{FF2B5EF4-FFF2-40B4-BE49-F238E27FC236}">
                      <a16:creationId xmlns:a16="http://schemas.microsoft.com/office/drawing/2014/main" id="{8CF6A107-F8C1-BB29-C186-5AB138C18757}"/>
                    </a:ext>
                  </a:extLst>
                </p:cNvPr>
                <p:cNvSpPr txBox="1"/>
                <p:nvPr/>
              </p:nvSpPr>
              <p:spPr>
                <a:xfrm>
                  <a:off x="1441611" y="3502867"/>
                  <a:ext cx="1288496" cy="556196"/>
                </a:xfrm>
                <a:prstGeom prst="roundRect">
                  <a:avLst/>
                </a:prstGeom>
                <a:noFill/>
              </p:spPr>
              <p:txBody>
                <a:bodyPr wrap="square" rtlCol="0">
                  <a:spAutoFit/>
                </a:bodyPr>
                <a:lstStyle/>
                <a:p>
                  <a:pPr algn="ctr"/>
                  <a:r>
                    <a:rPr lang="en-US" sz="1200" dirty="0"/>
                    <a:t>CRMs global real prices</a:t>
                  </a:r>
                </a:p>
              </p:txBody>
            </p:sp>
            <p:sp>
              <p:nvSpPr>
                <p:cNvPr id="8" name="TextBox 7">
                  <a:extLst>
                    <a:ext uri="{FF2B5EF4-FFF2-40B4-BE49-F238E27FC236}">
                      <a16:creationId xmlns:a16="http://schemas.microsoft.com/office/drawing/2014/main" id="{382D45CE-5762-3065-C1E3-E1DB47DA44D9}"/>
                    </a:ext>
                  </a:extLst>
                </p:cNvPr>
                <p:cNvSpPr txBox="1"/>
                <p:nvPr/>
              </p:nvSpPr>
              <p:spPr>
                <a:xfrm>
                  <a:off x="1583086" y="3970399"/>
                  <a:ext cx="1036672" cy="278098"/>
                </a:xfrm>
                <a:prstGeom prst="roundRect">
                  <a:avLst/>
                </a:prstGeom>
                <a:noFill/>
              </p:spPr>
              <p:txBody>
                <a:bodyPr wrap="square" rtlCol="0">
                  <a:spAutoFit/>
                </a:bodyPr>
                <a:lstStyle/>
                <a:p>
                  <a:r>
                    <a:rPr lang="en-US" sz="900" dirty="0">
                      <a:solidFill>
                        <a:schemeClr val="accent1"/>
                      </a:solidFill>
                    </a:rPr>
                    <a:t>Source: USGS</a:t>
                  </a:r>
                </a:p>
              </p:txBody>
            </p:sp>
          </p:grpSp>
          <p:grpSp>
            <p:nvGrpSpPr>
              <p:cNvPr id="32" name="Group 31">
                <a:extLst>
                  <a:ext uri="{FF2B5EF4-FFF2-40B4-BE49-F238E27FC236}">
                    <a16:creationId xmlns:a16="http://schemas.microsoft.com/office/drawing/2014/main" id="{5A36BCDC-2BBF-FEF9-9190-FDD5B9F38BA2}"/>
                  </a:ext>
                </a:extLst>
              </p:cNvPr>
              <p:cNvGrpSpPr/>
              <p:nvPr/>
            </p:nvGrpSpPr>
            <p:grpSpPr>
              <a:xfrm>
                <a:off x="1600116" y="4383580"/>
                <a:ext cx="806595" cy="314338"/>
                <a:chOff x="1656688" y="4437086"/>
                <a:chExt cx="806595" cy="314338"/>
              </a:xfrm>
            </p:grpSpPr>
            <p:pic>
              <p:nvPicPr>
                <p:cNvPr id="29" name="Picture 28">
                  <a:extLst>
                    <a:ext uri="{FF2B5EF4-FFF2-40B4-BE49-F238E27FC236}">
                      <a16:creationId xmlns:a16="http://schemas.microsoft.com/office/drawing/2014/main" id="{82812EFB-C3BF-EC75-E807-437E60871FA8}"/>
                    </a:ext>
                  </a:extLst>
                </p:cNvPr>
                <p:cNvPicPr>
                  <a:picLocks noChangeAspect="1"/>
                </p:cNvPicPr>
                <p:nvPr/>
              </p:nvPicPr>
              <p:blipFill>
                <a:blip r:embed="rId3"/>
                <a:stretch>
                  <a:fillRect/>
                </a:stretch>
              </p:blipFill>
              <p:spPr>
                <a:xfrm>
                  <a:off x="1656688" y="4445513"/>
                  <a:ext cx="305908" cy="305908"/>
                </a:xfrm>
                <a:prstGeom prst="roundRect">
                  <a:avLst/>
                </a:prstGeom>
              </p:spPr>
            </p:pic>
            <p:pic>
              <p:nvPicPr>
                <p:cNvPr id="31" name="Picture 30">
                  <a:extLst>
                    <a:ext uri="{FF2B5EF4-FFF2-40B4-BE49-F238E27FC236}">
                      <a16:creationId xmlns:a16="http://schemas.microsoft.com/office/drawing/2014/main" id="{40280DC4-797C-33DB-39A4-6C0D1D67EE6D}"/>
                    </a:ext>
                  </a:extLst>
                </p:cNvPr>
                <p:cNvPicPr>
                  <a:picLocks noChangeAspect="1"/>
                </p:cNvPicPr>
                <p:nvPr/>
              </p:nvPicPr>
              <p:blipFill>
                <a:blip r:embed="rId4"/>
                <a:stretch>
                  <a:fillRect/>
                </a:stretch>
              </p:blipFill>
              <p:spPr>
                <a:xfrm>
                  <a:off x="2148945" y="4437086"/>
                  <a:ext cx="314338" cy="314338"/>
                </a:xfrm>
                <a:prstGeom prst="roundRect">
                  <a:avLst/>
                </a:prstGeom>
              </p:spPr>
            </p:pic>
          </p:grpSp>
        </p:grpSp>
      </p:grpSp>
      <p:cxnSp>
        <p:nvCxnSpPr>
          <p:cNvPr id="55" name="Connector: Elbow 54">
            <a:extLst>
              <a:ext uri="{FF2B5EF4-FFF2-40B4-BE49-F238E27FC236}">
                <a16:creationId xmlns:a16="http://schemas.microsoft.com/office/drawing/2014/main" id="{D2FC7AA9-B284-E12A-279D-DBB8BCA44395}"/>
              </a:ext>
            </a:extLst>
          </p:cNvPr>
          <p:cNvCxnSpPr>
            <a:cxnSpLocks/>
            <a:stCxn id="34" idx="0"/>
            <a:endCxn id="27" idx="1"/>
          </p:cNvCxnSpPr>
          <p:nvPr/>
        </p:nvCxnSpPr>
        <p:spPr>
          <a:xfrm rot="5400000" flipH="1" flipV="1">
            <a:off x="2299217" y="-407751"/>
            <a:ext cx="1490946" cy="5277562"/>
          </a:xfrm>
          <a:prstGeom prst="bentConnector2">
            <a:avLst/>
          </a:prstGeom>
          <a:ln w="57150">
            <a:tailEnd type="triangle"/>
          </a:ln>
        </p:spPr>
        <p:style>
          <a:lnRef idx="1">
            <a:schemeClr val="dk1"/>
          </a:lnRef>
          <a:fillRef idx="0">
            <a:schemeClr val="dk1"/>
          </a:fillRef>
          <a:effectRef idx="0">
            <a:schemeClr val="dk1"/>
          </a:effectRef>
          <a:fontRef idx="minor">
            <a:schemeClr val="tx1"/>
          </a:fontRef>
        </p:style>
      </p:cxnSp>
      <p:cxnSp>
        <p:nvCxnSpPr>
          <p:cNvPr id="57" name="Connector: Elbow 56">
            <a:extLst>
              <a:ext uri="{FF2B5EF4-FFF2-40B4-BE49-F238E27FC236}">
                <a16:creationId xmlns:a16="http://schemas.microsoft.com/office/drawing/2014/main" id="{5129394B-0ABE-6FEE-F4BA-1CFA95C7F1D2}"/>
              </a:ext>
            </a:extLst>
          </p:cNvPr>
          <p:cNvCxnSpPr>
            <a:cxnSpLocks/>
            <a:stCxn id="34" idx="2"/>
          </p:cNvCxnSpPr>
          <p:nvPr/>
        </p:nvCxnSpPr>
        <p:spPr>
          <a:xfrm rot="16200000" flipH="1">
            <a:off x="2152338" y="2632350"/>
            <a:ext cx="1719855" cy="5212712"/>
          </a:xfrm>
          <a:prstGeom prst="bentConnector2">
            <a:avLst/>
          </a:prstGeom>
          <a:ln w="57150">
            <a:tailEnd type="triangle"/>
          </a:ln>
        </p:spPr>
        <p:style>
          <a:lnRef idx="1">
            <a:schemeClr val="dk1"/>
          </a:lnRef>
          <a:fillRef idx="0">
            <a:schemeClr val="dk1"/>
          </a:fillRef>
          <a:effectRef idx="0">
            <a:schemeClr val="dk1"/>
          </a:effectRef>
          <a:fontRef idx="minor">
            <a:schemeClr val="tx1"/>
          </a:fontRef>
        </p:style>
      </p:cxnSp>
      <p:grpSp>
        <p:nvGrpSpPr>
          <p:cNvPr id="67" name="Group 66">
            <a:extLst>
              <a:ext uri="{FF2B5EF4-FFF2-40B4-BE49-F238E27FC236}">
                <a16:creationId xmlns:a16="http://schemas.microsoft.com/office/drawing/2014/main" id="{0419AFD0-F277-F791-4FE8-E0CE594CE11B}"/>
              </a:ext>
            </a:extLst>
          </p:cNvPr>
          <p:cNvGrpSpPr/>
          <p:nvPr/>
        </p:nvGrpSpPr>
        <p:grpSpPr>
          <a:xfrm>
            <a:off x="560435" y="1504227"/>
            <a:ext cx="2404279" cy="915178"/>
            <a:chOff x="560435" y="1347212"/>
            <a:chExt cx="2404279" cy="915178"/>
          </a:xfrm>
        </p:grpSpPr>
        <p:sp>
          <p:nvSpPr>
            <p:cNvPr id="63" name="Arrow: Down 62">
              <a:extLst>
                <a:ext uri="{FF2B5EF4-FFF2-40B4-BE49-F238E27FC236}">
                  <a16:creationId xmlns:a16="http://schemas.microsoft.com/office/drawing/2014/main" id="{3F340B8F-5449-BDE0-71F0-C94609997DB7}"/>
                </a:ext>
              </a:extLst>
            </p:cNvPr>
            <p:cNvSpPr/>
            <p:nvPr/>
          </p:nvSpPr>
          <p:spPr>
            <a:xfrm rot="10800000">
              <a:off x="1610982" y="1347212"/>
              <a:ext cx="144440" cy="400299"/>
            </a:xfrm>
            <a:prstGeom prst="downArrow">
              <a:avLst/>
            </a:prstGeom>
            <a:solidFill>
              <a:srgbClr val="4472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44026E95-6AEE-E32D-965C-F7F1C9C8FCF2}"/>
                </a:ext>
              </a:extLst>
            </p:cNvPr>
            <p:cNvGrpSpPr/>
            <p:nvPr/>
          </p:nvGrpSpPr>
          <p:grpSpPr>
            <a:xfrm>
              <a:off x="560435" y="1549365"/>
              <a:ext cx="2404279" cy="713025"/>
              <a:chOff x="810857" y="989668"/>
              <a:chExt cx="2404279" cy="798230"/>
            </a:xfrm>
          </p:grpSpPr>
          <p:grpSp>
            <p:nvGrpSpPr>
              <p:cNvPr id="66" name="Group 65">
                <a:extLst>
                  <a:ext uri="{FF2B5EF4-FFF2-40B4-BE49-F238E27FC236}">
                    <a16:creationId xmlns:a16="http://schemas.microsoft.com/office/drawing/2014/main" id="{810C05B0-53A8-B91E-A728-EFBB173CC931}"/>
                  </a:ext>
                </a:extLst>
              </p:cNvPr>
              <p:cNvGrpSpPr/>
              <p:nvPr/>
            </p:nvGrpSpPr>
            <p:grpSpPr>
              <a:xfrm>
                <a:off x="810857" y="989668"/>
                <a:ext cx="2404279" cy="798230"/>
                <a:chOff x="778097" y="952930"/>
                <a:chExt cx="1939800" cy="525536"/>
              </a:xfrm>
            </p:grpSpPr>
            <p:sp>
              <p:nvSpPr>
                <p:cNvPr id="40" name="Rectangle 39">
                  <a:extLst>
                    <a:ext uri="{FF2B5EF4-FFF2-40B4-BE49-F238E27FC236}">
                      <a16:creationId xmlns:a16="http://schemas.microsoft.com/office/drawing/2014/main" id="{1F7857CA-7A9A-D391-307C-36858CB5640D}"/>
                    </a:ext>
                  </a:extLst>
                </p:cNvPr>
                <p:cNvSpPr/>
                <p:nvPr/>
              </p:nvSpPr>
              <p:spPr>
                <a:xfrm>
                  <a:off x="778097" y="952930"/>
                  <a:ext cx="1939800" cy="525536"/>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r>
                    <a:rPr lang="en-US" sz="1100" dirty="0"/>
                    <a:t>Market volatility in long/short term:</a:t>
                  </a:r>
                </a:p>
                <a:p>
                  <a:pPr marL="171450" indent="-171450">
                    <a:buFont typeface="Arial" panose="020B0604020202020204" pitchFamily="34" charset="0"/>
                    <a:buChar char="•"/>
                  </a:pPr>
                  <a:r>
                    <a:rPr lang="en-US" sz="1100" dirty="0"/>
                    <a:t>Log returns (DERA)</a:t>
                  </a:r>
                </a:p>
                <a:p>
                  <a:pPr marL="171450" indent="-171450">
                    <a:buFont typeface="Arial" panose="020B0604020202020204" pitchFamily="34" charset="0"/>
                    <a:buChar char="•"/>
                  </a:pPr>
                  <a:r>
                    <a:rPr lang="en-US" sz="1100" dirty="0"/>
                    <a:t>Rolling </a:t>
                  </a:r>
                  <a:r>
                    <a:rPr lang="el-GR" sz="1100" dirty="0"/>
                    <a:t>Δ</a:t>
                  </a:r>
                  <a:r>
                    <a:rPr lang="it-IT" sz="1100" dirty="0"/>
                    <a:t>-windows</a:t>
                  </a:r>
                  <a:endParaRPr lang="en-US" sz="1100" dirty="0"/>
                </a:p>
                <a:p>
                  <a:pPr marL="171450" indent="-171450">
                    <a:buFont typeface="Arial" panose="020B0604020202020204" pitchFamily="34" charset="0"/>
                    <a:buChar char="•"/>
                  </a:pPr>
                  <a:r>
                    <a:rPr lang="en-US" sz="1100" dirty="0"/>
                    <a:t>EVT-GARCH</a:t>
                  </a:r>
                </a:p>
              </p:txBody>
            </p:sp>
            <p:pic>
              <p:nvPicPr>
                <p:cNvPr id="65" name="Picture 64">
                  <a:extLst>
                    <a:ext uri="{FF2B5EF4-FFF2-40B4-BE49-F238E27FC236}">
                      <a16:creationId xmlns:a16="http://schemas.microsoft.com/office/drawing/2014/main" id="{FF0250BC-7235-31CC-C53D-3793ADB85188}"/>
                    </a:ext>
                  </a:extLst>
                </p:cNvPr>
                <p:cNvPicPr>
                  <a:picLocks noChangeAspect="1"/>
                </p:cNvPicPr>
                <p:nvPr/>
              </p:nvPicPr>
              <p:blipFill>
                <a:blip r:embed="rId5"/>
                <a:stretch>
                  <a:fillRect/>
                </a:stretch>
              </p:blipFill>
              <p:spPr>
                <a:xfrm>
                  <a:off x="1917591" y="1247958"/>
                  <a:ext cx="190974" cy="159489"/>
                </a:xfrm>
                <a:prstGeom prst="rect">
                  <a:avLst/>
                </a:prstGeom>
              </p:spPr>
            </p:pic>
          </p:grpSp>
          <p:grpSp>
            <p:nvGrpSpPr>
              <p:cNvPr id="64" name="Group 63">
                <a:extLst>
                  <a:ext uri="{FF2B5EF4-FFF2-40B4-BE49-F238E27FC236}">
                    <a16:creationId xmlns:a16="http://schemas.microsoft.com/office/drawing/2014/main" id="{3FA3F650-606C-8233-82F3-B6C4B04DCFDA}"/>
                  </a:ext>
                </a:extLst>
              </p:cNvPr>
              <p:cNvGrpSpPr/>
              <p:nvPr/>
            </p:nvGrpSpPr>
            <p:grpSpPr>
              <a:xfrm>
                <a:off x="2545164" y="1246560"/>
                <a:ext cx="625932" cy="530998"/>
                <a:chOff x="2206610" y="999208"/>
                <a:chExt cx="531460" cy="453318"/>
              </a:xfrm>
            </p:grpSpPr>
            <p:pic>
              <p:nvPicPr>
                <p:cNvPr id="53" name="Picture 52">
                  <a:extLst>
                    <a:ext uri="{FF2B5EF4-FFF2-40B4-BE49-F238E27FC236}">
                      <a16:creationId xmlns:a16="http://schemas.microsoft.com/office/drawing/2014/main" id="{BAD173B0-17A0-B92C-E67E-B7355312C215}"/>
                    </a:ext>
                  </a:extLst>
                </p:cNvPr>
                <p:cNvPicPr>
                  <a:picLocks noChangeAspect="1"/>
                </p:cNvPicPr>
                <p:nvPr/>
              </p:nvPicPr>
              <p:blipFill>
                <a:blip r:embed="rId6"/>
                <a:stretch>
                  <a:fillRect/>
                </a:stretch>
              </p:blipFill>
              <p:spPr>
                <a:xfrm>
                  <a:off x="2206610" y="999208"/>
                  <a:ext cx="192825" cy="199774"/>
                </a:xfrm>
                <a:prstGeom prst="rect">
                  <a:avLst/>
                </a:prstGeom>
              </p:spPr>
            </p:pic>
            <p:pic>
              <p:nvPicPr>
                <p:cNvPr id="39" name="Picture 38">
                  <a:extLst>
                    <a:ext uri="{FF2B5EF4-FFF2-40B4-BE49-F238E27FC236}">
                      <a16:creationId xmlns:a16="http://schemas.microsoft.com/office/drawing/2014/main" id="{588578D3-A298-AF82-5AFB-479677A4DF19}"/>
                    </a:ext>
                  </a:extLst>
                </p:cNvPr>
                <p:cNvPicPr>
                  <a:picLocks noChangeAspect="1"/>
                </p:cNvPicPr>
                <p:nvPr/>
              </p:nvPicPr>
              <p:blipFill>
                <a:blip r:embed="rId2"/>
                <a:stretch>
                  <a:fillRect/>
                </a:stretch>
              </p:blipFill>
              <p:spPr>
                <a:xfrm>
                  <a:off x="2477369" y="1163626"/>
                  <a:ext cx="260701" cy="288900"/>
                </a:xfrm>
                <a:prstGeom prst="rect">
                  <a:avLst/>
                </a:prstGeom>
              </p:spPr>
            </p:pic>
          </p:grpSp>
        </p:grpSp>
      </p:grpSp>
      <p:grpSp>
        <p:nvGrpSpPr>
          <p:cNvPr id="170" name="Group 169">
            <a:extLst>
              <a:ext uri="{FF2B5EF4-FFF2-40B4-BE49-F238E27FC236}">
                <a16:creationId xmlns:a16="http://schemas.microsoft.com/office/drawing/2014/main" id="{E1BE69C5-715D-B0F1-C798-250E596503E5}"/>
              </a:ext>
            </a:extLst>
          </p:cNvPr>
          <p:cNvGrpSpPr/>
          <p:nvPr/>
        </p:nvGrpSpPr>
        <p:grpSpPr>
          <a:xfrm>
            <a:off x="5648976" y="1218611"/>
            <a:ext cx="3578142" cy="1057802"/>
            <a:chOff x="5954970" y="1939866"/>
            <a:chExt cx="3578142" cy="1057802"/>
          </a:xfrm>
        </p:grpSpPr>
        <p:sp>
          <p:nvSpPr>
            <p:cNvPr id="169" name="Arrow: Right 168">
              <a:extLst>
                <a:ext uri="{FF2B5EF4-FFF2-40B4-BE49-F238E27FC236}">
                  <a16:creationId xmlns:a16="http://schemas.microsoft.com/office/drawing/2014/main" id="{9955E2A3-D5FF-ABCA-E0A9-876FE37E5052}"/>
                </a:ext>
              </a:extLst>
            </p:cNvPr>
            <p:cNvSpPr/>
            <p:nvPr/>
          </p:nvSpPr>
          <p:spPr>
            <a:xfrm>
              <a:off x="8048384" y="2385731"/>
              <a:ext cx="1484728" cy="164061"/>
            </a:xfrm>
            <a:prstGeom prst="rightArrow">
              <a:avLst/>
            </a:prstGeom>
            <a:solidFill>
              <a:srgbClr val="C00000"/>
            </a:solid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5" name="Group 124">
              <a:extLst>
                <a:ext uri="{FF2B5EF4-FFF2-40B4-BE49-F238E27FC236}">
                  <a16:creationId xmlns:a16="http://schemas.microsoft.com/office/drawing/2014/main" id="{D924FF0C-8F85-73C4-3855-05C1676D1726}"/>
                </a:ext>
              </a:extLst>
            </p:cNvPr>
            <p:cNvGrpSpPr/>
            <p:nvPr/>
          </p:nvGrpSpPr>
          <p:grpSpPr>
            <a:xfrm>
              <a:off x="5954970" y="1939866"/>
              <a:ext cx="2295585" cy="1057802"/>
              <a:chOff x="5943251" y="2119247"/>
              <a:chExt cx="2295585" cy="1057802"/>
            </a:xfrm>
          </p:grpSpPr>
          <p:grpSp>
            <p:nvGrpSpPr>
              <p:cNvPr id="116" name="Group 115">
                <a:extLst>
                  <a:ext uri="{FF2B5EF4-FFF2-40B4-BE49-F238E27FC236}">
                    <a16:creationId xmlns:a16="http://schemas.microsoft.com/office/drawing/2014/main" id="{E0D3B966-D52B-BDE7-7C70-61263C2A3A8E}"/>
                  </a:ext>
                </a:extLst>
              </p:cNvPr>
              <p:cNvGrpSpPr/>
              <p:nvPr/>
            </p:nvGrpSpPr>
            <p:grpSpPr>
              <a:xfrm>
                <a:off x="5943251" y="2119247"/>
                <a:ext cx="2295585" cy="1057802"/>
                <a:chOff x="5943251" y="2119247"/>
                <a:chExt cx="2295585" cy="1057802"/>
              </a:xfrm>
            </p:grpSpPr>
            <p:sp>
              <p:nvSpPr>
                <p:cNvPr id="86" name="Rectangle: Rounded Corners 85">
                  <a:extLst>
                    <a:ext uri="{FF2B5EF4-FFF2-40B4-BE49-F238E27FC236}">
                      <a16:creationId xmlns:a16="http://schemas.microsoft.com/office/drawing/2014/main" id="{894F8034-134C-674B-F55C-9BAC8CEBF6E9}"/>
                    </a:ext>
                  </a:extLst>
                </p:cNvPr>
                <p:cNvSpPr/>
                <p:nvPr/>
              </p:nvSpPr>
              <p:spPr>
                <a:xfrm>
                  <a:off x="5943251" y="2119247"/>
                  <a:ext cx="2277113" cy="1057802"/>
                </a:xfrm>
                <a:prstGeom prst="roundRect">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ECD5B82-A261-9810-A0C6-57BFFC3259F8}"/>
                    </a:ext>
                  </a:extLst>
                </p:cNvPr>
                <p:cNvSpPr txBox="1"/>
                <p:nvPr/>
              </p:nvSpPr>
              <p:spPr>
                <a:xfrm>
                  <a:off x="6254046" y="2164754"/>
                  <a:ext cx="1782619" cy="369332"/>
                </a:xfrm>
                <a:prstGeom prst="rect">
                  <a:avLst/>
                </a:prstGeom>
                <a:noFill/>
              </p:spPr>
              <p:txBody>
                <a:bodyPr wrap="square" rtlCol="0">
                  <a:spAutoFit/>
                </a:bodyPr>
                <a:lstStyle/>
                <a:p>
                  <a:pPr algn="ctr"/>
                  <a:r>
                    <a:rPr lang="en-US" b="1" dirty="0">
                      <a:solidFill>
                        <a:srgbClr val="C00000"/>
                      </a:solidFill>
                    </a:rPr>
                    <a:t>CLUSTERING</a:t>
                  </a:r>
                </a:p>
              </p:txBody>
            </p:sp>
            <p:pic>
              <p:nvPicPr>
                <p:cNvPr id="27" name="Picture 26">
                  <a:extLst>
                    <a:ext uri="{FF2B5EF4-FFF2-40B4-BE49-F238E27FC236}">
                      <a16:creationId xmlns:a16="http://schemas.microsoft.com/office/drawing/2014/main" id="{1944136A-545C-5334-19CB-B8326A28AC06}"/>
                    </a:ext>
                  </a:extLst>
                </p:cNvPr>
                <p:cNvPicPr>
                  <a:picLocks noChangeAspect="1"/>
                </p:cNvPicPr>
                <p:nvPr/>
              </p:nvPicPr>
              <p:blipFill>
                <a:blip r:embed="rId7"/>
                <a:stretch>
                  <a:fillRect/>
                </a:stretch>
              </p:blipFill>
              <p:spPr>
                <a:xfrm>
                  <a:off x="5977746" y="2188553"/>
                  <a:ext cx="395279" cy="395279"/>
                </a:xfrm>
                <a:prstGeom prst="rect">
                  <a:avLst/>
                </a:prstGeom>
              </p:spPr>
            </p:pic>
            <p:pic>
              <p:nvPicPr>
                <p:cNvPr id="70" name="Picture 69">
                  <a:extLst>
                    <a:ext uri="{FF2B5EF4-FFF2-40B4-BE49-F238E27FC236}">
                      <a16:creationId xmlns:a16="http://schemas.microsoft.com/office/drawing/2014/main" id="{F49DE5BF-ADA2-9A8D-0C8C-79157D77CDD2}"/>
                    </a:ext>
                  </a:extLst>
                </p:cNvPr>
                <p:cNvPicPr>
                  <a:picLocks noChangeAspect="1"/>
                </p:cNvPicPr>
                <p:nvPr/>
              </p:nvPicPr>
              <p:blipFill>
                <a:blip r:embed="rId5"/>
                <a:stretch>
                  <a:fillRect/>
                </a:stretch>
              </p:blipFill>
              <p:spPr>
                <a:xfrm>
                  <a:off x="7869259" y="2208895"/>
                  <a:ext cx="369577" cy="373844"/>
                </a:xfrm>
                <a:prstGeom prst="rect">
                  <a:avLst/>
                </a:prstGeom>
              </p:spPr>
            </p:pic>
          </p:grpSp>
          <p:sp>
            <p:nvSpPr>
              <p:cNvPr id="122" name="TextBox 121">
                <a:extLst>
                  <a:ext uri="{FF2B5EF4-FFF2-40B4-BE49-F238E27FC236}">
                    <a16:creationId xmlns:a16="http://schemas.microsoft.com/office/drawing/2014/main" id="{2735D2C7-7EEE-32CF-6F2D-2A731AE9F797}"/>
                  </a:ext>
                </a:extLst>
              </p:cNvPr>
              <p:cNvSpPr txBox="1"/>
              <p:nvPr/>
            </p:nvSpPr>
            <p:spPr>
              <a:xfrm>
                <a:off x="6373025" y="2501468"/>
                <a:ext cx="1632121" cy="646331"/>
              </a:xfrm>
              <a:prstGeom prst="rect">
                <a:avLst/>
              </a:prstGeom>
              <a:noFill/>
            </p:spPr>
            <p:txBody>
              <a:bodyPr wrap="square" rtlCol="0">
                <a:spAutoFit/>
              </a:bodyPr>
              <a:lstStyle/>
              <a:p>
                <a:r>
                  <a:rPr lang="en-US" sz="1200" dirty="0"/>
                  <a:t>On annual real prices</a:t>
                </a:r>
              </a:p>
              <a:p>
                <a:r>
                  <a:rPr lang="en-US" sz="1200" dirty="0"/>
                  <a:t>On rolling </a:t>
                </a:r>
                <a:r>
                  <a:rPr lang="el-GR" sz="1200" dirty="0"/>
                  <a:t>Δ</a:t>
                </a:r>
                <a:r>
                  <a:rPr lang="it-IT" sz="1200" dirty="0"/>
                  <a:t>-windows</a:t>
                </a:r>
              </a:p>
              <a:p>
                <a:r>
                  <a:rPr lang="it-IT" sz="1200" dirty="0"/>
                  <a:t>Impact Scores</a:t>
                </a:r>
                <a:endParaRPr lang="en-US" sz="1200" dirty="0"/>
              </a:p>
            </p:txBody>
          </p:sp>
        </p:grpSp>
      </p:grpSp>
      <p:grpSp>
        <p:nvGrpSpPr>
          <p:cNvPr id="121" name="Group 120">
            <a:extLst>
              <a:ext uri="{FF2B5EF4-FFF2-40B4-BE49-F238E27FC236}">
                <a16:creationId xmlns:a16="http://schemas.microsoft.com/office/drawing/2014/main" id="{9F4B67C8-C4D8-2F2D-2681-51870F4B171E}"/>
              </a:ext>
            </a:extLst>
          </p:cNvPr>
          <p:cNvGrpSpPr/>
          <p:nvPr/>
        </p:nvGrpSpPr>
        <p:grpSpPr>
          <a:xfrm>
            <a:off x="10728079" y="4951661"/>
            <a:ext cx="1554758" cy="1459073"/>
            <a:chOff x="10416063" y="3996297"/>
            <a:chExt cx="1776108" cy="1602551"/>
          </a:xfrm>
        </p:grpSpPr>
        <p:grpSp>
          <p:nvGrpSpPr>
            <p:cNvPr id="105" name="Group 104">
              <a:extLst>
                <a:ext uri="{FF2B5EF4-FFF2-40B4-BE49-F238E27FC236}">
                  <a16:creationId xmlns:a16="http://schemas.microsoft.com/office/drawing/2014/main" id="{70CE9D05-1809-DF16-7246-C2DCD5E3997D}"/>
                </a:ext>
              </a:extLst>
            </p:cNvPr>
            <p:cNvGrpSpPr/>
            <p:nvPr/>
          </p:nvGrpSpPr>
          <p:grpSpPr>
            <a:xfrm>
              <a:off x="10416063" y="3996297"/>
              <a:ext cx="1776108" cy="1602551"/>
              <a:chOff x="10471484" y="5015819"/>
              <a:chExt cx="1776108" cy="1602551"/>
            </a:xfrm>
          </p:grpSpPr>
          <p:sp>
            <p:nvSpPr>
              <p:cNvPr id="50" name="Rectangle: Folded Corner 49">
                <a:extLst>
                  <a:ext uri="{FF2B5EF4-FFF2-40B4-BE49-F238E27FC236}">
                    <a16:creationId xmlns:a16="http://schemas.microsoft.com/office/drawing/2014/main" id="{193CACCE-DA8A-AD94-8155-5CA54FF07AC8}"/>
                  </a:ext>
                </a:extLst>
              </p:cNvPr>
              <p:cNvSpPr/>
              <p:nvPr/>
            </p:nvSpPr>
            <p:spPr>
              <a:xfrm>
                <a:off x="10471484" y="5015819"/>
                <a:ext cx="1622695" cy="1602551"/>
              </a:xfrm>
              <a:prstGeom prst="foldedCorner">
                <a:avLst>
                  <a:gd name="adj" fmla="val 12546"/>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4" name="Group 103">
                <a:extLst>
                  <a:ext uri="{FF2B5EF4-FFF2-40B4-BE49-F238E27FC236}">
                    <a16:creationId xmlns:a16="http://schemas.microsoft.com/office/drawing/2014/main" id="{9BAB92B0-4FD5-633A-914B-5AD7C53C6A60}"/>
                  </a:ext>
                </a:extLst>
              </p:cNvPr>
              <p:cNvGrpSpPr/>
              <p:nvPr/>
            </p:nvGrpSpPr>
            <p:grpSpPr>
              <a:xfrm>
                <a:off x="10513790" y="5062681"/>
                <a:ext cx="1733802" cy="1024054"/>
                <a:chOff x="10467610" y="4831773"/>
                <a:chExt cx="1733802" cy="1024054"/>
              </a:xfrm>
            </p:grpSpPr>
            <p:grpSp>
              <p:nvGrpSpPr>
                <p:cNvPr id="45" name="Group 44">
                  <a:extLst>
                    <a:ext uri="{FF2B5EF4-FFF2-40B4-BE49-F238E27FC236}">
                      <a16:creationId xmlns:a16="http://schemas.microsoft.com/office/drawing/2014/main" id="{4AE8C514-9511-E205-CEC2-C8B9B9DF8657}"/>
                    </a:ext>
                  </a:extLst>
                </p:cNvPr>
                <p:cNvGrpSpPr/>
                <p:nvPr/>
              </p:nvGrpSpPr>
              <p:grpSpPr>
                <a:xfrm>
                  <a:off x="10467610" y="4831773"/>
                  <a:ext cx="1726733" cy="652498"/>
                  <a:chOff x="10285642" y="5336230"/>
                  <a:chExt cx="2471900" cy="923419"/>
                </a:xfrm>
              </p:grpSpPr>
              <p:grpSp>
                <p:nvGrpSpPr>
                  <p:cNvPr id="13" name="Group 12">
                    <a:extLst>
                      <a:ext uri="{FF2B5EF4-FFF2-40B4-BE49-F238E27FC236}">
                        <a16:creationId xmlns:a16="http://schemas.microsoft.com/office/drawing/2014/main" id="{5C12168B-EEC5-F640-14A8-26CE20A5D7E3}"/>
                      </a:ext>
                    </a:extLst>
                  </p:cNvPr>
                  <p:cNvGrpSpPr/>
                  <p:nvPr/>
                </p:nvGrpSpPr>
                <p:grpSpPr>
                  <a:xfrm>
                    <a:off x="10322402" y="5336230"/>
                    <a:ext cx="2435140" cy="399542"/>
                    <a:chOff x="9888823" y="5661586"/>
                    <a:chExt cx="2678650" cy="454747"/>
                  </a:xfrm>
                </p:grpSpPr>
                <p:pic>
                  <p:nvPicPr>
                    <p:cNvPr id="11" name="Picture 10">
                      <a:extLst>
                        <a:ext uri="{FF2B5EF4-FFF2-40B4-BE49-F238E27FC236}">
                          <a16:creationId xmlns:a16="http://schemas.microsoft.com/office/drawing/2014/main" id="{E5949794-EE96-9284-298E-F933BCFB738B}"/>
                        </a:ext>
                      </a:extLst>
                    </p:cNvPr>
                    <p:cNvPicPr>
                      <a:picLocks noChangeAspect="1"/>
                    </p:cNvPicPr>
                    <p:nvPr/>
                  </p:nvPicPr>
                  <p:blipFill>
                    <a:blip r:embed="rId2"/>
                    <a:stretch>
                      <a:fillRect/>
                    </a:stretch>
                  </p:blipFill>
                  <p:spPr>
                    <a:xfrm>
                      <a:off x="9888823" y="5661586"/>
                      <a:ext cx="454750" cy="454747"/>
                    </a:xfrm>
                    <a:prstGeom prst="rect">
                      <a:avLst/>
                    </a:prstGeom>
                  </p:spPr>
                </p:pic>
                <p:sp>
                  <p:nvSpPr>
                    <p:cNvPr id="12" name="TextBox 11">
                      <a:extLst>
                        <a:ext uri="{FF2B5EF4-FFF2-40B4-BE49-F238E27FC236}">
                          <a16:creationId xmlns:a16="http://schemas.microsoft.com/office/drawing/2014/main" id="{EC763902-2AFB-F218-D93C-A4C5B751B6A6}"/>
                        </a:ext>
                      </a:extLst>
                    </p:cNvPr>
                    <p:cNvSpPr txBox="1"/>
                    <p:nvPr/>
                  </p:nvSpPr>
                  <p:spPr>
                    <a:xfrm>
                      <a:off x="10348441" y="5673305"/>
                      <a:ext cx="2219032" cy="408373"/>
                    </a:xfrm>
                    <a:prstGeom prst="rect">
                      <a:avLst/>
                    </a:prstGeom>
                    <a:noFill/>
                  </p:spPr>
                  <p:txBody>
                    <a:bodyPr wrap="square" rtlCol="0">
                      <a:spAutoFit/>
                    </a:bodyPr>
                    <a:lstStyle/>
                    <a:p>
                      <a:r>
                        <a:rPr lang="en-US" sz="900" dirty="0"/>
                        <a:t>Literature review</a:t>
                      </a:r>
                    </a:p>
                  </p:txBody>
                </p:sp>
              </p:grpSp>
              <p:grpSp>
                <p:nvGrpSpPr>
                  <p:cNvPr id="44" name="Group 43">
                    <a:extLst>
                      <a:ext uri="{FF2B5EF4-FFF2-40B4-BE49-F238E27FC236}">
                        <a16:creationId xmlns:a16="http://schemas.microsoft.com/office/drawing/2014/main" id="{58DF983A-C1A5-142D-1040-32EAB1317AE8}"/>
                      </a:ext>
                    </a:extLst>
                  </p:cNvPr>
                  <p:cNvGrpSpPr/>
                  <p:nvPr/>
                </p:nvGrpSpPr>
                <p:grpSpPr>
                  <a:xfrm>
                    <a:off x="10285642" y="5791881"/>
                    <a:ext cx="2453104" cy="467768"/>
                    <a:chOff x="10285642" y="5791881"/>
                    <a:chExt cx="2453104" cy="467768"/>
                  </a:xfrm>
                </p:grpSpPr>
                <p:pic>
                  <p:nvPicPr>
                    <p:cNvPr id="42" name="Picture 41">
                      <a:extLst>
                        <a:ext uri="{FF2B5EF4-FFF2-40B4-BE49-F238E27FC236}">
                          <a16:creationId xmlns:a16="http://schemas.microsoft.com/office/drawing/2014/main" id="{5F0F9521-6D2A-8132-05BE-B5F1CD0945DF}"/>
                        </a:ext>
                      </a:extLst>
                    </p:cNvPr>
                    <p:cNvPicPr>
                      <a:picLocks noChangeAspect="1"/>
                    </p:cNvPicPr>
                    <p:nvPr/>
                  </p:nvPicPr>
                  <p:blipFill>
                    <a:blip r:embed="rId5"/>
                    <a:stretch>
                      <a:fillRect/>
                    </a:stretch>
                  </p:blipFill>
                  <p:spPr>
                    <a:xfrm>
                      <a:off x="10285642" y="5791881"/>
                      <a:ext cx="431593" cy="431595"/>
                    </a:xfrm>
                    <a:prstGeom prst="rect">
                      <a:avLst/>
                    </a:prstGeom>
                  </p:spPr>
                </p:pic>
                <p:sp>
                  <p:nvSpPr>
                    <p:cNvPr id="43" name="TextBox 42">
                      <a:extLst>
                        <a:ext uri="{FF2B5EF4-FFF2-40B4-BE49-F238E27FC236}">
                          <a16:creationId xmlns:a16="http://schemas.microsoft.com/office/drawing/2014/main" id="{1D0911F7-68D5-78EA-589A-1C154DF7714C}"/>
                        </a:ext>
                      </a:extLst>
                    </p:cNvPr>
                    <p:cNvSpPr txBox="1"/>
                    <p:nvPr/>
                  </p:nvSpPr>
                  <p:spPr>
                    <a:xfrm>
                      <a:off x="10721433" y="5900850"/>
                      <a:ext cx="2017313" cy="358799"/>
                    </a:xfrm>
                    <a:prstGeom prst="rect">
                      <a:avLst/>
                    </a:prstGeom>
                    <a:noFill/>
                  </p:spPr>
                  <p:txBody>
                    <a:bodyPr wrap="square" rtlCol="0">
                      <a:spAutoFit/>
                    </a:bodyPr>
                    <a:lstStyle/>
                    <a:p>
                      <a:r>
                        <a:rPr lang="en-US" sz="900" dirty="0"/>
                        <a:t>New solution</a:t>
                      </a:r>
                    </a:p>
                  </p:txBody>
                </p:sp>
              </p:grpSp>
            </p:grpSp>
            <p:grpSp>
              <p:nvGrpSpPr>
                <p:cNvPr id="103" name="Group 102">
                  <a:extLst>
                    <a:ext uri="{FF2B5EF4-FFF2-40B4-BE49-F238E27FC236}">
                      <a16:creationId xmlns:a16="http://schemas.microsoft.com/office/drawing/2014/main" id="{30C048E3-0694-28F0-8D76-69D89CFEE947}"/>
                    </a:ext>
                  </a:extLst>
                </p:cNvPr>
                <p:cNvGrpSpPr/>
                <p:nvPr/>
              </p:nvGrpSpPr>
              <p:grpSpPr>
                <a:xfrm>
                  <a:off x="10488073" y="5580224"/>
                  <a:ext cx="1713339" cy="275603"/>
                  <a:chOff x="10488073" y="5580224"/>
                  <a:chExt cx="1713339" cy="275603"/>
                </a:xfrm>
              </p:grpSpPr>
              <p:pic>
                <p:nvPicPr>
                  <p:cNvPr id="99" name="Picture 98">
                    <a:extLst>
                      <a:ext uri="{FF2B5EF4-FFF2-40B4-BE49-F238E27FC236}">
                        <a16:creationId xmlns:a16="http://schemas.microsoft.com/office/drawing/2014/main" id="{06840071-1900-7E16-0A7C-DD5D459727C8}"/>
                      </a:ext>
                    </a:extLst>
                  </p:cNvPr>
                  <p:cNvPicPr>
                    <a:picLocks noChangeAspect="1"/>
                  </p:cNvPicPr>
                  <p:nvPr/>
                </p:nvPicPr>
                <p:blipFill>
                  <a:blip r:embed="rId8"/>
                  <a:stretch>
                    <a:fillRect/>
                  </a:stretch>
                </p:blipFill>
                <p:spPr>
                  <a:xfrm>
                    <a:off x="10488073" y="5606069"/>
                    <a:ext cx="249761" cy="249758"/>
                  </a:xfrm>
                  <a:prstGeom prst="rect">
                    <a:avLst/>
                  </a:prstGeom>
                </p:spPr>
              </p:pic>
              <p:sp>
                <p:nvSpPr>
                  <p:cNvPr id="100" name="TextBox 99">
                    <a:extLst>
                      <a:ext uri="{FF2B5EF4-FFF2-40B4-BE49-F238E27FC236}">
                        <a16:creationId xmlns:a16="http://schemas.microsoft.com/office/drawing/2014/main" id="{325C5807-F9E1-6AE9-DC2D-FA60894DBAA2}"/>
                      </a:ext>
                    </a:extLst>
                  </p:cNvPr>
                  <p:cNvSpPr txBox="1"/>
                  <p:nvPr/>
                </p:nvSpPr>
                <p:spPr>
                  <a:xfrm>
                    <a:off x="10792232" y="5580224"/>
                    <a:ext cx="1409180" cy="253531"/>
                  </a:xfrm>
                  <a:prstGeom prst="rect">
                    <a:avLst/>
                  </a:prstGeom>
                  <a:noFill/>
                </p:spPr>
                <p:txBody>
                  <a:bodyPr wrap="square" rtlCol="0">
                    <a:spAutoFit/>
                  </a:bodyPr>
                  <a:lstStyle/>
                  <a:p>
                    <a:r>
                      <a:rPr lang="en-US" sz="900" dirty="0"/>
                      <a:t>Data</a:t>
                    </a:r>
                  </a:p>
                </p:txBody>
              </p:sp>
            </p:grpSp>
          </p:grpSp>
        </p:grpSp>
        <p:grpSp>
          <p:nvGrpSpPr>
            <p:cNvPr id="120" name="Group 119">
              <a:extLst>
                <a:ext uri="{FF2B5EF4-FFF2-40B4-BE49-F238E27FC236}">
                  <a16:creationId xmlns:a16="http://schemas.microsoft.com/office/drawing/2014/main" id="{54057410-C4E5-F68B-DC89-66C6941A6F74}"/>
                </a:ext>
              </a:extLst>
            </p:cNvPr>
            <p:cNvGrpSpPr/>
            <p:nvPr/>
          </p:nvGrpSpPr>
          <p:grpSpPr>
            <a:xfrm>
              <a:off x="10466247" y="5131175"/>
              <a:ext cx="1348980" cy="405650"/>
              <a:chOff x="10466247" y="5131175"/>
              <a:chExt cx="1348980" cy="405650"/>
            </a:xfrm>
          </p:grpSpPr>
          <p:pic>
            <p:nvPicPr>
              <p:cNvPr id="118" name="Picture 117">
                <a:extLst>
                  <a:ext uri="{FF2B5EF4-FFF2-40B4-BE49-F238E27FC236}">
                    <a16:creationId xmlns:a16="http://schemas.microsoft.com/office/drawing/2014/main" id="{DE521411-4F01-EA3E-ECD0-F71C2BF7FCB7}"/>
                  </a:ext>
                </a:extLst>
              </p:cNvPr>
              <p:cNvPicPr>
                <a:picLocks noChangeAspect="1"/>
              </p:cNvPicPr>
              <p:nvPr/>
            </p:nvPicPr>
            <p:blipFill>
              <a:blip r:embed="rId9"/>
              <a:stretch>
                <a:fillRect/>
              </a:stretch>
            </p:blipFill>
            <p:spPr>
              <a:xfrm>
                <a:off x="10466247" y="5256058"/>
                <a:ext cx="261928" cy="261927"/>
              </a:xfrm>
              <a:prstGeom prst="rect">
                <a:avLst/>
              </a:prstGeom>
            </p:spPr>
          </p:pic>
          <p:sp>
            <p:nvSpPr>
              <p:cNvPr id="119" name="TextBox 118">
                <a:extLst>
                  <a:ext uri="{FF2B5EF4-FFF2-40B4-BE49-F238E27FC236}">
                    <a16:creationId xmlns:a16="http://schemas.microsoft.com/office/drawing/2014/main" id="{3B28CC8D-CAB0-BEE1-206D-14072981AC6B}"/>
                  </a:ext>
                </a:extLst>
              </p:cNvPr>
              <p:cNvSpPr txBox="1"/>
              <p:nvPr/>
            </p:nvSpPr>
            <p:spPr>
              <a:xfrm>
                <a:off x="10784715" y="5131175"/>
                <a:ext cx="1030512" cy="405650"/>
              </a:xfrm>
              <a:prstGeom prst="rect">
                <a:avLst/>
              </a:prstGeom>
              <a:noFill/>
              <a:ln w="19050">
                <a:solidFill>
                  <a:schemeClr val="tx1"/>
                </a:solidFill>
                <a:prstDash val="sysDash"/>
              </a:ln>
            </p:spPr>
            <p:txBody>
              <a:bodyPr wrap="square" rtlCol="0">
                <a:spAutoFit/>
              </a:bodyPr>
              <a:lstStyle/>
              <a:p>
                <a:r>
                  <a:rPr lang="en-US" sz="900" dirty="0"/>
                  <a:t>Possible improvements</a:t>
                </a:r>
              </a:p>
            </p:txBody>
          </p:sp>
        </p:grpSp>
      </p:grpSp>
      <p:sp>
        <p:nvSpPr>
          <p:cNvPr id="25" name="TextBox 24">
            <a:extLst>
              <a:ext uri="{FF2B5EF4-FFF2-40B4-BE49-F238E27FC236}">
                <a16:creationId xmlns:a16="http://schemas.microsoft.com/office/drawing/2014/main" id="{8CDFF053-C42B-0FC6-0186-803806EA3FA4}"/>
              </a:ext>
            </a:extLst>
          </p:cNvPr>
          <p:cNvSpPr txBox="1"/>
          <p:nvPr/>
        </p:nvSpPr>
        <p:spPr>
          <a:xfrm>
            <a:off x="9855487" y="6453959"/>
            <a:ext cx="1765898" cy="238188"/>
          </a:xfrm>
          <a:prstGeom prst="rect">
            <a:avLst/>
          </a:prstGeom>
          <a:noFill/>
        </p:spPr>
        <p:txBody>
          <a:bodyPr wrap="square" rtlCol="0">
            <a:spAutoFit/>
          </a:bodyPr>
          <a:lstStyle/>
          <a:p>
            <a:r>
              <a:rPr lang="en-US" sz="1100" dirty="0"/>
              <a:t>Source: </a:t>
            </a:r>
            <a:r>
              <a:rPr lang="en-US" sz="1100" dirty="0">
                <a:hlinkClick r:id="rId10"/>
              </a:rPr>
              <a:t>www.flaticon.com</a:t>
            </a:r>
            <a:r>
              <a:rPr lang="en-US" sz="1100" dirty="0"/>
              <a:t> </a:t>
            </a:r>
          </a:p>
        </p:txBody>
      </p:sp>
      <p:grpSp>
        <p:nvGrpSpPr>
          <p:cNvPr id="182" name="Group 181">
            <a:extLst>
              <a:ext uri="{FF2B5EF4-FFF2-40B4-BE49-F238E27FC236}">
                <a16:creationId xmlns:a16="http://schemas.microsoft.com/office/drawing/2014/main" id="{892A3B32-DE63-C9D3-3C03-E81F8056E518}"/>
              </a:ext>
            </a:extLst>
          </p:cNvPr>
          <p:cNvGrpSpPr/>
          <p:nvPr/>
        </p:nvGrpSpPr>
        <p:grpSpPr>
          <a:xfrm>
            <a:off x="5337482" y="3487325"/>
            <a:ext cx="3027194" cy="1697239"/>
            <a:chOff x="5429498" y="3663375"/>
            <a:chExt cx="3027194" cy="1697239"/>
          </a:xfrm>
        </p:grpSpPr>
        <p:sp>
          <p:nvSpPr>
            <p:cNvPr id="181" name="Arrow: Right 180">
              <a:extLst>
                <a:ext uri="{FF2B5EF4-FFF2-40B4-BE49-F238E27FC236}">
                  <a16:creationId xmlns:a16="http://schemas.microsoft.com/office/drawing/2014/main" id="{D48F53D5-C558-834F-489D-8CB00DB496E2}"/>
                </a:ext>
              </a:extLst>
            </p:cNvPr>
            <p:cNvSpPr/>
            <p:nvPr/>
          </p:nvSpPr>
          <p:spPr>
            <a:xfrm rot="5400000">
              <a:off x="6744388" y="5003383"/>
              <a:ext cx="338883" cy="375580"/>
            </a:xfrm>
            <a:prstGeom prst="rightArrow">
              <a:avLst/>
            </a:prstGeom>
            <a:ln w="19050">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149" name="Group 148">
              <a:extLst>
                <a:ext uri="{FF2B5EF4-FFF2-40B4-BE49-F238E27FC236}">
                  <a16:creationId xmlns:a16="http://schemas.microsoft.com/office/drawing/2014/main" id="{D1334DCB-5E7F-E22F-E52E-34084BCA4FB4}"/>
                </a:ext>
              </a:extLst>
            </p:cNvPr>
            <p:cNvGrpSpPr/>
            <p:nvPr/>
          </p:nvGrpSpPr>
          <p:grpSpPr>
            <a:xfrm>
              <a:off x="5429498" y="3663375"/>
              <a:ext cx="3027194" cy="1478243"/>
              <a:chOff x="5429498" y="3663375"/>
              <a:chExt cx="3027194" cy="1478243"/>
            </a:xfrm>
          </p:grpSpPr>
          <p:grpSp>
            <p:nvGrpSpPr>
              <p:cNvPr id="146" name="Group 145">
                <a:extLst>
                  <a:ext uri="{FF2B5EF4-FFF2-40B4-BE49-F238E27FC236}">
                    <a16:creationId xmlns:a16="http://schemas.microsoft.com/office/drawing/2014/main" id="{DAEC644B-593A-4117-0BAF-8A7C97E23459}"/>
                  </a:ext>
                </a:extLst>
              </p:cNvPr>
              <p:cNvGrpSpPr/>
              <p:nvPr/>
            </p:nvGrpSpPr>
            <p:grpSpPr>
              <a:xfrm>
                <a:off x="5429498" y="3663375"/>
                <a:ext cx="2976932" cy="1478243"/>
                <a:chOff x="5429498" y="3663375"/>
                <a:chExt cx="2976932" cy="1478243"/>
              </a:xfrm>
            </p:grpSpPr>
            <p:grpSp>
              <p:nvGrpSpPr>
                <p:cNvPr id="144" name="Group 143">
                  <a:extLst>
                    <a:ext uri="{FF2B5EF4-FFF2-40B4-BE49-F238E27FC236}">
                      <a16:creationId xmlns:a16="http://schemas.microsoft.com/office/drawing/2014/main" id="{3FA22BEA-51F4-1FEF-7C6B-45F6A3B246DD}"/>
                    </a:ext>
                  </a:extLst>
                </p:cNvPr>
                <p:cNvGrpSpPr/>
                <p:nvPr/>
              </p:nvGrpSpPr>
              <p:grpSpPr>
                <a:xfrm>
                  <a:off x="5429498" y="3663375"/>
                  <a:ext cx="2976932" cy="1478243"/>
                  <a:chOff x="5429498" y="3663375"/>
                  <a:chExt cx="2976932" cy="1478243"/>
                </a:xfrm>
              </p:grpSpPr>
              <p:sp>
                <p:nvSpPr>
                  <p:cNvPr id="129" name="Rectangle: Rounded Corners 128">
                    <a:extLst>
                      <a:ext uri="{FF2B5EF4-FFF2-40B4-BE49-F238E27FC236}">
                        <a16:creationId xmlns:a16="http://schemas.microsoft.com/office/drawing/2014/main" id="{ABFB21CB-CE61-A4BA-DE44-5E5BE3021A13}"/>
                      </a:ext>
                    </a:extLst>
                  </p:cNvPr>
                  <p:cNvSpPr/>
                  <p:nvPr/>
                </p:nvSpPr>
                <p:spPr>
                  <a:xfrm>
                    <a:off x="5429498" y="3663375"/>
                    <a:ext cx="2976932" cy="1478243"/>
                  </a:xfrm>
                  <a:prstGeom prst="roundRect">
                    <a:avLst/>
                  </a:prstGeom>
                  <a:solidFill>
                    <a:schemeClr val="bg1"/>
                  </a:solidFill>
                  <a:ln w="1905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 name="TextBox 142">
                    <a:extLst>
                      <a:ext uri="{FF2B5EF4-FFF2-40B4-BE49-F238E27FC236}">
                        <a16:creationId xmlns:a16="http://schemas.microsoft.com/office/drawing/2014/main" id="{8E4189BF-383B-B2A0-8AD4-8AD80376E7D8}"/>
                      </a:ext>
                    </a:extLst>
                  </p:cNvPr>
                  <p:cNvSpPr txBox="1"/>
                  <p:nvPr/>
                </p:nvSpPr>
                <p:spPr>
                  <a:xfrm>
                    <a:off x="5620088" y="3684408"/>
                    <a:ext cx="2597727" cy="276999"/>
                  </a:xfrm>
                  <a:prstGeom prst="rect">
                    <a:avLst/>
                  </a:prstGeom>
                  <a:noFill/>
                </p:spPr>
                <p:txBody>
                  <a:bodyPr wrap="square" rtlCol="0">
                    <a:spAutoFit/>
                  </a:bodyPr>
                  <a:lstStyle/>
                  <a:p>
                    <a:pPr algn="ctr"/>
                    <a:r>
                      <a:rPr lang="en-US" sz="1200" b="1" dirty="0"/>
                      <a:t>EU-framework price elasticities</a:t>
                    </a:r>
                  </a:p>
                </p:txBody>
              </p:sp>
            </p:grpSp>
            <p:grpSp>
              <p:nvGrpSpPr>
                <p:cNvPr id="145" name="Group 144">
                  <a:extLst>
                    <a:ext uri="{FF2B5EF4-FFF2-40B4-BE49-F238E27FC236}">
                      <a16:creationId xmlns:a16="http://schemas.microsoft.com/office/drawing/2014/main" id="{FBC7F1A5-AD1C-DCD4-5FD4-8E53D5190C1C}"/>
                    </a:ext>
                  </a:extLst>
                </p:cNvPr>
                <p:cNvGrpSpPr/>
                <p:nvPr/>
              </p:nvGrpSpPr>
              <p:grpSpPr>
                <a:xfrm>
                  <a:off x="5430823" y="3941398"/>
                  <a:ext cx="382788" cy="694003"/>
                  <a:chOff x="5430823" y="3941398"/>
                  <a:chExt cx="382788" cy="694003"/>
                </a:xfrm>
              </p:grpSpPr>
              <p:pic>
                <p:nvPicPr>
                  <p:cNvPr id="128" name="Picture 127">
                    <a:extLst>
                      <a:ext uri="{FF2B5EF4-FFF2-40B4-BE49-F238E27FC236}">
                        <a16:creationId xmlns:a16="http://schemas.microsoft.com/office/drawing/2014/main" id="{CBBE3F68-0EC2-A1D0-821A-0873AD9CEE1F}"/>
                      </a:ext>
                    </a:extLst>
                  </p:cNvPr>
                  <p:cNvPicPr>
                    <a:picLocks noChangeAspect="1"/>
                  </p:cNvPicPr>
                  <p:nvPr/>
                </p:nvPicPr>
                <p:blipFill>
                  <a:blip r:embed="rId9"/>
                  <a:stretch>
                    <a:fillRect/>
                  </a:stretch>
                </p:blipFill>
                <p:spPr>
                  <a:xfrm>
                    <a:off x="5485361" y="3941398"/>
                    <a:ext cx="269454" cy="269454"/>
                  </a:xfrm>
                  <a:prstGeom prst="rect">
                    <a:avLst/>
                  </a:prstGeom>
                </p:spPr>
              </p:pic>
              <p:pic>
                <p:nvPicPr>
                  <p:cNvPr id="142" name="Picture 141">
                    <a:extLst>
                      <a:ext uri="{FF2B5EF4-FFF2-40B4-BE49-F238E27FC236}">
                        <a16:creationId xmlns:a16="http://schemas.microsoft.com/office/drawing/2014/main" id="{D9DBA5C0-6397-1F0B-8CD8-947C4CCF44D3}"/>
                      </a:ext>
                    </a:extLst>
                  </p:cNvPr>
                  <p:cNvPicPr>
                    <a:picLocks noChangeAspect="1"/>
                  </p:cNvPicPr>
                  <p:nvPr/>
                </p:nvPicPr>
                <p:blipFill>
                  <a:blip r:embed="rId5"/>
                  <a:stretch>
                    <a:fillRect/>
                  </a:stretch>
                </p:blipFill>
                <p:spPr>
                  <a:xfrm>
                    <a:off x="5430823" y="4248193"/>
                    <a:ext cx="382788" cy="387208"/>
                  </a:xfrm>
                  <a:prstGeom prst="rect">
                    <a:avLst/>
                  </a:prstGeom>
                </p:spPr>
              </p:pic>
            </p:grpSp>
          </p:grpSp>
          <p:sp>
            <p:nvSpPr>
              <p:cNvPr id="147" name="TextBox 146">
                <a:extLst>
                  <a:ext uri="{FF2B5EF4-FFF2-40B4-BE49-F238E27FC236}">
                    <a16:creationId xmlns:a16="http://schemas.microsoft.com/office/drawing/2014/main" id="{0A21B682-25EB-4053-C923-9CA626262A99}"/>
                  </a:ext>
                </a:extLst>
              </p:cNvPr>
              <p:cNvSpPr txBox="1"/>
              <p:nvPr/>
            </p:nvSpPr>
            <p:spPr>
              <a:xfrm>
                <a:off x="5725010" y="3853691"/>
                <a:ext cx="2731682" cy="1277273"/>
              </a:xfrm>
              <a:prstGeom prst="rect">
                <a:avLst/>
              </a:prstGeom>
              <a:noFill/>
            </p:spPr>
            <p:txBody>
              <a:bodyPr wrap="square" rtlCol="0">
                <a:spAutoFit/>
              </a:bodyPr>
              <a:lstStyle/>
              <a:p>
                <a:pPr marL="171450" indent="-171450">
                  <a:buFont typeface="Arial" panose="020B0604020202020204" pitchFamily="34" charset="0"/>
                  <a:buChar char="•"/>
                </a:pPr>
                <a:r>
                  <a:rPr lang="en-US" sz="1100" dirty="0"/>
                  <a:t>All CRMs PED and PES</a:t>
                </a:r>
              </a:p>
              <a:p>
                <a:r>
                  <a:rPr lang="en-US" sz="1100" dirty="0"/>
                  <a:t>Database (Eurostat, SCRREEN, RMIS, …)</a:t>
                </a:r>
              </a:p>
              <a:p>
                <a:pPr marL="171450" indent="-171450">
                  <a:buFont typeface="Arial" panose="020B0604020202020204" pitchFamily="34" charset="0"/>
                  <a:buChar char="•"/>
                </a:pPr>
                <a:r>
                  <a:rPr lang="en-US" sz="1100" dirty="0"/>
                  <a:t>HS codes + Production</a:t>
                </a:r>
              </a:p>
              <a:p>
                <a:pPr marL="171450" indent="-171450">
                  <a:buFont typeface="Arial" panose="020B0604020202020204" pitchFamily="34" charset="0"/>
                  <a:buChar char="•"/>
                </a:pPr>
                <a:r>
                  <a:rPr lang="en-US" sz="1100" dirty="0"/>
                  <a:t>Sectoral value added</a:t>
                </a:r>
              </a:p>
              <a:p>
                <a:pPr marL="171450" indent="-171450">
                  <a:buFont typeface="Arial" panose="020B0604020202020204" pitchFamily="34" charset="0"/>
                  <a:buChar char="•"/>
                </a:pPr>
                <a:r>
                  <a:rPr lang="en-US" sz="1100" dirty="0"/>
                  <a:t>EU GDP and </a:t>
                </a:r>
                <a:r>
                  <a:rPr lang="en-US" sz="1100" dirty="0" err="1"/>
                  <a:t>usd_eur</a:t>
                </a:r>
                <a:r>
                  <a:rPr lang="en-US" sz="1100" dirty="0"/>
                  <a:t> exchange rate</a:t>
                </a:r>
              </a:p>
              <a:p>
                <a:pPr marL="171450" indent="-171450">
                  <a:buFont typeface="Arial" panose="020B0604020202020204" pitchFamily="34" charset="0"/>
                  <a:buChar char="•"/>
                </a:pPr>
                <a:r>
                  <a:rPr lang="en-US" sz="1100" dirty="0"/>
                  <a:t>Export restrictions, strikes</a:t>
                </a:r>
              </a:p>
              <a:p>
                <a:pPr marL="171450" indent="-171450">
                  <a:buFont typeface="Arial" panose="020B0604020202020204" pitchFamily="34" charset="0"/>
                  <a:buChar char="•"/>
                </a:pPr>
                <a:r>
                  <a:rPr lang="en-US" sz="1100" dirty="0"/>
                  <a:t>Mine-level, industrial-level variables</a:t>
                </a:r>
              </a:p>
            </p:txBody>
          </p:sp>
          <p:pic>
            <p:nvPicPr>
              <p:cNvPr id="148" name="Picture 147">
                <a:extLst>
                  <a:ext uri="{FF2B5EF4-FFF2-40B4-BE49-F238E27FC236}">
                    <a16:creationId xmlns:a16="http://schemas.microsoft.com/office/drawing/2014/main" id="{D7152964-621C-16D1-1CDE-CC5D4868B82E}"/>
                  </a:ext>
                </a:extLst>
              </p:cNvPr>
              <p:cNvPicPr>
                <a:picLocks noChangeAspect="1"/>
              </p:cNvPicPr>
              <p:nvPr/>
            </p:nvPicPr>
            <p:blipFill>
              <a:blip r:embed="rId8"/>
              <a:stretch>
                <a:fillRect/>
              </a:stretch>
            </p:blipFill>
            <p:spPr>
              <a:xfrm>
                <a:off x="5460183" y="4686473"/>
                <a:ext cx="335020" cy="301956"/>
              </a:xfrm>
              <a:prstGeom prst="rect">
                <a:avLst/>
              </a:prstGeom>
            </p:spPr>
          </p:pic>
        </p:grpSp>
      </p:grpSp>
      <p:grpSp>
        <p:nvGrpSpPr>
          <p:cNvPr id="187" name="Group 186">
            <a:extLst>
              <a:ext uri="{FF2B5EF4-FFF2-40B4-BE49-F238E27FC236}">
                <a16:creationId xmlns:a16="http://schemas.microsoft.com/office/drawing/2014/main" id="{4C9D5DDC-A67F-D758-A9EE-FD9B529FFA11}"/>
              </a:ext>
            </a:extLst>
          </p:cNvPr>
          <p:cNvGrpSpPr/>
          <p:nvPr/>
        </p:nvGrpSpPr>
        <p:grpSpPr>
          <a:xfrm>
            <a:off x="5640037" y="5203699"/>
            <a:ext cx="2947384" cy="1078247"/>
            <a:chOff x="5866063" y="5331164"/>
            <a:chExt cx="2947384" cy="1078247"/>
          </a:xfrm>
        </p:grpSpPr>
        <p:sp>
          <p:nvSpPr>
            <p:cNvPr id="186" name="Arrow: Right 185">
              <a:extLst>
                <a:ext uri="{FF2B5EF4-FFF2-40B4-BE49-F238E27FC236}">
                  <a16:creationId xmlns:a16="http://schemas.microsoft.com/office/drawing/2014/main" id="{865748C6-D67E-A664-1BEC-B85C8DDF7806}"/>
                </a:ext>
              </a:extLst>
            </p:cNvPr>
            <p:cNvSpPr/>
            <p:nvPr/>
          </p:nvSpPr>
          <p:spPr>
            <a:xfrm>
              <a:off x="7968416" y="5767633"/>
              <a:ext cx="845031" cy="153143"/>
            </a:xfrm>
            <a:prstGeom prst="rightArrow">
              <a:avLst/>
            </a:prstGeom>
            <a:solidFill>
              <a:srgbClr val="C00000"/>
            </a:solid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6" name="Group 165">
              <a:extLst>
                <a:ext uri="{FF2B5EF4-FFF2-40B4-BE49-F238E27FC236}">
                  <a16:creationId xmlns:a16="http://schemas.microsoft.com/office/drawing/2014/main" id="{A3937DC4-D77B-8532-BB8E-821898850AC8}"/>
                </a:ext>
              </a:extLst>
            </p:cNvPr>
            <p:cNvGrpSpPr/>
            <p:nvPr/>
          </p:nvGrpSpPr>
          <p:grpSpPr>
            <a:xfrm>
              <a:off x="5866063" y="5331164"/>
              <a:ext cx="2346176" cy="1078247"/>
              <a:chOff x="5866063" y="5248038"/>
              <a:chExt cx="2346176" cy="1078247"/>
            </a:xfrm>
          </p:grpSpPr>
          <p:sp>
            <p:nvSpPr>
              <p:cNvPr id="87" name="Rectangle: Rounded Corners 86">
                <a:extLst>
                  <a:ext uri="{FF2B5EF4-FFF2-40B4-BE49-F238E27FC236}">
                    <a16:creationId xmlns:a16="http://schemas.microsoft.com/office/drawing/2014/main" id="{29A60153-4478-EC24-7B00-1F8DA9CFDF0E}"/>
                  </a:ext>
                </a:extLst>
              </p:cNvPr>
              <p:cNvSpPr/>
              <p:nvPr/>
            </p:nvSpPr>
            <p:spPr>
              <a:xfrm>
                <a:off x="5866063" y="5248038"/>
                <a:ext cx="2244380" cy="1078247"/>
              </a:xfrm>
              <a:prstGeom prst="roundRect">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TextBox 95">
                <a:extLst>
                  <a:ext uri="{FF2B5EF4-FFF2-40B4-BE49-F238E27FC236}">
                    <a16:creationId xmlns:a16="http://schemas.microsoft.com/office/drawing/2014/main" id="{2A6C3D42-A52A-9F51-8ACB-2D57D00D9883}"/>
                  </a:ext>
                </a:extLst>
              </p:cNvPr>
              <p:cNvSpPr txBox="1"/>
              <p:nvPr/>
            </p:nvSpPr>
            <p:spPr>
              <a:xfrm>
                <a:off x="6204093" y="5297593"/>
                <a:ext cx="1570183" cy="369332"/>
              </a:xfrm>
              <a:prstGeom prst="rect">
                <a:avLst/>
              </a:prstGeom>
              <a:noFill/>
            </p:spPr>
            <p:txBody>
              <a:bodyPr wrap="square" rtlCol="0">
                <a:spAutoFit/>
              </a:bodyPr>
              <a:lstStyle/>
              <a:p>
                <a:r>
                  <a:rPr lang="en-US" b="1" dirty="0">
                    <a:solidFill>
                      <a:srgbClr val="C00000"/>
                    </a:solidFill>
                  </a:rPr>
                  <a:t>ELASTICITY</a:t>
                </a:r>
              </a:p>
            </p:txBody>
          </p:sp>
          <p:pic>
            <p:nvPicPr>
              <p:cNvPr id="155" name="Picture 154">
                <a:extLst>
                  <a:ext uri="{FF2B5EF4-FFF2-40B4-BE49-F238E27FC236}">
                    <a16:creationId xmlns:a16="http://schemas.microsoft.com/office/drawing/2014/main" id="{8E8AE1F8-2D44-3850-8B3D-E09749B2F73C}"/>
                  </a:ext>
                </a:extLst>
              </p:cNvPr>
              <p:cNvPicPr>
                <a:picLocks noChangeAspect="1"/>
              </p:cNvPicPr>
              <p:nvPr/>
            </p:nvPicPr>
            <p:blipFill>
              <a:blip r:embed="rId11"/>
              <a:stretch>
                <a:fillRect/>
              </a:stretch>
            </p:blipFill>
            <p:spPr>
              <a:xfrm>
                <a:off x="5949706" y="5299427"/>
                <a:ext cx="324858" cy="324858"/>
              </a:xfrm>
              <a:prstGeom prst="rect">
                <a:avLst/>
              </a:prstGeom>
            </p:spPr>
          </p:pic>
          <p:sp>
            <p:nvSpPr>
              <p:cNvPr id="158" name="TextBox 157">
                <a:extLst>
                  <a:ext uri="{FF2B5EF4-FFF2-40B4-BE49-F238E27FC236}">
                    <a16:creationId xmlns:a16="http://schemas.microsoft.com/office/drawing/2014/main" id="{D70C7B57-5745-B779-BC3E-5289D709E3BE}"/>
                  </a:ext>
                </a:extLst>
              </p:cNvPr>
              <p:cNvSpPr txBox="1"/>
              <p:nvPr/>
            </p:nvSpPr>
            <p:spPr>
              <a:xfrm>
                <a:off x="5941972" y="5609275"/>
                <a:ext cx="2270267" cy="646331"/>
              </a:xfrm>
              <a:prstGeom prst="rect">
                <a:avLst/>
              </a:prstGeom>
              <a:noFill/>
            </p:spPr>
            <p:txBody>
              <a:bodyPr wrap="square" rtlCol="0">
                <a:spAutoFit/>
              </a:bodyPr>
              <a:lstStyle/>
              <a:p>
                <a:r>
                  <a:rPr lang="en-US" sz="1200" dirty="0"/>
                  <a:t>PED and PES for main CRMs</a:t>
                </a:r>
              </a:p>
              <a:p>
                <a:r>
                  <a:rPr lang="en-US" sz="1200" dirty="0"/>
                  <a:t>Elasticity ranges</a:t>
                </a:r>
              </a:p>
              <a:p>
                <a:r>
                  <a:rPr lang="en-US" sz="1200" dirty="0"/>
                  <a:t>Short and long run elasticities</a:t>
                </a:r>
              </a:p>
            </p:txBody>
          </p:sp>
        </p:grpSp>
      </p:grpSp>
      <p:grpSp>
        <p:nvGrpSpPr>
          <p:cNvPr id="180" name="Group 179">
            <a:extLst>
              <a:ext uri="{FF2B5EF4-FFF2-40B4-BE49-F238E27FC236}">
                <a16:creationId xmlns:a16="http://schemas.microsoft.com/office/drawing/2014/main" id="{7AFFA042-9A70-F7A0-F234-1956F04A8F12}"/>
              </a:ext>
            </a:extLst>
          </p:cNvPr>
          <p:cNvGrpSpPr/>
          <p:nvPr/>
        </p:nvGrpSpPr>
        <p:grpSpPr>
          <a:xfrm>
            <a:off x="9128711" y="1174766"/>
            <a:ext cx="2596078" cy="1073287"/>
            <a:chOff x="8649047" y="1644638"/>
            <a:chExt cx="2596078" cy="1073287"/>
          </a:xfrm>
        </p:grpSpPr>
        <p:grpSp>
          <p:nvGrpSpPr>
            <p:cNvPr id="179" name="Group 178">
              <a:extLst>
                <a:ext uri="{FF2B5EF4-FFF2-40B4-BE49-F238E27FC236}">
                  <a16:creationId xmlns:a16="http://schemas.microsoft.com/office/drawing/2014/main" id="{7083A307-5342-D4AB-BC66-7244A5841F53}"/>
                </a:ext>
              </a:extLst>
            </p:cNvPr>
            <p:cNvGrpSpPr/>
            <p:nvPr/>
          </p:nvGrpSpPr>
          <p:grpSpPr>
            <a:xfrm>
              <a:off x="8765229" y="1812110"/>
              <a:ext cx="2479896" cy="905815"/>
              <a:chOff x="8765229" y="1812110"/>
              <a:chExt cx="2479896" cy="905815"/>
            </a:xfrm>
          </p:grpSpPr>
          <p:sp>
            <p:nvSpPr>
              <p:cNvPr id="173" name="Rectangle 172">
                <a:extLst>
                  <a:ext uri="{FF2B5EF4-FFF2-40B4-BE49-F238E27FC236}">
                    <a16:creationId xmlns:a16="http://schemas.microsoft.com/office/drawing/2014/main" id="{2B9C64C0-B18C-0A6C-2327-9BC6E2E24BB7}"/>
                  </a:ext>
                </a:extLst>
              </p:cNvPr>
              <p:cNvSpPr/>
              <p:nvPr/>
            </p:nvSpPr>
            <p:spPr>
              <a:xfrm>
                <a:off x="8765229" y="1812111"/>
                <a:ext cx="2479896" cy="905814"/>
              </a:xfrm>
              <a:prstGeom prst="rect">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TextBox 176">
                <a:extLst>
                  <a:ext uri="{FF2B5EF4-FFF2-40B4-BE49-F238E27FC236}">
                    <a16:creationId xmlns:a16="http://schemas.microsoft.com/office/drawing/2014/main" id="{AD461496-D470-D7DE-E776-120BA86FDA40}"/>
                  </a:ext>
                </a:extLst>
              </p:cNvPr>
              <p:cNvSpPr txBox="1"/>
              <p:nvPr/>
            </p:nvSpPr>
            <p:spPr>
              <a:xfrm>
                <a:off x="9034666" y="1812110"/>
                <a:ext cx="2210459" cy="461665"/>
              </a:xfrm>
              <a:prstGeom prst="rect">
                <a:avLst/>
              </a:prstGeom>
              <a:noFill/>
            </p:spPr>
            <p:txBody>
              <a:bodyPr wrap="square" rtlCol="0">
                <a:spAutoFit/>
              </a:bodyPr>
              <a:lstStyle/>
              <a:p>
                <a:pPr algn="ctr"/>
                <a:r>
                  <a:rPr lang="en-US" sz="1200" b="1" dirty="0"/>
                  <a:t>Price disruption scenarios in EU framework</a:t>
                </a:r>
              </a:p>
            </p:txBody>
          </p:sp>
          <p:sp>
            <p:nvSpPr>
              <p:cNvPr id="178" name="TextBox 177">
                <a:extLst>
                  <a:ext uri="{FF2B5EF4-FFF2-40B4-BE49-F238E27FC236}">
                    <a16:creationId xmlns:a16="http://schemas.microsoft.com/office/drawing/2014/main" id="{D2B45F29-16D4-44AD-B4DA-DA5D13891507}"/>
                  </a:ext>
                </a:extLst>
              </p:cNvPr>
              <p:cNvSpPr txBox="1"/>
              <p:nvPr/>
            </p:nvSpPr>
            <p:spPr>
              <a:xfrm>
                <a:off x="8765229" y="2256259"/>
                <a:ext cx="1875124" cy="461665"/>
              </a:xfrm>
              <a:prstGeom prst="rect">
                <a:avLst/>
              </a:prstGeom>
              <a:noFill/>
            </p:spPr>
            <p:txBody>
              <a:bodyPr wrap="square" rtlCol="0">
                <a:spAutoFit/>
              </a:bodyPr>
              <a:lstStyle/>
              <a:p>
                <a:pPr marL="171450" indent="-171450">
                  <a:buFont typeface="Arial" panose="020B0604020202020204" pitchFamily="34" charset="0"/>
                  <a:buChar char="•"/>
                </a:pPr>
                <a:r>
                  <a:rPr lang="en-US" sz="1200" dirty="0"/>
                  <a:t>Disruption</a:t>
                </a:r>
              </a:p>
              <a:p>
                <a:pPr marL="171450" indent="-171450">
                  <a:buFont typeface="Arial" panose="020B0604020202020204" pitchFamily="34" charset="0"/>
                  <a:buChar char="•"/>
                </a:pPr>
                <a:r>
                  <a:rPr lang="en-US" sz="1200" dirty="0"/>
                  <a:t>Mild increase (cycles)</a:t>
                </a:r>
              </a:p>
            </p:txBody>
          </p:sp>
        </p:grpSp>
        <p:grpSp>
          <p:nvGrpSpPr>
            <p:cNvPr id="176" name="Group 175">
              <a:extLst>
                <a:ext uri="{FF2B5EF4-FFF2-40B4-BE49-F238E27FC236}">
                  <a16:creationId xmlns:a16="http://schemas.microsoft.com/office/drawing/2014/main" id="{32DAE9C1-283E-C698-13A1-0B7F821EE080}"/>
                </a:ext>
              </a:extLst>
            </p:cNvPr>
            <p:cNvGrpSpPr/>
            <p:nvPr/>
          </p:nvGrpSpPr>
          <p:grpSpPr>
            <a:xfrm>
              <a:off x="8649047" y="1644638"/>
              <a:ext cx="477391" cy="382335"/>
              <a:chOff x="9650602" y="893613"/>
              <a:chExt cx="477391" cy="382335"/>
            </a:xfrm>
          </p:grpSpPr>
          <p:sp>
            <p:nvSpPr>
              <p:cNvPr id="175" name="Rectangle 174">
                <a:extLst>
                  <a:ext uri="{FF2B5EF4-FFF2-40B4-BE49-F238E27FC236}">
                    <a16:creationId xmlns:a16="http://schemas.microsoft.com/office/drawing/2014/main" id="{E5A31707-6D3D-1D97-6672-0DB4687716EE}"/>
                  </a:ext>
                </a:extLst>
              </p:cNvPr>
              <p:cNvSpPr/>
              <p:nvPr/>
            </p:nvSpPr>
            <p:spPr>
              <a:xfrm>
                <a:off x="9650602" y="908085"/>
                <a:ext cx="477391" cy="367090"/>
              </a:xfrm>
              <a:prstGeom prst="rect">
                <a:avLst/>
              </a:prstGeom>
              <a:solidFill>
                <a:schemeClr val="bg1"/>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2" name="Picture 171">
                <a:extLst>
                  <a:ext uri="{FF2B5EF4-FFF2-40B4-BE49-F238E27FC236}">
                    <a16:creationId xmlns:a16="http://schemas.microsoft.com/office/drawing/2014/main" id="{F82F132D-C816-E108-19C0-FAD4A95DAD29}"/>
                  </a:ext>
                </a:extLst>
              </p:cNvPr>
              <p:cNvPicPr>
                <a:picLocks noChangeAspect="1"/>
              </p:cNvPicPr>
              <p:nvPr/>
            </p:nvPicPr>
            <p:blipFill>
              <a:blip r:embed="rId12"/>
              <a:stretch>
                <a:fillRect/>
              </a:stretch>
            </p:blipFill>
            <p:spPr>
              <a:xfrm>
                <a:off x="9698131" y="893613"/>
                <a:ext cx="382335" cy="382335"/>
              </a:xfrm>
              <a:prstGeom prst="rect">
                <a:avLst/>
              </a:prstGeom>
            </p:spPr>
          </p:pic>
        </p:grpSp>
      </p:grpSp>
      <p:grpSp>
        <p:nvGrpSpPr>
          <p:cNvPr id="191" name="Group 190">
            <a:extLst>
              <a:ext uri="{FF2B5EF4-FFF2-40B4-BE49-F238E27FC236}">
                <a16:creationId xmlns:a16="http://schemas.microsoft.com/office/drawing/2014/main" id="{F9F3EA1B-B3CF-C140-802E-F21060B78435}"/>
              </a:ext>
            </a:extLst>
          </p:cNvPr>
          <p:cNvGrpSpPr/>
          <p:nvPr/>
        </p:nvGrpSpPr>
        <p:grpSpPr>
          <a:xfrm>
            <a:off x="8145460" y="1077807"/>
            <a:ext cx="1192102" cy="914128"/>
            <a:chOff x="8149777" y="1549807"/>
            <a:chExt cx="1192102" cy="914128"/>
          </a:xfrm>
        </p:grpSpPr>
        <p:sp>
          <p:nvSpPr>
            <p:cNvPr id="189" name="Oval 188">
              <a:extLst>
                <a:ext uri="{FF2B5EF4-FFF2-40B4-BE49-F238E27FC236}">
                  <a16:creationId xmlns:a16="http://schemas.microsoft.com/office/drawing/2014/main" id="{E2DD67B3-D05E-D3F8-5A2D-1E98CA6B381B}"/>
                </a:ext>
              </a:extLst>
            </p:cNvPr>
            <p:cNvSpPr/>
            <p:nvPr/>
          </p:nvSpPr>
          <p:spPr>
            <a:xfrm>
              <a:off x="8506110" y="1985303"/>
              <a:ext cx="493337" cy="478632"/>
            </a:xfrm>
            <a:prstGeom prst="ellipse">
              <a:avLst/>
            </a:prstGeom>
            <a:noFill/>
            <a:ln w="19050">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0" name="TextBox 189">
              <a:extLst>
                <a:ext uri="{FF2B5EF4-FFF2-40B4-BE49-F238E27FC236}">
                  <a16:creationId xmlns:a16="http://schemas.microsoft.com/office/drawing/2014/main" id="{7519D211-9CC2-E441-A453-87B58A8246A8}"/>
                </a:ext>
              </a:extLst>
            </p:cNvPr>
            <p:cNvSpPr txBox="1"/>
            <p:nvPr/>
          </p:nvSpPr>
          <p:spPr>
            <a:xfrm>
              <a:off x="8149777" y="1549807"/>
              <a:ext cx="1192102" cy="461665"/>
            </a:xfrm>
            <a:prstGeom prst="rect">
              <a:avLst/>
            </a:prstGeom>
            <a:noFill/>
          </p:spPr>
          <p:txBody>
            <a:bodyPr wrap="square" rtlCol="0">
              <a:spAutoFit/>
            </a:bodyPr>
            <a:lstStyle/>
            <a:p>
              <a:pPr algn="ctr"/>
              <a:r>
                <a:rPr lang="en-US" sz="1200" dirty="0">
                  <a:solidFill>
                    <a:schemeClr val="accent6"/>
                  </a:solidFill>
                </a:rPr>
                <a:t>SR-based multiplier</a:t>
              </a:r>
            </a:p>
          </p:txBody>
        </p:sp>
      </p:grpSp>
      <p:grpSp>
        <p:nvGrpSpPr>
          <p:cNvPr id="229" name="Group 228">
            <a:extLst>
              <a:ext uri="{FF2B5EF4-FFF2-40B4-BE49-F238E27FC236}">
                <a16:creationId xmlns:a16="http://schemas.microsoft.com/office/drawing/2014/main" id="{EA9B1400-8376-8068-DFE5-D0E85219575E}"/>
              </a:ext>
            </a:extLst>
          </p:cNvPr>
          <p:cNvGrpSpPr/>
          <p:nvPr/>
        </p:nvGrpSpPr>
        <p:grpSpPr>
          <a:xfrm>
            <a:off x="5431274" y="2267693"/>
            <a:ext cx="3451728" cy="837369"/>
            <a:chOff x="4864502" y="780508"/>
            <a:chExt cx="3451728" cy="837369"/>
          </a:xfrm>
        </p:grpSpPr>
        <p:grpSp>
          <p:nvGrpSpPr>
            <p:cNvPr id="200" name="Group 199">
              <a:extLst>
                <a:ext uri="{FF2B5EF4-FFF2-40B4-BE49-F238E27FC236}">
                  <a16:creationId xmlns:a16="http://schemas.microsoft.com/office/drawing/2014/main" id="{C154540B-53A9-2C0F-29E6-5A59879C4B29}"/>
                </a:ext>
              </a:extLst>
            </p:cNvPr>
            <p:cNvGrpSpPr/>
            <p:nvPr/>
          </p:nvGrpSpPr>
          <p:grpSpPr>
            <a:xfrm>
              <a:off x="4864502" y="780508"/>
              <a:ext cx="3187287" cy="837369"/>
              <a:chOff x="4864502" y="780508"/>
              <a:chExt cx="3187287" cy="837369"/>
            </a:xfrm>
          </p:grpSpPr>
          <p:grpSp>
            <p:nvGrpSpPr>
              <p:cNvPr id="196" name="Group 195">
                <a:extLst>
                  <a:ext uri="{FF2B5EF4-FFF2-40B4-BE49-F238E27FC236}">
                    <a16:creationId xmlns:a16="http://schemas.microsoft.com/office/drawing/2014/main" id="{1D21CF56-5FDA-BE31-170A-078445106CB1}"/>
                  </a:ext>
                </a:extLst>
              </p:cNvPr>
              <p:cNvGrpSpPr/>
              <p:nvPr/>
            </p:nvGrpSpPr>
            <p:grpSpPr>
              <a:xfrm>
                <a:off x="4880519" y="780508"/>
                <a:ext cx="3171270" cy="837369"/>
                <a:chOff x="4880519" y="780508"/>
                <a:chExt cx="3171270" cy="837369"/>
              </a:xfrm>
            </p:grpSpPr>
            <p:sp>
              <p:nvSpPr>
                <p:cNvPr id="195" name="Arrow: Right 194">
                  <a:extLst>
                    <a:ext uri="{FF2B5EF4-FFF2-40B4-BE49-F238E27FC236}">
                      <a16:creationId xmlns:a16="http://schemas.microsoft.com/office/drawing/2014/main" id="{D03504A9-6B00-7A15-AC13-63BE1363724E}"/>
                    </a:ext>
                  </a:extLst>
                </p:cNvPr>
                <p:cNvSpPr/>
                <p:nvPr/>
              </p:nvSpPr>
              <p:spPr>
                <a:xfrm rot="16200000">
                  <a:off x="6102857" y="802819"/>
                  <a:ext cx="420202" cy="375580"/>
                </a:xfrm>
                <a:prstGeom prst="rightArrow">
                  <a:avLst/>
                </a:prstGeom>
                <a:ln w="19050">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2" name="Rectangle: Rounded Corners 191">
                  <a:extLst>
                    <a:ext uri="{FF2B5EF4-FFF2-40B4-BE49-F238E27FC236}">
                      <a16:creationId xmlns:a16="http://schemas.microsoft.com/office/drawing/2014/main" id="{FE5BE330-01BF-E9C6-CE9E-757E73C8A07F}"/>
                    </a:ext>
                  </a:extLst>
                </p:cNvPr>
                <p:cNvSpPr/>
                <p:nvPr/>
              </p:nvSpPr>
              <p:spPr>
                <a:xfrm>
                  <a:off x="4880519" y="1017875"/>
                  <a:ext cx="3171270" cy="600002"/>
                </a:xfrm>
                <a:prstGeom prst="roundRect">
                  <a:avLst/>
                </a:prstGeom>
                <a:solidFill>
                  <a:schemeClr val="bg1"/>
                </a:solidFill>
                <a:ln w="1905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9" name="Group 198">
                <a:extLst>
                  <a:ext uri="{FF2B5EF4-FFF2-40B4-BE49-F238E27FC236}">
                    <a16:creationId xmlns:a16="http://schemas.microsoft.com/office/drawing/2014/main" id="{6F9D696E-4813-E829-3CA0-5A62FA01F647}"/>
                  </a:ext>
                </a:extLst>
              </p:cNvPr>
              <p:cNvGrpSpPr/>
              <p:nvPr/>
            </p:nvGrpSpPr>
            <p:grpSpPr>
              <a:xfrm>
                <a:off x="4864502" y="1054561"/>
                <a:ext cx="285695" cy="523361"/>
                <a:chOff x="4864502" y="1054561"/>
                <a:chExt cx="285695" cy="523361"/>
              </a:xfrm>
            </p:grpSpPr>
            <p:pic>
              <p:nvPicPr>
                <p:cNvPr id="197" name="Picture 196">
                  <a:extLst>
                    <a:ext uri="{FF2B5EF4-FFF2-40B4-BE49-F238E27FC236}">
                      <a16:creationId xmlns:a16="http://schemas.microsoft.com/office/drawing/2014/main" id="{E412C107-3D14-9B6D-4ADF-AE343C82853C}"/>
                    </a:ext>
                  </a:extLst>
                </p:cNvPr>
                <p:cNvPicPr>
                  <a:picLocks noChangeAspect="1"/>
                </p:cNvPicPr>
                <p:nvPr/>
              </p:nvPicPr>
              <p:blipFill>
                <a:blip r:embed="rId9"/>
                <a:stretch>
                  <a:fillRect/>
                </a:stretch>
              </p:blipFill>
              <p:spPr>
                <a:xfrm>
                  <a:off x="4931116" y="1054561"/>
                  <a:ext cx="211126" cy="211126"/>
                </a:xfrm>
                <a:prstGeom prst="rect">
                  <a:avLst/>
                </a:prstGeom>
              </p:spPr>
            </p:pic>
            <p:pic>
              <p:nvPicPr>
                <p:cNvPr id="198" name="Picture 197">
                  <a:extLst>
                    <a:ext uri="{FF2B5EF4-FFF2-40B4-BE49-F238E27FC236}">
                      <a16:creationId xmlns:a16="http://schemas.microsoft.com/office/drawing/2014/main" id="{7DA63B7A-F76E-EC3A-8A95-F23A6F209747}"/>
                    </a:ext>
                  </a:extLst>
                </p:cNvPr>
                <p:cNvPicPr>
                  <a:picLocks noChangeAspect="1"/>
                </p:cNvPicPr>
                <p:nvPr/>
              </p:nvPicPr>
              <p:blipFill>
                <a:blip r:embed="rId5"/>
                <a:stretch>
                  <a:fillRect/>
                </a:stretch>
              </p:blipFill>
              <p:spPr>
                <a:xfrm>
                  <a:off x="4864502" y="1288928"/>
                  <a:ext cx="285695" cy="288994"/>
                </a:xfrm>
                <a:prstGeom prst="rect">
                  <a:avLst/>
                </a:prstGeom>
              </p:spPr>
            </p:pic>
          </p:grpSp>
        </p:grpSp>
        <p:sp>
          <p:nvSpPr>
            <p:cNvPr id="201" name="TextBox 200">
              <a:extLst>
                <a:ext uri="{FF2B5EF4-FFF2-40B4-BE49-F238E27FC236}">
                  <a16:creationId xmlns:a16="http://schemas.microsoft.com/office/drawing/2014/main" id="{3A2B605D-0269-C656-E608-0B6C1E2E0249}"/>
                </a:ext>
              </a:extLst>
            </p:cNvPr>
            <p:cNvSpPr txBox="1"/>
            <p:nvPr/>
          </p:nvSpPr>
          <p:spPr>
            <a:xfrm>
              <a:off x="5112088" y="1014242"/>
              <a:ext cx="3204142" cy="600164"/>
            </a:xfrm>
            <a:prstGeom prst="rect">
              <a:avLst/>
            </a:prstGeom>
            <a:noFill/>
          </p:spPr>
          <p:txBody>
            <a:bodyPr wrap="square" rtlCol="0">
              <a:spAutoFit/>
            </a:bodyPr>
            <a:lstStyle/>
            <a:p>
              <a:r>
                <a:rPr lang="en-US" sz="1100" b="1" dirty="0"/>
                <a:t>EVT-GARH clustering</a:t>
              </a:r>
            </a:p>
            <a:p>
              <a:pPr marL="171450" indent="-171450">
                <a:buFont typeface="Arial" panose="020B0604020202020204" pitchFamily="34" charset="0"/>
                <a:buChar char="•"/>
              </a:pPr>
              <a:r>
                <a:rPr lang="en-US" sz="1100" dirty="0"/>
                <a:t>Clustering of tail behaviors of CRMs prices</a:t>
              </a:r>
            </a:p>
            <a:p>
              <a:pPr marL="171450" indent="-171450">
                <a:buFont typeface="Arial" panose="020B0604020202020204" pitchFamily="34" charset="0"/>
                <a:buChar char="•"/>
              </a:pPr>
              <a:r>
                <a:rPr lang="en-US" sz="1100" dirty="0"/>
                <a:t>Possible robustness check</a:t>
              </a:r>
            </a:p>
          </p:txBody>
        </p:sp>
      </p:grpSp>
      <p:grpSp>
        <p:nvGrpSpPr>
          <p:cNvPr id="224" name="Group 223">
            <a:extLst>
              <a:ext uri="{FF2B5EF4-FFF2-40B4-BE49-F238E27FC236}">
                <a16:creationId xmlns:a16="http://schemas.microsoft.com/office/drawing/2014/main" id="{A0B97128-C051-FBB7-4833-3EE7A2AD18A3}"/>
              </a:ext>
            </a:extLst>
          </p:cNvPr>
          <p:cNvGrpSpPr/>
          <p:nvPr/>
        </p:nvGrpSpPr>
        <p:grpSpPr>
          <a:xfrm>
            <a:off x="8427175" y="5099890"/>
            <a:ext cx="2116987" cy="1198817"/>
            <a:chOff x="8456595" y="5062219"/>
            <a:chExt cx="1621158" cy="1198817"/>
          </a:xfrm>
        </p:grpSpPr>
        <p:grpSp>
          <p:nvGrpSpPr>
            <p:cNvPr id="203" name="Group 202">
              <a:extLst>
                <a:ext uri="{FF2B5EF4-FFF2-40B4-BE49-F238E27FC236}">
                  <a16:creationId xmlns:a16="http://schemas.microsoft.com/office/drawing/2014/main" id="{27E26015-F32B-63F6-84A1-CD4DC50DF493}"/>
                </a:ext>
              </a:extLst>
            </p:cNvPr>
            <p:cNvGrpSpPr/>
            <p:nvPr/>
          </p:nvGrpSpPr>
          <p:grpSpPr>
            <a:xfrm>
              <a:off x="8590316" y="5208182"/>
              <a:ext cx="1487437" cy="1052854"/>
              <a:chOff x="8821838" y="1812110"/>
              <a:chExt cx="2423287" cy="1052854"/>
            </a:xfrm>
          </p:grpSpPr>
          <p:sp>
            <p:nvSpPr>
              <p:cNvPr id="207" name="Rectangle 206">
                <a:extLst>
                  <a:ext uri="{FF2B5EF4-FFF2-40B4-BE49-F238E27FC236}">
                    <a16:creationId xmlns:a16="http://schemas.microsoft.com/office/drawing/2014/main" id="{F702A791-36FE-F3D6-FA33-DC513C7C6424}"/>
                  </a:ext>
                </a:extLst>
              </p:cNvPr>
              <p:cNvSpPr/>
              <p:nvPr/>
            </p:nvSpPr>
            <p:spPr>
              <a:xfrm>
                <a:off x="8821838" y="1812110"/>
                <a:ext cx="2423287" cy="917507"/>
              </a:xfrm>
              <a:prstGeom prst="rect">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TextBox 207">
                <a:extLst>
                  <a:ext uri="{FF2B5EF4-FFF2-40B4-BE49-F238E27FC236}">
                    <a16:creationId xmlns:a16="http://schemas.microsoft.com/office/drawing/2014/main" id="{2AE1DB6F-7C66-D123-2FB9-59075D2E4C5C}"/>
                  </a:ext>
                </a:extLst>
              </p:cNvPr>
              <p:cNvSpPr txBox="1"/>
              <p:nvPr/>
            </p:nvSpPr>
            <p:spPr>
              <a:xfrm>
                <a:off x="9034666" y="1812110"/>
                <a:ext cx="2210459" cy="461665"/>
              </a:xfrm>
              <a:prstGeom prst="rect">
                <a:avLst/>
              </a:prstGeom>
              <a:noFill/>
            </p:spPr>
            <p:txBody>
              <a:bodyPr wrap="square" rtlCol="0">
                <a:spAutoFit/>
              </a:bodyPr>
              <a:lstStyle/>
              <a:p>
                <a:pPr algn="ctr"/>
                <a:r>
                  <a:rPr lang="en-US" sz="1200" b="1" dirty="0"/>
                  <a:t>Elasticity database</a:t>
                </a:r>
              </a:p>
            </p:txBody>
          </p:sp>
          <p:sp>
            <p:nvSpPr>
              <p:cNvPr id="209" name="TextBox 208">
                <a:extLst>
                  <a:ext uri="{FF2B5EF4-FFF2-40B4-BE49-F238E27FC236}">
                    <a16:creationId xmlns:a16="http://schemas.microsoft.com/office/drawing/2014/main" id="{520F6C43-BC9E-7B49-023C-83A7232B748D}"/>
                  </a:ext>
                </a:extLst>
              </p:cNvPr>
              <p:cNvSpPr txBox="1"/>
              <p:nvPr/>
            </p:nvSpPr>
            <p:spPr>
              <a:xfrm>
                <a:off x="8863316" y="2218633"/>
                <a:ext cx="2381809"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a:t>High/mid/low levels</a:t>
                </a:r>
              </a:p>
              <a:p>
                <a:pPr marL="171450" indent="-171450">
                  <a:buFont typeface="Arial" panose="020B0604020202020204" pitchFamily="34" charset="0"/>
                  <a:buChar char="•"/>
                </a:pPr>
                <a:r>
                  <a:rPr lang="en-US" sz="1200" dirty="0"/>
                  <a:t>Short/long run</a:t>
                </a:r>
              </a:p>
            </p:txBody>
          </p:sp>
        </p:grpSp>
        <p:grpSp>
          <p:nvGrpSpPr>
            <p:cNvPr id="216" name="Group 215">
              <a:extLst>
                <a:ext uri="{FF2B5EF4-FFF2-40B4-BE49-F238E27FC236}">
                  <a16:creationId xmlns:a16="http://schemas.microsoft.com/office/drawing/2014/main" id="{CFA5C778-9E76-DBA0-DB38-06AE37755948}"/>
                </a:ext>
              </a:extLst>
            </p:cNvPr>
            <p:cNvGrpSpPr/>
            <p:nvPr/>
          </p:nvGrpSpPr>
          <p:grpSpPr>
            <a:xfrm>
              <a:off x="8456595" y="5062219"/>
              <a:ext cx="398064" cy="412248"/>
              <a:chOff x="8946794" y="3941764"/>
              <a:chExt cx="501567" cy="512258"/>
            </a:xfrm>
          </p:grpSpPr>
          <p:sp>
            <p:nvSpPr>
              <p:cNvPr id="214" name="Rectangle 213">
                <a:extLst>
                  <a:ext uri="{FF2B5EF4-FFF2-40B4-BE49-F238E27FC236}">
                    <a16:creationId xmlns:a16="http://schemas.microsoft.com/office/drawing/2014/main" id="{C9127396-DE02-E7FD-D6DD-7530302F8C25}"/>
                  </a:ext>
                </a:extLst>
              </p:cNvPr>
              <p:cNvSpPr/>
              <p:nvPr/>
            </p:nvSpPr>
            <p:spPr>
              <a:xfrm>
                <a:off x="8946794" y="3941764"/>
                <a:ext cx="501567" cy="512258"/>
              </a:xfrm>
              <a:prstGeom prst="rect">
                <a:avLst/>
              </a:prstGeom>
              <a:solidFill>
                <a:schemeClr val="bg1"/>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1" name="Picture 210">
                <a:extLst>
                  <a:ext uri="{FF2B5EF4-FFF2-40B4-BE49-F238E27FC236}">
                    <a16:creationId xmlns:a16="http://schemas.microsoft.com/office/drawing/2014/main" id="{900071A3-91D3-776B-B8D9-1A80F23A0DD2}"/>
                  </a:ext>
                </a:extLst>
              </p:cNvPr>
              <p:cNvPicPr>
                <a:picLocks noChangeAspect="1"/>
              </p:cNvPicPr>
              <p:nvPr/>
            </p:nvPicPr>
            <p:blipFill>
              <a:blip r:embed="rId13"/>
              <a:stretch>
                <a:fillRect/>
              </a:stretch>
            </p:blipFill>
            <p:spPr>
              <a:xfrm>
                <a:off x="9001019" y="4011183"/>
                <a:ext cx="355003" cy="442839"/>
              </a:xfrm>
              <a:prstGeom prst="rect">
                <a:avLst/>
              </a:prstGeom>
            </p:spPr>
          </p:pic>
        </p:grpSp>
      </p:grpSp>
      <p:sp>
        <p:nvSpPr>
          <p:cNvPr id="238" name="Oval 237">
            <a:extLst>
              <a:ext uri="{FF2B5EF4-FFF2-40B4-BE49-F238E27FC236}">
                <a16:creationId xmlns:a16="http://schemas.microsoft.com/office/drawing/2014/main" id="{4156F16F-1CEB-2C97-7672-CBCF517FE4DE}"/>
              </a:ext>
            </a:extLst>
          </p:cNvPr>
          <p:cNvSpPr/>
          <p:nvPr/>
        </p:nvSpPr>
        <p:spPr>
          <a:xfrm>
            <a:off x="9795491" y="3160438"/>
            <a:ext cx="2299571" cy="1277273"/>
          </a:xfrm>
          <a:prstGeom prst="ellipse">
            <a:avLst/>
          </a:prstGeom>
          <a:solidFill>
            <a:schemeClr val="accent4">
              <a:lumMod val="40000"/>
              <a:lumOff val="60000"/>
            </a:schemeClr>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SUPPLY DISRUPTION SCENARIOS</a:t>
            </a:r>
          </a:p>
        </p:txBody>
      </p:sp>
      <p:grpSp>
        <p:nvGrpSpPr>
          <p:cNvPr id="22" name="Group 21">
            <a:extLst>
              <a:ext uri="{FF2B5EF4-FFF2-40B4-BE49-F238E27FC236}">
                <a16:creationId xmlns:a16="http://schemas.microsoft.com/office/drawing/2014/main" id="{30201873-0466-D77C-EF1B-7DCC4F59AEEE}"/>
              </a:ext>
            </a:extLst>
          </p:cNvPr>
          <p:cNvGrpSpPr/>
          <p:nvPr/>
        </p:nvGrpSpPr>
        <p:grpSpPr>
          <a:xfrm>
            <a:off x="3061165" y="1703241"/>
            <a:ext cx="2579719" cy="708732"/>
            <a:chOff x="2892203" y="1789561"/>
            <a:chExt cx="2579719" cy="708732"/>
          </a:xfrm>
        </p:grpSpPr>
        <p:sp>
          <p:nvSpPr>
            <p:cNvPr id="21" name="Arrow: Down 20">
              <a:extLst>
                <a:ext uri="{FF2B5EF4-FFF2-40B4-BE49-F238E27FC236}">
                  <a16:creationId xmlns:a16="http://schemas.microsoft.com/office/drawing/2014/main" id="{CC993CB5-638D-94EF-0957-6C0B2CAD38AC}"/>
                </a:ext>
              </a:extLst>
            </p:cNvPr>
            <p:cNvSpPr/>
            <p:nvPr/>
          </p:nvSpPr>
          <p:spPr>
            <a:xfrm rot="16200000">
              <a:off x="5030846" y="1495894"/>
              <a:ext cx="133111" cy="749040"/>
            </a:xfrm>
            <a:prstGeom prst="downArrow">
              <a:avLst/>
            </a:prstGeom>
            <a:solidFill>
              <a:srgbClr val="4472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8DF5013-2BD4-525E-5E5F-BDBDA332CC44}"/>
                </a:ext>
              </a:extLst>
            </p:cNvPr>
            <p:cNvGrpSpPr/>
            <p:nvPr/>
          </p:nvGrpSpPr>
          <p:grpSpPr>
            <a:xfrm>
              <a:off x="2892203" y="1789561"/>
              <a:ext cx="2398359" cy="708732"/>
              <a:chOff x="2797865" y="1624568"/>
              <a:chExt cx="2398359" cy="708732"/>
            </a:xfrm>
          </p:grpSpPr>
          <p:sp>
            <p:nvSpPr>
              <p:cNvPr id="24" name="Rectangle 23">
                <a:extLst>
                  <a:ext uri="{FF2B5EF4-FFF2-40B4-BE49-F238E27FC236}">
                    <a16:creationId xmlns:a16="http://schemas.microsoft.com/office/drawing/2014/main" id="{B0E16A41-71B5-44F6-5DF8-A2698BE3721F}"/>
                  </a:ext>
                </a:extLst>
              </p:cNvPr>
              <p:cNvSpPr/>
              <p:nvPr/>
            </p:nvSpPr>
            <p:spPr>
              <a:xfrm>
                <a:off x="2797865" y="1624568"/>
                <a:ext cx="2398359" cy="708732"/>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r>
                  <a:rPr lang="en-US" sz="1100" dirty="0"/>
                  <a:t>Hierarchical and k-means clustering</a:t>
                </a:r>
              </a:p>
              <a:p>
                <a:r>
                  <a:rPr lang="en-US" sz="1100" dirty="0"/>
                  <a:t>Normalization procedure</a:t>
                </a:r>
              </a:p>
              <a:p>
                <a:r>
                  <a:rPr lang="en-US" sz="1100" dirty="0"/>
                  <a:t>Quality check</a:t>
                </a:r>
              </a:p>
              <a:p>
                <a:r>
                  <a:rPr lang="en-US" sz="1100" dirty="0"/>
                  <a:t>Stability check</a:t>
                </a:r>
              </a:p>
            </p:txBody>
          </p:sp>
          <p:pic>
            <p:nvPicPr>
              <p:cNvPr id="14" name="Picture 13">
                <a:extLst>
                  <a:ext uri="{FF2B5EF4-FFF2-40B4-BE49-F238E27FC236}">
                    <a16:creationId xmlns:a16="http://schemas.microsoft.com/office/drawing/2014/main" id="{AF3B3C07-C4FC-9B3F-AAD8-9709851E8BAE}"/>
                  </a:ext>
                </a:extLst>
              </p:cNvPr>
              <p:cNvPicPr>
                <a:picLocks noChangeAspect="1"/>
              </p:cNvPicPr>
              <p:nvPr/>
            </p:nvPicPr>
            <p:blipFill>
              <a:blip r:embed="rId2"/>
              <a:stretch>
                <a:fillRect/>
              </a:stretch>
            </p:blipFill>
            <p:spPr>
              <a:xfrm>
                <a:off x="4747849" y="2005978"/>
                <a:ext cx="294904" cy="285013"/>
              </a:xfrm>
              <a:prstGeom prst="rect">
                <a:avLst/>
              </a:prstGeom>
            </p:spPr>
          </p:pic>
        </p:grpSp>
      </p:grpSp>
      <p:grpSp>
        <p:nvGrpSpPr>
          <p:cNvPr id="78" name="Group 77">
            <a:extLst>
              <a:ext uri="{FF2B5EF4-FFF2-40B4-BE49-F238E27FC236}">
                <a16:creationId xmlns:a16="http://schemas.microsoft.com/office/drawing/2014/main" id="{4D1CFA12-D51C-47F8-0684-10B9D6D6036E}"/>
              </a:ext>
            </a:extLst>
          </p:cNvPr>
          <p:cNvGrpSpPr/>
          <p:nvPr/>
        </p:nvGrpSpPr>
        <p:grpSpPr>
          <a:xfrm>
            <a:off x="9421091" y="2247163"/>
            <a:ext cx="295564" cy="3006091"/>
            <a:chOff x="9421091" y="2247163"/>
            <a:chExt cx="295564" cy="3006091"/>
          </a:xfrm>
        </p:grpSpPr>
        <p:cxnSp>
          <p:nvCxnSpPr>
            <p:cNvPr id="75" name="Straight Connector 74">
              <a:extLst>
                <a:ext uri="{FF2B5EF4-FFF2-40B4-BE49-F238E27FC236}">
                  <a16:creationId xmlns:a16="http://schemas.microsoft.com/office/drawing/2014/main" id="{9FFF2135-45F2-5522-DC03-B4D9EE8489A5}"/>
                </a:ext>
              </a:extLst>
            </p:cNvPr>
            <p:cNvCxnSpPr/>
            <p:nvPr/>
          </p:nvCxnSpPr>
          <p:spPr>
            <a:xfrm>
              <a:off x="9421091" y="2247163"/>
              <a:ext cx="0" cy="3006091"/>
            </a:xfrm>
            <a:prstGeom prst="line">
              <a:avLst/>
            </a:prstGeom>
            <a:ln w="57150"/>
          </p:spPr>
          <p:style>
            <a:lnRef idx="1">
              <a:schemeClr val="dk1"/>
            </a:lnRef>
            <a:fillRef idx="0">
              <a:schemeClr val="dk1"/>
            </a:fillRef>
            <a:effectRef idx="0">
              <a:schemeClr val="dk1"/>
            </a:effectRef>
            <a:fontRef idx="minor">
              <a:schemeClr val="tx1"/>
            </a:fontRef>
          </p:style>
        </p:cxnSp>
        <p:cxnSp>
          <p:nvCxnSpPr>
            <p:cNvPr id="77" name="Straight Arrow Connector 76">
              <a:extLst>
                <a:ext uri="{FF2B5EF4-FFF2-40B4-BE49-F238E27FC236}">
                  <a16:creationId xmlns:a16="http://schemas.microsoft.com/office/drawing/2014/main" id="{465A5D35-874D-1EC2-E4E2-8CA2F9553C38}"/>
                </a:ext>
              </a:extLst>
            </p:cNvPr>
            <p:cNvCxnSpPr/>
            <p:nvPr/>
          </p:nvCxnSpPr>
          <p:spPr>
            <a:xfrm>
              <a:off x="9421091" y="3803191"/>
              <a:ext cx="295564"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pSp>
      <p:grpSp>
        <p:nvGrpSpPr>
          <p:cNvPr id="16" name="Group 15">
            <a:extLst>
              <a:ext uri="{FF2B5EF4-FFF2-40B4-BE49-F238E27FC236}">
                <a16:creationId xmlns:a16="http://schemas.microsoft.com/office/drawing/2014/main" id="{5D10A0CC-7F0B-BFE6-0A2E-47EE0A060A27}"/>
              </a:ext>
            </a:extLst>
          </p:cNvPr>
          <p:cNvGrpSpPr/>
          <p:nvPr/>
        </p:nvGrpSpPr>
        <p:grpSpPr>
          <a:xfrm>
            <a:off x="1718257" y="1797770"/>
            <a:ext cx="7136212" cy="2673243"/>
            <a:chOff x="2438286" y="1807634"/>
            <a:chExt cx="7136212" cy="2673243"/>
          </a:xfrm>
        </p:grpSpPr>
        <p:grpSp>
          <p:nvGrpSpPr>
            <p:cNvPr id="26" name="Group 25">
              <a:extLst>
                <a:ext uri="{FF2B5EF4-FFF2-40B4-BE49-F238E27FC236}">
                  <a16:creationId xmlns:a16="http://schemas.microsoft.com/office/drawing/2014/main" id="{786C3587-6041-BB72-DDB4-463B6CF54043}"/>
                </a:ext>
              </a:extLst>
            </p:cNvPr>
            <p:cNvGrpSpPr/>
            <p:nvPr/>
          </p:nvGrpSpPr>
          <p:grpSpPr>
            <a:xfrm>
              <a:off x="2438286" y="1807634"/>
              <a:ext cx="7136212" cy="2673243"/>
              <a:chOff x="2592388" y="1806517"/>
              <a:chExt cx="7136212" cy="2673243"/>
            </a:xfrm>
          </p:grpSpPr>
          <p:sp>
            <p:nvSpPr>
              <p:cNvPr id="188" name="Arrow: Bent-Up 187">
                <a:extLst>
                  <a:ext uri="{FF2B5EF4-FFF2-40B4-BE49-F238E27FC236}">
                    <a16:creationId xmlns:a16="http://schemas.microsoft.com/office/drawing/2014/main" id="{5B3DC3B7-7532-FFE7-A0A0-9F6296C60B57}"/>
                  </a:ext>
                </a:extLst>
              </p:cNvPr>
              <p:cNvSpPr/>
              <p:nvPr/>
            </p:nvSpPr>
            <p:spPr>
              <a:xfrm>
                <a:off x="5081051" y="1806517"/>
                <a:ext cx="4647549" cy="1418920"/>
              </a:xfrm>
              <a:prstGeom prst="bentUpArrow">
                <a:avLst>
                  <a:gd name="adj1" fmla="val 2481"/>
                  <a:gd name="adj2" fmla="val 5584"/>
                  <a:gd name="adj3" fmla="val 10021"/>
                </a:avLst>
              </a:prstGeom>
              <a:solidFill>
                <a:schemeClr val="accent6"/>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4" name="Group 193">
                <a:extLst>
                  <a:ext uri="{FF2B5EF4-FFF2-40B4-BE49-F238E27FC236}">
                    <a16:creationId xmlns:a16="http://schemas.microsoft.com/office/drawing/2014/main" id="{1B3FAC71-ABD9-C4D2-578C-106A0EB530D0}"/>
                  </a:ext>
                </a:extLst>
              </p:cNvPr>
              <p:cNvGrpSpPr/>
              <p:nvPr/>
            </p:nvGrpSpPr>
            <p:grpSpPr>
              <a:xfrm>
                <a:off x="2592388" y="2855386"/>
                <a:ext cx="5153593" cy="1624374"/>
                <a:chOff x="2730032" y="2855145"/>
                <a:chExt cx="5153593" cy="1624374"/>
              </a:xfrm>
            </p:grpSpPr>
            <p:grpSp>
              <p:nvGrpSpPr>
                <p:cNvPr id="185" name="Group 184">
                  <a:extLst>
                    <a:ext uri="{FF2B5EF4-FFF2-40B4-BE49-F238E27FC236}">
                      <a16:creationId xmlns:a16="http://schemas.microsoft.com/office/drawing/2014/main" id="{79EEE3EA-F3AF-C1C4-27D1-419084E71CD1}"/>
                    </a:ext>
                  </a:extLst>
                </p:cNvPr>
                <p:cNvGrpSpPr/>
                <p:nvPr/>
              </p:nvGrpSpPr>
              <p:grpSpPr>
                <a:xfrm>
                  <a:off x="2730032" y="2855145"/>
                  <a:ext cx="5153593" cy="1624374"/>
                  <a:chOff x="2730032" y="2855145"/>
                  <a:chExt cx="5153593" cy="1624374"/>
                </a:xfrm>
              </p:grpSpPr>
              <p:sp>
                <p:nvSpPr>
                  <p:cNvPr id="127" name="Arrow: Bent-Up 126">
                    <a:extLst>
                      <a:ext uri="{FF2B5EF4-FFF2-40B4-BE49-F238E27FC236}">
                        <a16:creationId xmlns:a16="http://schemas.microsoft.com/office/drawing/2014/main" id="{7D45DF20-7798-B0F3-8568-3AAA012C2DBC}"/>
                      </a:ext>
                    </a:extLst>
                  </p:cNvPr>
                  <p:cNvSpPr/>
                  <p:nvPr/>
                </p:nvSpPr>
                <p:spPr>
                  <a:xfrm flipV="1">
                    <a:off x="5062294" y="3325473"/>
                    <a:ext cx="2821331" cy="156817"/>
                  </a:xfrm>
                  <a:prstGeom prst="bentUpArrow">
                    <a:avLst/>
                  </a:prstGeom>
                  <a:solidFill>
                    <a:schemeClr val="accent6"/>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1" name="Group 140">
                    <a:extLst>
                      <a:ext uri="{FF2B5EF4-FFF2-40B4-BE49-F238E27FC236}">
                        <a16:creationId xmlns:a16="http://schemas.microsoft.com/office/drawing/2014/main" id="{F172CE9A-F99A-3C2A-61DF-5CC690699790}"/>
                      </a:ext>
                    </a:extLst>
                  </p:cNvPr>
                  <p:cNvGrpSpPr/>
                  <p:nvPr/>
                </p:nvGrpSpPr>
                <p:grpSpPr>
                  <a:xfrm>
                    <a:off x="2730032" y="2855145"/>
                    <a:ext cx="2869094" cy="1624374"/>
                    <a:chOff x="2730032" y="3086046"/>
                    <a:chExt cx="2869094" cy="1624374"/>
                  </a:xfrm>
                </p:grpSpPr>
                <p:grpSp>
                  <p:nvGrpSpPr>
                    <p:cNvPr id="140" name="Group 139">
                      <a:extLst>
                        <a:ext uri="{FF2B5EF4-FFF2-40B4-BE49-F238E27FC236}">
                          <a16:creationId xmlns:a16="http://schemas.microsoft.com/office/drawing/2014/main" id="{024C6B6B-B65B-36AE-4EE5-A7FFACB548CE}"/>
                        </a:ext>
                      </a:extLst>
                    </p:cNvPr>
                    <p:cNvGrpSpPr/>
                    <p:nvPr/>
                  </p:nvGrpSpPr>
                  <p:grpSpPr>
                    <a:xfrm>
                      <a:off x="2730032" y="3086046"/>
                      <a:ext cx="2869094" cy="1624374"/>
                      <a:chOff x="2730032" y="3039713"/>
                      <a:chExt cx="2869094" cy="1624374"/>
                    </a:xfrm>
                  </p:grpSpPr>
                  <p:grpSp>
                    <p:nvGrpSpPr>
                      <p:cNvPr id="110" name="Group 109">
                        <a:extLst>
                          <a:ext uri="{FF2B5EF4-FFF2-40B4-BE49-F238E27FC236}">
                            <a16:creationId xmlns:a16="http://schemas.microsoft.com/office/drawing/2014/main" id="{92E62861-565D-52E3-0E4B-9FE7E09318B8}"/>
                          </a:ext>
                        </a:extLst>
                      </p:cNvPr>
                      <p:cNvGrpSpPr/>
                      <p:nvPr/>
                    </p:nvGrpSpPr>
                    <p:grpSpPr>
                      <a:xfrm>
                        <a:off x="2730032" y="3039713"/>
                        <a:ext cx="2869094" cy="1624374"/>
                        <a:chOff x="6823934" y="2514639"/>
                        <a:chExt cx="2345756" cy="1915806"/>
                      </a:xfrm>
                    </p:grpSpPr>
                    <p:grpSp>
                      <p:nvGrpSpPr>
                        <p:cNvPr id="106" name="Group 105">
                          <a:extLst>
                            <a:ext uri="{FF2B5EF4-FFF2-40B4-BE49-F238E27FC236}">
                              <a16:creationId xmlns:a16="http://schemas.microsoft.com/office/drawing/2014/main" id="{2D2DA474-23BB-DB0C-F9E0-CB44EC2FD08F}"/>
                            </a:ext>
                          </a:extLst>
                        </p:cNvPr>
                        <p:cNvGrpSpPr/>
                        <p:nvPr/>
                      </p:nvGrpSpPr>
                      <p:grpSpPr>
                        <a:xfrm>
                          <a:off x="6823934" y="2514639"/>
                          <a:ext cx="2345756" cy="1915806"/>
                          <a:chOff x="6823934" y="2514639"/>
                          <a:chExt cx="2345756" cy="1915806"/>
                        </a:xfrm>
                      </p:grpSpPr>
                      <p:sp>
                        <p:nvSpPr>
                          <p:cNvPr id="97" name="Scroll: Vertical 96">
                            <a:extLst>
                              <a:ext uri="{FF2B5EF4-FFF2-40B4-BE49-F238E27FC236}">
                                <a16:creationId xmlns:a16="http://schemas.microsoft.com/office/drawing/2014/main" id="{CCED60F1-35D6-EFFB-1F9A-099F4A4CA4E7}"/>
                              </a:ext>
                            </a:extLst>
                          </p:cNvPr>
                          <p:cNvSpPr/>
                          <p:nvPr/>
                        </p:nvSpPr>
                        <p:spPr>
                          <a:xfrm>
                            <a:off x="6823934" y="2514639"/>
                            <a:ext cx="2345756" cy="1915806"/>
                          </a:xfrm>
                          <a:prstGeom prst="verticalScroll">
                            <a:avLst/>
                          </a:prstGeom>
                          <a:solidFill>
                            <a:schemeClr val="accent6">
                              <a:lumMod val="40000"/>
                              <a:lumOff val="60000"/>
                            </a:schemeClr>
                          </a:solidFill>
                          <a:ln w="28575">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3C7AEFDB-2C29-07F8-9974-D2E872FAF6E5}"/>
                              </a:ext>
                            </a:extLst>
                          </p:cNvPr>
                          <p:cNvSpPr txBox="1"/>
                          <p:nvPr/>
                        </p:nvSpPr>
                        <p:spPr>
                          <a:xfrm>
                            <a:off x="7056167" y="2807668"/>
                            <a:ext cx="2113521" cy="307777"/>
                          </a:xfrm>
                          <a:prstGeom prst="rect">
                            <a:avLst/>
                          </a:prstGeom>
                          <a:noFill/>
                        </p:spPr>
                        <p:txBody>
                          <a:bodyPr wrap="square" rtlCol="0">
                            <a:spAutoFit/>
                          </a:bodyPr>
                          <a:lstStyle/>
                          <a:p>
                            <a:pPr algn="ctr"/>
                            <a:r>
                              <a:rPr lang="en-US" sz="1400" b="1" dirty="0"/>
                              <a:t>EU_CRM framework</a:t>
                            </a:r>
                          </a:p>
                        </p:txBody>
                      </p:sp>
                    </p:grpSp>
                    <p:sp>
                      <p:nvSpPr>
                        <p:cNvPr id="107" name="TextBox 106">
                          <a:extLst>
                            <a:ext uri="{FF2B5EF4-FFF2-40B4-BE49-F238E27FC236}">
                              <a16:creationId xmlns:a16="http://schemas.microsoft.com/office/drawing/2014/main" id="{B74D4827-CA6C-8951-0082-50D7FB85CF27}"/>
                            </a:ext>
                          </a:extLst>
                        </p:cNvPr>
                        <p:cNvSpPr txBox="1"/>
                        <p:nvPr/>
                      </p:nvSpPr>
                      <p:spPr>
                        <a:xfrm>
                          <a:off x="7378468" y="3093474"/>
                          <a:ext cx="1629178" cy="544493"/>
                        </a:xfrm>
                        <a:prstGeom prst="rect">
                          <a:avLst/>
                        </a:prstGeom>
                        <a:noFill/>
                      </p:spPr>
                      <p:txBody>
                        <a:bodyPr wrap="square" rtlCol="0">
                          <a:spAutoFit/>
                        </a:bodyPr>
                        <a:lstStyle/>
                        <a:p>
                          <a:r>
                            <a:rPr lang="en-US" sz="1200" dirty="0"/>
                            <a:t>Methodology</a:t>
                          </a:r>
                        </a:p>
                        <a:p>
                          <a:r>
                            <a:rPr lang="en-US" sz="1200" dirty="0"/>
                            <a:t>Projects (RMIS, SCRREEN)</a:t>
                          </a:r>
                        </a:p>
                      </p:txBody>
                    </p:sp>
                    <p:pic>
                      <p:nvPicPr>
                        <p:cNvPr id="108" name="Picture 107">
                          <a:extLst>
                            <a:ext uri="{FF2B5EF4-FFF2-40B4-BE49-F238E27FC236}">
                              <a16:creationId xmlns:a16="http://schemas.microsoft.com/office/drawing/2014/main" id="{24964E79-FC30-1986-89FC-7EF0679DB8C6}"/>
                            </a:ext>
                          </a:extLst>
                        </p:cNvPr>
                        <p:cNvPicPr>
                          <a:picLocks noChangeAspect="1"/>
                        </p:cNvPicPr>
                        <p:nvPr/>
                      </p:nvPicPr>
                      <p:blipFill>
                        <a:blip r:embed="rId8"/>
                        <a:stretch>
                          <a:fillRect/>
                        </a:stretch>
                      </p:blipFill>
                      <p:spPr>
                        <a:xfrm>
                          <a:off x="7069174" y="3687081"/>
                          <a:ext cx="265742" cy="345510"/>
                        </a:xfrm>
                        <a:prstGeom prst="rect">
                          <a:avLst/>
                        </a:prstGeom>
                      </p:spPr>
                    </p:pic>
                    <p:sp>
                      <p:nvSpPr>
                        <p:cNvPr id="109" name="Rectangle: Rounded Corners 108">
                          <a:extLst>
                            <a:ext uri="{FF2B5EF4-FFF2-40B4-BE49-F238E27FC236}">
                              <a16:creationId xmlns:a16="http://schemas.microsoft.com/office/drawing/2014/main" id="{343598A2-F72A-34C2-73C2-6C3A608EFBD9}"/>
                            </a:ext>
                          </a:extLst>
                        </p:cNvPr>
                        <p:cNvSpPr/>
                        <p:nvPr/>
                      </p:nvSpPr>
                      <p:spPr>
                        <a:xfrm>
                          <a:off x="7361048" y="3646501"/>
                          <a:ext cx="1565868" cy="656476"/>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100" dirty="0">
                              <a:solidFill>
                                <a:schemeClr val="tx1"/>
                              </a:solidFill>
                            </a:rPr>
                            <a:t>Supply Risk</a:t>
                          </a:r>
                        </a:p>
                        <a:p>
                          <a:pPr marL="171450" indent="-171450">
                            <a:buFont typeface="Arial" panose="020B0604020202020204" pitchFamily="34" charset="0"/>
                            <a:buChar char="•"/>
                          </a:pPr>
                          <a:r>
                            <a:rPr lang="en-US" sz="1100" dirty="0">
                              <a:solidFill>
                                <a:schemeClr val="tx1"/>
                              </a:solidFill>
                            </a:rPr>
                            <a:t>Economic Importance</a:t>
                          </a:r>
                        </a:p>
                        <a:p>
                          <a:pPr marL="171450" indent="-171450">
                            <a:buFont typeface="Arial" panose="020B0604020202020204" pitchFamily="34" charset="0"/>
                            <a:buChar char="•"/>
                          </a:pPr>
                          <a:r>
                            <a:rPr lang="en-US" sz="1100" dirty="0">
                              <a:solidFill>
                                <a:schemeClr val="tx1"/>
                              </a:solidFill>
                            </a:rPr>
                            <a:t>HHI, SI, IR, EOL</a:t>
                          </a:r>
                          <a:r>
                            <a:rPr lang="en-US" sz="600" dirty="0">
                              <a:solidFill>
                                <a:schemeClr val="tx1"/>
                              </a:solidFill>
                            </a:rPr>
                            <a:t>RIR</a:t>
                          </a:r>
                          <a:endParaRPr lang="en-US" sz="1100" dirty="0">
                            <a:solidFill>
                              <a:schemeClr val="tx1"/>
                            </a:solidFill>
                          </a:endParaRPr>
                        </a:p>
                      </p:txBody>
                    </p:sp>
                  </p:grpSp>
                  <p:pic>
                    <p:nvPicPr>
                      <p:cNvPr id="139" name="Picture 138">
                        <a:extLst>
                          <a:ext uri="{FF2B5EF4-FFF2-40B4-BE49-F238E27FC236}">
                            <a16:creationId xmlns:a16="http://schemas.microsoft.com/office/drawing/2014/main" id="{8B095607-8F36-8711-4627-BA41801FF123}"/>
                          </a:ext>
                        </a:extLst>
                      </p:cNvPr>
                      <p:cNvPicPr>
                        <a:picLocks noChangeAspect="1"/>
                      </p:cNvPicPr>
                      <p:nvPr/>
                    </p:nvPicPr>
                    <p:blipFill>
                      <a:blip r:embed="rId14"/>
                      <a:stretch>
                        <a:fillRect/>
                      </a:stretch>
                    </p:blipFill>
                    <p:spPr>
                      <a:xfrm>
                        <a:off x="3060663" y="3316447"/>
                        <a:ext cx="260085" cy="260085"/>
                      </a:xfrm>
                      <a:prstGeom prst="rect">
                        <a:avLst/>
                      </a:prstGeom>
                    </p:spPr>
                  </p:pic>
                </p:grpSp>
                <p:pic>
                  <p:nvPicPr>
                    <p:cNvPr id="136" name="Picture 135" descr="A red triangle with a white exclamation mark on a yellow rectangular object&#10;&#10;Description automatically generated">
                      <a:extLst>
                        <a:ext uri="{FF2B5EF4-FFF2-40B4-BE49-F238E27FC236}">
                          <a16:creationId xmlns:a16="http://schemas.microsoft.com/office/drawing/2014/main" id="{AD844258-1777-16C3-16D2-541427F37B7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997515" y="4032734"/>
                      <a:ext cx="278807" cy="278807"/>
                    </a:xfrm>
                    <a:prstGeom prst="rect">
                      <a:avLst/>
                    </a:prstGeom>
                  </p:spPr>
                </p:pic>
              </p:grpSp>
            </p:grpSp>
            <p:pic>
              <p:nvPicPr>
                <p:cNvPr id="193" name="Picture 192">
                  <a:extLst>
                    <a:ext uri="{FF2B5EF4-FFF2-40B4-BE49-F238E27FC236}">
                      <a16:creationId xmlns:a16="http://schemas.microsoft.com/office/drawing/2014/main" id="{88B8007F-ED84-550D-F52F-3CDD1DC99EE5}"/>
                    </a:ext>
                  </a:extLst>
                </p:cNvPr>
                <p:cNvPicPr>
                  <a:picLocks noChangeAspect="1"/>
                </p:cNvPicPr>
                <p:nvPr/>
              </p:nvPicPr>
              <p:blipFill>
                <a:blip r:embed="rId2"/>
                <a:stretch>
                  <a:fillRect/>
                </a:stretch>
              </p:blipFill>
              <p:spPr>
                <a:xfrm>
                  <a:off x="3034935" y="3450242"/>
                  <a:ext cx="293875" cy="284019"/>
                </a:xfrm>
                <a:prstGeom prst="rect">
                  <a:avLst/>
                </a:prstGeom>
              </p:spPr>
            </p:pic>
          </p:grpSp>
        </p:grpSp>
        <p:sp>
          <p:nvSpPr>
            <p:cNvPr id="2" name="Arrow: Down 1">
              <a:extLst>
                <a:ext uri="{FF2B5EF4-FFF2-40B4-BE49-F238E27FC236}">
                  <a16:creationId xmlns:a16="http://schemas.microsoft.com/office/drawing/2014/main" id="{2EE416B1-9E74-16F8-9DE9-FF80C1D3BC05}"/>
                </a:ext>
              </a:extLst>
            </p:cNvPr>
            <p:cNvSpPr/>
            <p:nvPr/>
          </p:nvSpPr>
          <p:spPr>
            <a:xfrm rot="5400000" flipH="1">
              <a:off x="8654953" y="1261030"/>
              <a:ext cx="107191" cy="1567729"/>
            </a:xfrm>
            <a:prstGeom prst="downArrow">
              <a:avLst/>
            </a:prstGeom>
            <a:solidFill>
              <a:srgbClr val="70AD47"/>
            </a:solidFill>
            <a:ln>
              <a:solidFill>
                <a:srgbClr val="70AD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6672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C2F102-EDCE-BA7B-6A4E-CE11BF4F35E1}"/>
              </a:ext>
            </a:extLst>
          </p:cNvPr>
          <p:cNvSpPr>
            <a:spLocks noGrp="1"/>
          </p:cNvSpPr>
          <p:nvPr>
            <p:ph idx="13"/>
          </p:nvPr>
        </p:nvSpPr>
        <p:spPr/>
        <p:txBody>
          <a:bodyPr/>
          <a:lstStyle/>
          <a:p>
            <a:r>
              <a:rPr lang="en-US" dirty="0"/>
              <a:t>Starting hypothesis: link between price disruptions and supply disruptions</a:t>
            </a:r>
          </a:p>
          <a:p>
            <a:r>
              <a:rPr lang="en-US" dirty="0"/>
              <a:t>EU_CRM framework</a:t>
            </a:r>
          </a:p>
          <a:p>
            <a:r>
              <a:rPr lang="en-US" dirty="0"/>
              <a:t>CRMs market analysis: </a:t>
            </a:r>
            <a:r>
              <a:rPr lang="en-US" dirty="0">
                <a:sym typeface="Wingdings" panose="05000000000000000000" pitchFamily="2" charset="2"/>
              </a:rPr>
              <a:t> Price disruption scenarios</a:t>
            </a:r>
            <a:endParaRPr lang="en-US" dirty="0"/>
          </a:p>
          <a:p>
            <a:pPr lvl="1"/>
            <a:r>
              <a:rPr lang="en-US" dirty="0"/>
              <a:t>Pre-processing</a:t>
            </a:r>
          </a:p>
          <a:p>
            <a:pPr lvl="1"/>
            <a:r>
              <a:rPr lang="en-US" dirty="0"/>
              <a:t>Clustering</a:t>
            </a:r>
          </a:p>
          <a:p>
            <a:pPr lvl="1"/>
            <a:r>
              <a:rPr lang="en-US" dirty="0"/>
              <a:t>Post-processing</a:t>
            </a:r>
          </a:p>
          <a:p>
            <a:r>
              <a:rPr lang="en-US" dirty="0"/>
              <a:t>Price elasticity of demand and supply:</a:t>
            </a:r>
          </a:p>
          <a:p>
            <a:pPr lvl="1"/>
            <a:r>
              <a:rPr lang="en-US" dirty="0"/>
              <a:t>Literature estimates</a:t>
            </a:r>
          </a:p>
          <a:p>
            <a:pPr lvl="1"/>
            <a:r>
              <a:rPr lang="en-US" dirty="0"/>
              <a:t>Suggested future workflow for EU_CRMs estimation</a:t>
            </a:r>
          </a:p>
          <a:p>
            <a:pPr lvl="1"/>
            <a:r>
              <a:rPr lang="en-US" dirty="0"/>
              <a:t>Elasticity database</a:t>
            </a:r>
          </a:p>
          <a:p>
            <a:r>
              <a:rPr lang="en-US" dirty="0"/>
              <a:t>Supply disruption scenarios:</a:t>
            </a:r>
          </a:p>
          <a:p>
            <a:pPr lvl="1"/>
            <a:r>
              <a:rPr lang="en-US" dirty="0"/>
              <a:t>Aggregation of clustering and elasticity analysis</a:t>
            </a:r>
          </a:p>
          <a:p>
            <a:endParaRPr lang="en-US" dirty="0"/>
          </a:p>
          <a:p>
            <a:endParaRPr lang="en-US" dirty="0"/>
          </a:p>
        </p:txBody>
      </p:sp>
      <p:sp>
        <p:nvSpPr>
          <p:cNvPr id="3" name="Title 2">
            <a:extLst>
              <a:ext uri="{FF2B5EF4-FFF2-40B4-BE49-F238E27FC236}">
                <a16:creationId xmlns:a16="http://schemas.microsoft.com/office/drawing/2014/main" id="{17098C57-DC36-6616-F8AE-124D6BB35E35}"/>
              </a:ext>
            </a:extLst>
          </p:cNvPr>
          <p:cNvSpPr>
            <a:spLocks noGrp="1"/>
          </p:cNvSpPr>
          <p:nvPr>
            <p:ph type="title"/>
          </p:nvPr>
        </p:nvSpPr>
        <p:spPr/>
        <p:txBody>
          <a:bodyPr/>
          <a:lstStyle/>
          <a:p>
            <a:r>
              <a:rPr lang="en-US" dirty="0"/>
              <a:t>Index</a:t>
            </a:r>
          </a:p>
        </p:txBody>
      </p:sp>
    </p:spTree>
    <p:extLst>
      <p:ext uri="{BB962C8B-B14F-4D97-AF65-F5344CB8AC3E}">
        <p14:creationId xmlns:p14="http://schemas.microsoft.com/office/powerpoint/2010/main" val="509762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F8B347-7EA3-E0FC-1505-DF5E2C3208C2}"/>
              </a:ext>
            </a:extLst>
          </p:cNvPr>
          <p:cNvSpPr>
            <a:spLocks noGrp="1"/>
          </p:cNvSpPr>
          <p:nvPr>
            <p:ph type="title"/>
          </p:nvPr>
        </p:nvSpPr>
        <p:spPr/>
        <p:txBody>
          <a:bodyPr/>
          <a:lstStyle/>
          <a:p>
            <a:r>
              <a:rPr lang="en-US" dirty="0"/>
              <a:t>Starting hypothesis and CRMs markets</a:t>
            </a:r>
          </a:p>
        </p:txBody>
      </p:sp>
      <p:grpSp>
        <p:nvGrpSpPr>
          <p:cNvPr id="4" name="Group 3">
            <a:extLst>
              <a:ext uri="{FF2B5EF4-FFF2-40B4-BE49-F238E27FC236}">
                <a16:creationId xmlns:a16="http://schemas.microsoft.com/office/drawing/2014/main" id="{254CFC7C-FE9E-37A2-AE1D-D140C7F86B93}"/>
              </a:ext>
            </a:extLst>
          </p:cNvPr>
          <p:cNvGrpSpPr/>
          <p:nvPr/>
        </p:nvGrpSpPr>
        <p:grpSpPr>
          <a:xfrm>
            <a:off x="732396" y="1873022"/>
            <a:ext cx="4654288" cy="2712937"/>
            <a:chOff x="505758" y="3457092"/>
            <a:chExt cx="2606538" cy="1526967"/>
          </a:xfrm>
        </p:grpSpPr>
        <p:sp>
          <p:nvSpPr>
            <p:cNvPr id="5" name="Oval 33">
              <a:extLst>
                <a:ext uri="{FF2B5EF4-FFF2-40B4-BE49-F238E27FC236}">
                  <a16:creationId xmlns:a16="http://schemas.microsoft.com/office/drawing/2014/main" id="{4D05DDCC-A65C-D33B-827D-36C850E1CF6B}"/>
                </a:ext>
              </a:extLst>
            </p:cNvPr>
            <p:cNvSpPr/>
            <p:nvPr/>
          </p:nvSpPr>
          <p:spPr>
            <a:xfrm>
              <a:off x="616955" y="3457092"/>
              <a:ext cx="2391650" cy="1526967"/>
            </a:xfrm>
            <a:prstGeom prst="roundRect">
              <a:avLst/>
            </a:prstGeom>
            <a:solidFill>
              <a:srgbClr val="FBFED2"/>
            </a:solidFill>
            <a:ln w="19050">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D693EB9B-CE65-50F9-4001-8BBA75DE56AB}"/>
                </a:ext>
              </a:extLst>
            </p:cNvPr>
            <p:cNvGrpSpPr/>
            <p:nvPr/>
          </p:nvGrpSpPr>
          <p:grpSpPr>
            <a:xfrm>
              <a:off x="505758" y="3713432"/>
              <a:ext cx="2606538" cy="915081"/>
              <a:chOff x="505758" y="3713432"/>
              <a:chExt cx="2606538" cy="915081"/>
            </a:xfrm>
          </p:grpSpPr>
          <p:grpSp>
            <p:nvGrpSpPr>
              <p:cNvPr id="7" name="Group 6">
                <a:extLst>
                  <a:ext uri="{FF2B5EF4-FFF2-40B4-BE49-F238E27FC236}">
                    <a16:creationId xmlns:a16="http://schemas.microsoft.com/office/drawing/2014/main" id="{214CE51A-141B-DCF2-5AE9-4B5EBE8BA3AF}"/>
                  </a:ext>
                </a:extLst>
              </p:cNvPr>
              <p:cNvGrpSpPr/>
              <p:nvPr/>
            </p:nvGrpSpPr>
            <p:grpSpPr>
              <a:xfrm>
                <a:off x="505758" y="3713432"/>
                <a:ext cx="2606538" cy="485247"/>
                <a:chOff x="607358" y="3565651"/>
                <a:chExt cx="2606538" cy="485247"/>
              </a:xfrm>
            </p:grpSpPr>
            <p:sp>
              <p:nvSpPr>
                <p:cNvPr id="11" name="TextBox 10">
                  <a:extLst>
                    <a:ext uri="{FF2B5EF4-FFF2-40B4-BE49-F238E27FC236}">
                      <a16:creationId xmlns:a16="http://schemas.microsoft.com/office/drawing/2014/main" id="{0703F633-C575-B15D-3A52-B7E3D3D67CEB}"/>
                    </a:ext>
                  </a:extLst>
                </p:cNvPr>
                <p:cNvSpPr txBox="1"/>
                <p:nvPr/>
              </p:nvSpPr>
              <p:spPr>
                <a:xfrm>
                  <a:off x="607358" y="3565651"/>
                  <a:ext cx="2606538" cy="287489"/>
                </a:xfrm>
                <a:prstGeom prst="roundRect">
                  <a:avLst/>
                </a:prstGeom>
                <a:noFill/>
              </p:spPr>
              <p:txBody>
                <a:bodyPr wrap="square" rtlCol="0">
                  <a:spAutoFit/>
                </a:bodyPr>
                <a:lstStyle/>
                <a:p>
                  <a:pPr algn="ctr"/>
                  <a:r>
                    <a:rPr lang="en-US" sz="2400" dirty="0"/>
                    <a:t>CRMs global real prices</a:t>
                  </a:r>
                </a:p>
              </p:txBody>
            </p:sp>
            <p:sp>
              <p:nvSpPr>
                <p:cNvPr id="12" name="TextBox 11">
                  <a:extLst>
                    <a:ext uri="{FF2B5EF4-FFF2-40B4-BE49-F238E27FC236}">
                      <a16:creationId xmlns:a16="http://schemas.microsoft.com/office/drawing/2014/main" id="{B6E7CB05-B92C-5DFB-8A4C-978EE342DE60}"/>
                    </a:ext>
                  </a:extLst>
                </p:cNvPr>
                <p:cNvSpPr txBox="1"/>
                <p:nvPr/>
              </p:nvSpPr>
              <p:spPr>
                <a:xfrm>
                  <a:off x="1318413" y="3840072"/>
                  <a:ext cx="1183331" cy="210826"/>
                </a:xfrm>
                <a:prstGeom prst="roundRect">
                  <a:avLst/>
                </a:prstGeom>
                <a:noFill/>
              </p:spPr>
              <p:txBody>
                <a:bodyPr wrap="square" rtlCol="0">
                  <a:spAutoFit/>
                </a:bodyPr>
                <a:lstStyle/>
                <a:p>
                  <a:pPr algn="ctr"/>
                  <a:r>
                    <a:rPr lang="en-US" sz="1600" dirty="0">
                      <a:solidFill>
                        <a:schemeClr val="accent1"/>
                      </a:solidFill>
                    </a:rPr>
                    <a:t>Source: USGS</a:t>
                  </a:r>
                </a:p>
              </p:txBody>
            </p:sp>
          </p:grpSp>
          <p:grpSp>
            <p:nvGrpSpPr>
              <p:cNvPr id="8" name="Group 7">
                <a:extLst>
                  <a:ext uri="{FF2B5EF4-FFF2-40B4-BE49-F238E27FC236}">
                    <a16:creationId xmlns:a16="http://schemas.microsoft.com/office/drawing/2014/main" id="{7BA47352-C0F4-78BE-2FE4-2D5B765971C7}"/>
                  </a:ext>
                </a:extLst>
              </p:cNvPr>
              <p:cNvGrpSpPr/>
              <p:nvPr/>
            </p:nvGrpSpPr>
            <p:grpSpPr>
              <a:xfrm>
                <a:off x="1301380" y="4220576"/>
                <a:ext cx="963222" cy="407937"/>
                <a:chOff x="1357952" y="4274082"/>
                <a:chExt cx="963222" cy="407937"/>
              </a:xfrm>
            </p:grpSpPr>
            <p:pic>
              <p:nvPicPr>
                <p:cNvPr id="9" name="Picture 8">
                  <a:extLst>
                    <a:ext uri="{FF2B5EF4-FFF2-40B4-BE49-F238E27FC236}">
                      <a16:creationId xmlns:a16="http://schemas.microsoft.com/office/drawing/2014/main" id="{31C8E45A-792C-5616-4444-78DDB038A1A1}"/>
                    </a:ext>
                  </a:extLst>
                </p:cNvPr>
                <p:cNvPicPr>
                  <a:picLocks noChangeAspect="1"/>
                </p:cNvPicPr>
                <p:nvPr/>
              </p:nvPicPr>
              <p:blipFill>
                <a:blip r:embed="rId2"/>
                <a:stretch>
                  <a:fillRect/>
                </a:stretch>
              </p:blipFill>
              <p:spPr>
                <a:xfrm>
                  <a:off x="1357952" y="4340843"/>
                  <a:ext cx="341175" cy="341176"/>
                </a:xfrm>
                <a:prstGeom prst="roundRect">
                  <a:avLst/>
                </a:prstGeom>
              </p:spPr>
            </p:pic>
            <p:pic>
              <p:nvPicPr>
                <p:cNvPr id="10" name="Picture 9">
                  <a:extLst>
                    <a:ext uri="{FF2B5EF4-FFF2-40B4-BE49-F238E27FC236}">
                      <a16:creationId xmlns:a16="http://schemas.microsoft.com/office/drawing/2014/main" id="{E7B76A55-DF44-B678-7DAB-0F819E6E0E6D}"/>
                    </a:ext>
                  </a:extLst>
                </p:cNvPr>
                <p:cNvPicPr>
                  <a:picLocks noChangeAspect="1"/>
                </p:cNvPicPr>
                <p:nvPr/>
              </p:nvPicPr>
              <p:blipFill>
                <a:blip r:embed="rId3"/>
                <a:stretch>
                  <a:fillRect/>
                </a:stretch>
              </p:blipFill>
              <p:spPr>
                <a:xfrm>
                  <a:off x="1936570" y="4274082"/>
                  <a:ext cx="384604" cy="384604"/>
                </a:xfrm>
                <a:prstGeom prst="roundRect">
                  <a:avLst/>
                </a:prstGeom>
              </p:spPr>
            </p:pic>
          </p:grpSp>
        </p:grpSp>
      </p:grpSp>
      <p:grpSp>
        <p:nvGrpSpPr>
          <p:cNvPr id="15" name="Group 14">
            <a:extLst>
              <a:ext uri="{FF2B5EF4-FFF2-40B4-BE49-F238E27FC236}">
                <a16:creationId xmlns:a16="http://schemas.microsoft.com/office/drawing/2014/main" id="{5A1B2DB0-ECE6-5C88-A7E8-98EFE0B91695}"/>
              </a:ext>
            </a:extLst>
          </p:cNvPr>
          <p:cNvGrpSpPr/>
          <p:nvPr/>
        </p:nvGrpSpPr>
        <p:grpSpPr>
          <a:xfrm>
            <a:off x="6754527" y="2547573"/>
            <a:ext cx="3876527" cy="1363837"/>
            <a:chOff x="810857" y="989668"/>
            <a:chExt cx="2404279" cy="798230"/>
          </a:xfrm>
        </p:grpSpPr>
        <p:grpSp>
          <p:nvGrpSpPr>
            <p:cNvPr id="16" name="Group 15">
              <a:extLst>
                <a:ext uri="{FF2B5EF4-FFF2-40B4-BE49-F238E27FC236}">
                  <a16:creationId xmlns:a16="http://schemas.microsoft.com/office/drawing/2014/main" id="{147D5394-902E-787F-7992-4800E166EC51}"/>
                </a:ext>
              </a:extLst>
            </p:cNvPr>
            <p:cNvGrpSpPr/>
            <p:nvPr/>
          </p:nvGrpSpPr>
          <p:grpSpPr>
            <a:xfrm>
              <a:off x="810857" y="989668"/>
              <a:ext cx="2404279" cy="798230"/>
              <a:chOff x="778097" y="952930"/>
              <a:chExt cx="1939800" cy="525536"/>
            </a:xfrm>
          </p:grpSpPr>
          <p:sp>
            <p:nvSpPr>
              <p:cNvPr id="20" name="Rectangle 19">
                <a:extLst>
                  <a:ext uri="{FF2B5EF4-FFF2-40B4-BE49-F238E27FC236}">
                    <a16:creationId xmlns:a16="http://schemas.microsoft.com/office/drawing/2014/main" id="{23C9865D-BAE5-2FA2-A516-6ED8ABDF1452}"/>
                  </a:ext>
                </a:extLst>
              </p:cNvPr>
              <p:cNvSpPr/>
              <p:nvPr/>
            </p:nvSpPr>
            <p:spPr>
              <a:xfrm>
                <a:off x="778097" y="952930"/>
                <a:ext cx="1939800" cy="525536"/>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r>
                  <a:rPr lang="en-US" sz="1600" dirty="0"/>
                  <a:t>Market volatility in long/short term:</a:t>
                </a:r>
              </a:p>
              <a:p>
                <a:pPr marL="171450" indent="-171450">
                  <a:buFont typeface="Arial" panose="020B0604020202020204" pitchFamily="34" charset="0"/>
                  <a:buChar char="•"/>
                </a:pPr>
                <a:r>
                  <a:rPr lang="en-US" sz="1600" dirty="0"/>
                  <a:t>Log returns (DERA)</a:t>
                </a:r>
              </a:p>
              <a:p>
                <a:pPr marL="171450" indent="-171450">
                  <a:buFont typeface="Arial" panose="020B0604020202020204" pitchFamily="34" charset="0"/>
                  <a:buChar char="•"/>
                </a:pPr>
                <a:r>
                  <a:rPr lang="en-US" sz="1600" dirty="0"/>
                  <a:t>Rolling </a:t>
                </a:r>
                <a:r>
                  <a:rPr lang="el-GR" sz="1600" dirty="0"/>
                  <a:t>Δ</a:t>
                </a:r>
                <a:r>
                  <a:rPr lang="it-IT" sz="1600" dirty="0"/>
                  <a:t>-windows</a:t>
                </a:r>
                <a:endParaRPr lang="en-US" sz="1600" dirty="0"/>
              </a:p>
              <a:p>
                <a:pPr marL="171450" indent="-171450">
                  <a:buFont typeface="Arial" panose="020B0604020202020204" pitchFamily="34" charset="0"/>
                  <a:buChar char="•"/>
                </a:pPr>
                <a:r>
                  <a:rPr lang="en-US" sz="1600" dirty="0"/>
                  <a:t>EVT-GARCH</a:t>
                </a:r>
              </a:p>
            </p:txBody>
          </p:sp>
          <p:pic>
            <p:nvPicPr>
              <p:cNvPr id="21" name="Picture 20">
                <a:extLst>
                  <a:ext uri="{FF2B5EF4-FFF2-40B4-BE49-F238E27FC236}">
                    <a16:creationId xmlns:a16="http://schemas.microsoft.com/office/drawing/2014/main" id="{913C1D24-04CE-1361-5356-A85FAFF6AF31}"/>
                  </a:ext>
                </a:extLst>
              </p:cNvPr>
              <p:cNvPicPr>
                <a:picLocks noChangeAspect="1"/>
              </p:cNvPicPr>
              <p:nvPr/>
            </p:nvPicPr>
            <p:blipFill>
              <a:blip r:embed="rId4"/>
              <a:stretch>
                <a:fillRect/>
              </a:stretch>
            </p:blipFill>
            <p:spPr>
              <a:xfrm>
                <a:off x="1851664" y="1266388"/>
                <a:ext cx="190974" cy="159489"/>
              </a:xfrm>
              <a:prstGeom prst="rect">
                <a:avLst/>
              </a:prstGeom>
            </p:spPr>
          </p:pic>
        </p:grpSp>
        <p:grpSp>
          <p:nvGrpSpPr>
            <p:cNvPr id="17" name="Group 16">
              <a:extLst>
                <a:ext uri="{FF2B5EF4-FFF2-40B4-BE49-F238E27FC236}">
                  <a16:creationId xmlns:a16="http://schemas.microsoft.com/office/drawing/2014/main" id="{EC6CB137-D77E-A5AD-AE08-F81A3C4DBF0F}"/>
                </a:ext>
              </a:extLst>
            </p:cNvPr>
            <p:cNvGrpSpPr/>
            <p:nvPr/>
          </p:nvGrpSpPr>
          <p:grpSpPr>
            <a:xfrm>
              <a:off x="2507570" y="1246119"/>
              <a:ext cx="663526" cy="531440"/>
              <a:chOff x="2174690" y="998831"/>
              <a:chExt cx="563380" cy="453695"/>
            </a:xfrm>
          </p:grpSpPr>
          <p:pic>
            <p:nvPicPr>
              <p:cNvPr id="18" name="Picture 17">
                <a:extLst>
                  <a:ext uri="{FF2B5EF4-FFF2-40B4-BE49-F238E27FC236}">
                    <a16:creationId xmlns:a16="http://schemas.microsoft.com/office/drawing/2014/main" id="{5DCB095D-EBA2-9BD0-883E-48B64B36EEAC}"/>
                  </a:ext>
                </a:extLst>
              </p:cNvPr>
              <p:cNvPicPr>
                <a:picLocks noChangeAspect="1"/>
              </p:cNvPicPr>
              <p:nvPr/>
            </p:nvPicPr>
            <p:blipFill>
              <a:blip r:embed="rId5"/>
              <a:stretch>
                <a:fillRect/>
              </a:stretch>
            </p:blipFill>
            <p:spPr>
              <a:xfrm>
                <a:off x="2174690" y="998831"/>
                <a:ext cx="192825" cy="199774"/>
              </a:xfrm>
              <a:prstGeom prst="rect">
                <a:avLst/>
              </a:prstGeom>
            </p:spPr>
          </p:pic>
          <p:pic>
            <p:nvPicPr>
              <p:cNvPr id="19" name="Picture 18">
                <a:extLst>
                  <a:ext uri="{FF2B5EF4-FFF2-40B4-BE49-F238E27FC236}">
                    <a16:creationId xmlns:a16="http://schemas.microsoft.com/office/drawing/2014/main" id="{5FAEFDFC-F9DE-8930-5DA4-67F6B1ED1F93}"/>
                  </a:ext>
                </a:extLst>
              </p:cNvPr>
              <p:cNvPicPr>
                <a:picLocks noChangeAspect="1"/>
              </p:cNvPicPr>
              <p:nvPr/>
            </p:nvPicPr>
            <p:blipFill>
              <a:blip r:embed="rId6"/>
              <a:stretch>
                <a:fillRect/>
              </a:stretch>
            </p:blipFill>
            <p:spPr>
              <a:xfrm>
                <a:off x="2477369" y="1163626"/>
                <a:ext cx="260701" cy="288900"/>
              </a:xfrm>
              <a:prstGeom prst="rect">
                <a:avLst/>
              </a:prstGeom>
            </p:spPr>
          </p:pic>
        </p:grpSp>
      </p:grpSp>
    </p:spTree>
    <p:extLst>
      <p:ext uri="{BB962C8B-B14F-4D97-AF65-F5344CB8AC3E}">
        <p14:creationId xmlns:p14="http://schemas.microsoft.com/office/powerpoint/2010/main" val="443312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F159D2-7BD9-EC16-A7B1-1F4B93E91F0F}"/>
              </a:ext>
            </a:extLst>
          </p:cNvPr>
          <p:cNvSpPr>
            <a:spLocks noGrp="1"/>
          </p:cNvSpPr>
          <p:nvPr>
            <p:ph idx="13"/>
          </p:nvPr>
        </p:nvSpPr>
        <p:spPr/>
        <p:txBody>
          <a:bodyPr>
            <a:normAutofit fontScale="92500" lnSpcReduction="20000"/>
          </a:bodyPr>
          <a:lstStyle/>
          <a:p>
            <a:pPr marL="0" indent="0">
              <a:buNone/>
            </a:pPr>
            <a:r>
              <a:rPr lang="en-US" dirty="0"/>
              <a:t>We start our analysis from the hypothesis that the </a:t>
            </a:r>
            <a:r>
              <a:rPr lang="en-US" b="1" dirty="0"/>
              <a:t>CRMs supply disruption events are linked to CRMs extreme price events</a:t>
            </a:r>
            <a:r>
              <a:rPr lang="en-US" dirty="0"/>
              <a:t>:</a:t>
            </a:r>
          </a:p>
          <a:p>
            <a:pPr marL="0" indent="0">
              <a:buNone/>
            </a:pPr>
            <a:endParaRPr lang="en-US" dirty="0"/>
          </a:p>
          <a:p>
            <a:r>
              <a:rPr lang="en-US" i="1" dirty="0"/>
              <a:t>Definition of supply disruption</a:t>
            </a:r>
          </a:p>
          <a:p>
            <a:r>
              <a:rPr lang="en-US" i="1" dirty="0"/>
              <a:t>Concept of risk, probability of risk, vulnerability, criticality in CRMs framework</a:t>
            </a:r>
          </a:p>
          <a:p>
            <a:r>
              <a:rPr lang="en-US" i="1" dirty="0"/>
              <a:t>CRMs markets and their correlation with crude oil market</a:t>
            </a:r>
          </a:p>
          <a:p>
            <a:r>
              <a:rPr lang="en-US" i="1" dirty="0"/>
              <a:t>Drivers of CRMs supply crises events in history</a:t>
            </a:r>
          </a:p>
          <a:p>
            <a:r>
              <a:rPr lang="en-US" i="1" dirty="0"/>
              <a:t>What can we define as an extreme event?</a:t>
            </a:r>
          </a:p>
          <a:p>
            <a:r>
              <a:rPr lang="en-US" i="1" dirty="0"/>
              <a:t>How the supply/demand function is related to price function, in global and non-perfect markets?</a:t>
            </a:r>
          </a:p>
          <a:p>
            <a:endParaRPr lang="en-US" dirty="0"/>
          </a:p>
          <a:p>
            <a:endParaRPr lang="en-US" dirty="0"/>
          </a:p>
          <a:p>
            <a:pPr marL="0" indent="0">
              <a:buNone/>
            </a:pPr>
            <a:r>
              <a:rPr lang="en-US" dirty="0"/>
              <a:t>These are the main questions studied in the first part of the analysis, from a literature review on the criticality concept, geopolitical and macro-economical drivers, and statistical definition of “extreme”</a:t>
            </a:r>
          </a:p>
          <a:p>
            <a:endParaRPr lang="en-US" dirty="0"/>
          </a:p>
        </p:txBody>
      </p:sp>
      <p:sp>
        <p:nvSpPr>
          <p:cNvPr id="3" name="Title 2">
            <a:extLst>
              <a:ext uri="{FF2B5EF4-FFF2-40B4-BE49-F238E27FC236}">
                <a16:creationId xmlns:a16="http://schemas.microsoft.com/office/drawing/2014/main" id="{E963A52C-83FE-03C7-9291-25AE172317DC}"/>
              </a:ext>
            </a:extLst>
          </p:cNvPr>
          <p:cNvSpPr>
            <a:spLocks noGrp="1"/>
          </p:cNvSpPr>
          <p:nvPr>
            <p:ph type="title"/>
          </p:nvPr>
        </p:nvSpPr>
        <p:spPr/>
        <p:txBody>
          <a:bodyPr/>
          <a:lstStyle/>
          <a:p>
            <a:r>
              <a:rPr lang="en-US" dirty="0"/>
              <a:t>Starting hypothesis</a:t>
            </a:r>
          </a:p>
        </p:txBody>
      </p:sp>
      <p:pic>
        <p:nvPicPr>
          <p:cNvPr id="4" name="Picture 3">
            <a:extLst>
              <a:ext uri="{FF2B5EF4-FFF2-40B4-BE49-F238E27FC236}">
                <a16:creationId xmlns:a16="http://schemas.microsoft.com/office/drawing/2014/main" id="{48C9C026-D805-7156-28EB-24C7AFEEAE01}"/>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3719180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F159D2-7BD9-EC16-A7B1-1F4B93E91F0F}"/>
              </a:ext>
            </a:extLst>
          </p:cNvPr>
          <p:cNvSpPr>
            <a:spLocks noGrp="1"/>
          </p:cNvSpPr>
          <p:nvPr>
            <p:ph idx="13"/>
          </p:nvPr>
        </p:nvSpPr>
        <p:spPr/>
        <p:txBody>
          <a:bodyPr>
            <a:normAutofit/>
          </a:bodyPr>
          <a:lstStyle/>
          <a:p>
            <a:pPr marL="0" indent="0">
              <a:buNone/>
            </a:pPr>
            <a:r>
              <a:rPr lang="en-US" dirty="0">
                <a:solidFill>
                  <a:schemeClr val="accent1"/>
                </a:solidFill>
              </a:rPr>
              <a:t>Price as fingerprint of supply-chain health:</a:t>
            </a:r>
            <a:endParaRPr lang="en-US" dirty="0"/>
          </a:p>
          <a:p>
            <a:r>
              <a:rPr lang="en-US" dirty="0"/>
              <a:t>“</a:t>
            </a:r>
            <a:r>
              <a:rPr lang="en-US" b="1" dirty="0"/>
              <a:t>Price volatility represents the greatest risk</a:t>
            </a:r>
            <a:r>
              <a:rPr lang="en-US" dirty="0"/>
              <a:t>” in industry framework – DERA, 2021</a:t>
            </a:r>
          </a:p>
          <a:p>
            <a:pPr lvl="1"/>
            <a:r>
              <a:rPr lang="en-US" dirty="0"/>
              <a:t>monitoring and mitigation strategies (diversification, recycling) are essential parts of raw materials risk management</a:t>
            </a:r>
          </a:p>
          <a:p>
            <a:pPr lvl="1"/>
            <a:r>
              <a:rPr lang="en-US" dirty="0"/>
              <a:t>Analyzed through log-returns of market prices (in short and log terms), </a:t>
            </a:r>
            <a:r>
              <a:rPr lang="it-IT" dirty="0">
                <a:hlinkClick r:id="rId2"/>
              </a:rPr>
              <a:t>DERA ROSYS</a:t>
            </a:r>
            <a:endParaRPr lang="en-US" dirty="0"/>
          </a:p>
          <a:p>
            <a:pPr marL="342000" lvl="1" indent="0">
              <a:buNone/>
            </a:pPr>
            <a:endParaRPr lang="en-US" dirty="0"/>
          </a:p>
          <a:p>
            <a:r>
              <a:rPr lang="en-US" dirty="0"/>
              <a:t>“Price changes are determined by interactions between demand growth, mining productivity, and resource quality” - </a:t>
            </a:r>
            <a:r>
              <a:rPr lang="en-US" dirty="0" err="1"/>
              <a:t>Bhuwalka</a:t>
            </a:r>
            <a:r>
              <a:rPr lang="en-US" dirty="0"/>
              <a:t> et al (JIE), 2023</a:t>
            </a:r>
          </a:p>
          <a:p>
            <a:pPr lvl="1"/>
            <a:r>
              <a:rPr lang="en-US" dirty="0"/>
              <a:t>substitutes and large recycling rates reduce the prevalence of price risk</a:t>
            </a:r>
          </a:p>
          <a:p>
            <a:pPr marL="342000" lvl="1" indent="0">
              <a:buNone/>
            </a:pPr>
            <a:endParaRPr lang="en-US" dirty="0"/>
          </a:p>
          <a:p>
            <a:endParaRPr lang="en-US" dirty="0"/>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E963A52C-83FE-03C7-9291-25AE172317DC}"/>
              </a:ext>
            </a:extLst>
          </p:cNvPr>
          <p:cNvSpPr>
            <a:spLocks noGrp="1"/>
          </p:cNvSpPr>
          <p:nvPr>
            <p:ph type="title"/>
          </p:nvPr>
        </p:nvSpPr>
        <p:spPr/>
        <p:txBody>
          <a:bodyPr/>
          <a:lstStyle/>
          <a:p>
            <a:r>
              <a:rPr lang="en-US" dirty="0"/>
              <a:t>Starting hypothesis – Price volatility in CRMs markets</a:t>
            </a:r>
          </a:p>
        </p:txBody>
      </p:sp>
      <p:pic>
        <p:nvPicPr>
          <p:cNvPr id="4" name="Picture 3">
            <a:extLst>
              <a:ext uri="{FF2B5EF4-FFF2-40B4-BE49-F238E27FC236}">
                <a16:creationId xmlns:a16="http://schemas.microsoft.com/office/drawing/2014/main" id="{C8BF9BEB-E00D-8ED5-7808-D65B411A464F}"/>
              </a:ext>
            </a:extLst>
          </p:cNvPr>
          <p:cNvPicPr>
            <a:picLocks noChangeAspect="1"/>
          </p:cNvPicPr>
          <p:nvPr/>
        </p:nvPicPr>
        <p:blipFill>
          <a:blip r:embed="rId3"/>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2594504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0FE4DB-6BC2-BC78-8B37-64596BFA2076}"/>
              </a:ext>
            </a:extLst>
          </p:cNvPr>
          <p:cNvSpPr>
            <a:spLocks noGrp="1"/>
          </p:cNvSpPr>
          <p:nvPr>
            <p:ph idx="13"/>
          </p:nvPr>
        </p:nvSpPr>
        <p:spPr/>
        <p:txBody>
          <a:bodyPr/>
          <a:lstStyle/>
          <a:p>
            <a:pPr marL="0" indent="0">
              <a:buNone/>
            </a:pPr>
            <a:r>
              <a:rPr lang="en-US" dirty="0">
                <a:solidFill>
                  <a:schemeClr val="accent1"/>
                </a:solidFill>
              </a:rPr>
              <a:t>Price as fingerprint of supply-chain health:</a:t>
            </a:r>
            <a:endParaRPr lang="en-US" dirty="0"/>
          </a:p>
          <a:p>
            <a:pPr marL="0" indent="0">
              <a:buNone/>
            </a:pPr>
            <a:endParaRPr lang="en-US" dirty="0"/>
          </a:p>
          <a:p>
            <a:r>
              <a:rPr lang="en-US" dirty="0"/>
              <a:t>“Significant </a:t>
            </a:r>
            <a:r>
              <a:rPr lang="en-US" b="1" dirty="0"/>
              <a:t>heterogeneity in ETM volatility</a:t>
            </a:r>
            <a:r>
              <a:rPr lang="en-US" dirty="0"/>
              <a:t>… neither GARCH nor a single SV specification systematically prevails” – </a:t>
            </a:r>
            <a:r>
              <a:rPr lang="en-US" dirty="0" err="1"/>
              <a:t>Bastianin</a:t>
            </a:r>
            <a:r>
              <a:rPr lang="en-US" dirty="0"/>
              <a:t> et al, 2025</a:t>
            </a:r>
          </a:p>
          <a:p>
            <a:pPr lvl="1"/>
            <a:r>
              <a:rPr lang="en-US" b="1" dirty="0"/>
              <a:t>No single model dominates</a:t>
            </a:r>
          </a:p>
          <a:p>
            <a:pPr lvl="1"/>
            <a:r>
              <a:rPr lang="en-US" dirty="0"/>
              <a:t>Study on short-term volatility</a:t>
            </a:r>
          </a:p>
          <a:p>
            <a:pPr lvl="1"/>
            <a:endParaRPr lang="en-US" dirty="0"/>
          </a:p>
          <a:p>
            <a:r>
              <a:rPr lang="en-US" b="0" dirty="0"/>
              <a:t>According to IEA, the </a:t>
            </a:r>
            <a:r>
              <a:rPr lang="en-US" b="1" dirty="0"/>
              <a:t>price volatility is embedded with critical raw materials</a:t>
            </a:r>
            <a:r>
              <a:rPr lang="en-US" b="0" dirty="0"/>
              <a:t>, as for crude oil prices. This is mainly related with the interdependency of markets not only within the same sector</a:t>
            </a:r>
            <a:endParaRPr lang="en-US" dirty="0"/>
          </a:p>
          <a:p>
            <a:endParaRPr lang="en-US" dirty="0"/>
          </a:p>
        </p:txBody>
      </p:sp>
      <p:sp>
        <p:nvSpPr>
          <p:cNvPr id="3" name="Title 2">
            <a:extLst>
              <a:ext uri="{FF2B5EF4-FFF2-40B4-BE49-F238E27FC236}">
                <a16:creationId xmlns:a16="http://schemas.microsoft.com/office/drawing/2014/main" id="{604B78F7-5E35-DFEB-AB8A-030E5DB72FB5}"/>
              </a:ext>
            </a:extLst>
          </p:cNvPr>
          <p:cNvSpPr>
            <a:spLocks noGrp="1"/>
          </p:cNvSpPr>
          <p:nvPr>
            <p:ph type="title"/>
          </p:nvPr>
        </p:nvSpPr>
        <p:spPr/>
        <p:txBody>
          <a:bodyPr/>
          <a:lstStyle/>
          <a:p>
            <a:r>
              <a:rPr lang="en-US" dirty="0"/>
              <a:t>Starting hypothesis – Price volatility in CRMs markets</a:t>
            </a:r>
          </a:p>
        </p:txBody>
      </p:sp>
      <p:pic>
        <p:nvPicPr>
          <p:cNvPr id="4" name="Picture 3">
            <a:extLst>
              <a:ext uri="{FF2B5EF4-FFF2-40B4-BE49-F238E27FC236}">
                <a16:creationId xmlns:a16="http://schemas.microsoft.com/office/drawing/2014/main" id="{D067E1A0-13A8-C693-986C-C527A0FBB517}"/>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3582378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D6EB049-53A2-6E30-D8E6-27D6DD1DD8AF}"/>
                  </a:ext>
                </a:extLst>
              </p:cNvPr>
              <p:cNvSpPr>
                <a:spLocks noGrp="1"/>
              </p:cNvSpPr>
              <p:nvPr>
                <p:ph idx="13"/>
              </p:nvPr>
            </p:nvSpPr>
            <p:spPr/>
            <p:txBody>
              <a:bodyPr/>
              <a:lstStyle/>
              <a:p>
                <a:pPr marL="0" indent="0">
                  <a:buNone/>
                </a:pPr>
                <a:r>
                  <a:rPr lang="en-US" dirty="0"/>
                  <a:t>With the stated hypothesis, the analysis starts from defining the raw materials prices database</a:t>
                </a:r>
              </a:p>
              <a:p>
                <a:r>
                  <a:rPr lang="en-US" dirty="0"/>
                  <a:t>USGS database of deflated (’98$) annual global prices for the list of CRMs included in TEMOA framework</a:t>
                </a:r>
              </a:p>
              <a:p>
                <a:r>
                  <a:rPr lang="en-US" dirty="0"/>
                  <a:t>To get a comprehensive but full database (without blanks), the period from 1964 to 2020 has been selected</a:t>
                </a:r>
              </a:p>
              <a:p>
                <a:r>
                  <a:rPr lang="en-US" dirty="0"/>
                  <a:t>To study the volatility, the database has been proposed in different configurations:</a:t>
                </a:r>
              </a:p>
              <a:p>
                <a:pPr lvl="1"/>
                <a:r>
                  <a:rPr lang="en-US" dirty="0"/>
                  <a:t>Actual deflated prices 1964-2020</a:t>
                </a:r>
              </a:p>
              <a:p>
                <a:pPr lvl="1"/>
                <a:r>
                  <a:rPr lang="en-US" dirty="0"/>
                  <a:t>Annual % variations 1965-2020</a:t>
                </a:r>
              </a:p>
              <a:p>
                <a:pPr lvl="1"/>
                <a:r>
                  <a:rPr lang="en-US" dirty="0"/>
                  <a:t>N years Δ-price rolling-windows 1964-2019:</a:t>
                </a:r>
                <a14:m>
                  <m:oMath xmlns:m="http://schemas.openxmlformats.org/officeDocument/2006/math">
                    <m:sSub>
                      <m:sSubPr>
                        <m:ctrlPr>
                          <a:rPr lang="en-US" i="1" smtClean="0">
                            <a:latin typeface="Cambria Math" panose="02040503050406030204" pitchFamily="18" charset="0"/>
                          </a:rPr>
                        </m:ctrlPr>
                      </m:sSubPr>
                      <m:e>
                        <m:r>
                          <m:rPr>
                            <m:nor/>
                          </m:rPr>
                          <a:rPr lang="en-US" dirty="0"/>
                          <m:t>Δ</m:t>
                        </m:r>
                        <m:r>
                          <m:rPr>
                            <m:nor/>
                          </m:rPr>
                          <a:rPr lang="en-US" dirty="0"/>
                          <m:t>−</m:t>
                        </m:r>
                        <m:r>
                          <m:rPr>
                            <m:nor/>
                          </m:rPr>
                          <a:rPr lang="en-US" dirty="0"/>
                          <m:t>price</m:t>
                        </m:r>
                      </m:e>
                      <m:sub>
                        <m:r>
                          <a:rPr lang="it-IT" b="0" i="1" smtClean="0">
                            <a:latin typeface="Cambria Math" panose="02040503050406030204" pitchFamily="18" charset="0"/>
                          </a:rPr>
                          <m:t>𝑡</m:t>
                        </m:r>
                        <m:r>
                          <a:rPr lang="it-IT" b="0" i="1" smtClean="0">
                            <a:latin typeface="Cambria Math" panose="02040503050406030204" pitchFamily="18" charset="0"/>
                          </a:rPr>
                          <m:t>,</m:t>
                        </m:r>
                        <m:r>
                          <a:rPr lang="it-IT" b="0" i="1" smtClean="0">
                            <a:latin typeface="Cambria Math" panose="02040503050406030204" pitchFamily="18" charset="0"/>
                          </a:rPr>
                          <m:t>𝑛</m:t>
                        </m:r>
                        <m:r>
                          <a:rPr lang="it-IT" b="0" i="1" smtClean="0">
                            <a:latin typeface="Cambria Math" panose="02040503050406030204" pitchFamily="18" charset="0"/>
                          </a:rPr>
                          <m:t>,</m:t>
                        </m:r>
                        <m:r>
                          <a:rPr lang="it-IT" b="0" i="1" smtClean="0">
                            <a:latin typeface="Cambria Math" panose="02040503050406030204" pitchFamily="18" charset="0"/>
                          </a:rPr>
                          <m:t>𝑚</m:t>
                        </m:r>
                      </m:sub>
                    </m:sSub>
                    <m:r>
                      <a:rPr lang="it-IT" b="0" i="1" smtClean="0">
                        <a:latin typeface="Cambria Math" panose="02040503050406030204" pitchFamily="18" charset="0"/>
                      </a:rPr>
                      <m:t>=</m:t>
                    </m:r>
                    <m:f>
                      <m:fPr>
                        <m:ctrlPr>
                          <a:rPr lang="it-IT" b="0" i="1" smtClean="0">
                            <a:latin typeface="Cambria Math" panose="02040503050406030204" pitchFamily="18" charset="0"/>
                          </a:rPr>
                        </m:ctrlPr>
                      </m:fPr>
                      <m:num>
                        <m:sSub>
                          <m:sSubPr>
                            <m:ctrlPr>
                              <a:rPr lang="it-IT" b="0" i="1" smtClean="0">
                                <a:latin typeface="Cambria Math" panose="02040503050406030204" pitchFamily="18" charset="0"/>
                              </a:rPr>
                            </m:ctrlPr>
                          </m:sSubPr>
                          <m:e>
                            <m:r>
                              <a:rPr lang="it-IT" b="0" i="1" smtClean="0">
                                <a:latin typeface="Cambria Math" panose="02040503050406030204" pitchFamily="18" charset="0"/>
                              </a:rPr>
                              <m:t>𝐴𝑣𝑒𝑟𝑎𝑔𝑒𝑃𝑟𝑖𝑐𝑒</m:t>
                            </m:r>
                          </m:e>
                          <m:sub>
                            <m:d>
                              <m:dPr>
                                <m:ctrlPr>
                                  <a:rPr lang="it-IT" b="0" i="1" smtClean="0">
                                    <a:latin typeface="Cambria Math" panose="02040503050406030204" pitchFamily="18" charset="0"/>
                                  </a:rPr>
                                </m:ctrlPr>
                              </m:dPr>
                              <m:e>
                                <m:r>
                                  <a:rPr lang="it-IT" b="0" i="1" smtClean="0">
                                    <a:latin typeface="Cambria Math" panose="02040503050406030204" pitchFamily="18" charset="0"/>
                                  </a:rPr>
                                  <m:t>𝑡</m:t>
                                </m:r>
                                <m:r>
                                  <a:rPr lang="it-IT" b="0" i="1" smtClean="0">
                                    <a:latin typeface="Cambria Math" panose="02040503050406030204" pitchFamily="18" charset="0"/>
                                  </a:rPr>
                                  <m:t>+1;</m:t>
                                </m:r>
                                <m:r>
                                  <a:rPr lang="it-IT" b="0" i="1" smtClean="0">
                                    <a:latin typeface="Cambria Math" panose="02040503050406030204" pitchFamily="18" charset="0"/>
                                  </a:rPr>
                                  <m:t>𝑡</m:t>
                                </m:r>
                                <m:r>
                                  <a:rPr lang="it-IT" b="0" i="1" smtClean="0">
                                    <a:latin typeface="Cambria Math" panose="02040503050406030204" pitchFamily="18" charset="0"/>
                                  </a:rPr>
                                  <m:t>+</m:t>
                                </m:r>
                                <m:r>
                                  <a:rPr lang="it-IT" b="0" i="1" smtClean="0">
                                    <a:latin typeface="Cambria Math" panose="02040503050406030204" pitchFamily="18" charset="0"/>
                                  </a:rPr>
                                  <m:t>𝑛</m:t>
                                </m:r>
                              </m:e>
                            </m:d>
                            <m:r>
                              <a:rPr lang="it-IT" b="0" i="1" smtClean="0">
                                <a:latin typeface="Cambria Math" panose="02040503050406030204" pitchFamily="18" charset="0"/>
                              </a:rPr>
                              <m:t>,</m:t>
                            </m:r>
                            <m:r>
                              <a:rPr lang="it-IT" b="0" i="1" smtClean="0">
                                <a:latin typeface="Cambria Math" panose="02040503050406030204" pitchFamily="18" charset="0"/>
                              </a:rPr>
                              <m:t>𝑚</m:t>
                            </m:r>
                          </m:sub>
                        </m:sSub>
                      </m:num>
                      <m:den>
                        <m:sSub>
                          <m:sSubPr>
                            <m:ctrlPr>
                              <a:rPr lang="it-IT" i="1">
                                <a:latin typeface="Cambria Math" panose="02040503050406030204" pitchFamily="18" charset="0"/>
                              </a:rPr>
                            </m:ctrlPr>
                          </m:sSubPr>
                          <m:e>
                            <m:r>
                              <a:rPr lang="it-IT" i="1">
                                <a:latin typeface="Cambria Math" panose="02040503050406030204" pitchFamily="18" charset="0"/>
                              </a:rPr>
                              <m:t>𝐴𝑣𝑒𝑟𝑎𝑔𝑒𝑃𝑟𝑖𝑐𝑒</m:t>
                            </m:r>
                          </m:e>
                          <m:sub>
                            <m:d>
                              <m:dPr>
                                <m:ctrlPr>
                                  <a:rPr lang="it-IT" i="1">
                                    <a:latin typeface="Cambria Math" panose="02040503050406030204" pitchFamily="18" charset="0"/>
                                  </a:rPr>
                                </m:ctrlPr>
                              </m:dPr>
                              <m:e>
                                <m:r>
                                  <a:rPr lang="it-IT" i="1">
                                    <a:latin typeface="Cambria Math" panose="02040503050406030204" pitchFamily="18" charset="0"/>
                                  </a:rPr>
                                  <m:t>𝑡</m:t>
                                </m:r>
                                <m:r>
                                  <a:rPr lang="it-IT" i="1">
                                    <a:latin typeface="Cambria Math" panose="02040503050406030204" pitchFamily="18" charset="0"/>
                                  </a:rPr>
                                  <m:t>;</m:t>
                                </m:r>
                                <m:r>
                                  <a:rPr lang="it-IT" i="1">
                                    <a:latin typeface="Cambria Math" panose="02040503050406030204" pitchFamily="18" charset="0"/>
                                  </a:rPr>
                                  <m:t>𝑡</m:t>
                                </m:r>
                                <m:r>
                                  <a:rPr lang="it-IT" b="0" i="1" smtClean="0">
                                    <a:latin typeface="Cambria Math" panose="02040503050406030204" pitchFamily="18" charset="0"/>
                                  </a:rPr>
                                  <m:t>−</m:t>
                                </m:r>
                                <m:r>
                                  <a:rPr lang="it-IT" b="0" i="1" smtClean="0">
                                    <a:latin typeface="Cambria Math" panose="02040503050406030204" pitchFamily="18" charset="0"/>
                                  </a:rPr>
                                  <m:t>𝑛</m:t>
                                </m:r>
                                <m:r>
                                  <a:rPr lang="it-IT" b="0" i="1" smtClean="0">
                                    <a:latin typeface="Cambria Math" panose="02040503050406030204" pitchFamily="18" charset="0"/>
                                  </a:rPr>
                                  <m:t>+1</m:t>
                                </m:r>
                              </m:e>
                            </m:d>
                            <m:r>
                              <a:rPr lang="it-IT" i="1">
                                <a:latin typeface="Cambria Math" panose="02040503050406030204" pitchFamily="18" charset="0"/>
                              </a:rPr>
                              <m:t>,</m:t>
                            </m:r>
                            <m:r>
                              <a:rPr lang="it-IT" i="1">
                                <a:latin typeface="Cambria Math" panose="02040503050406030204" pitchFamily="18" charset="0"/>
                              </a:rPr>
                              <m:t>𝑚</m:t>
                            </m:r>
                          </m:sub>
                        </m:sSub>
                      </m:den>
                    </m:f>
                    <m:r>
                      <a:rPr lang="it-IT" b="0" i="1" smtClean="0">
                        <a:latin typeface="Cambria Math" panose="02040503050406030204" pitchFamily="18" charset="0"/>
                      </a:rPr>
                      <m:t>%</m:t>
                    </m:r>
                  </m:oMath>
                </a14:m>
                <a:endParaRPr lang="en-US" dirty="0"/>
              </a:p>
              <a:p>
                <a:pPr lvl="2"/>
                <a:r>
                  <a:rPr lang="en-US" dirty="0"/>
                  <a:t>t = year</a:t>
                </a:r>
              </a:p>
              <a:p>
                <a:pPr lvl="2"/>
                <a:r>
                  <a:rPr lang="en-US" dirty="0"/>
                  <a:t>n = window years</a:t>
                </a:r>
              </a:p>
              <a:p>
                <a:pPr lvl="2"/>
                <a:r>
                  <a:rPr lang="en-US" dirty="0"/>
                  <a:t>m = material</a:t>
                </a:r>
              </a:p>
            </p:txBody>
          </p:sp>
        </mc:Choice>
        <mc:Fallback xmlns="">
          <p:sp>
            <p:nvSpPr>
              <p:cNvPr id="2" name="Content Placeholder 1">
                <a:extLst>
                  <a:ext uri="{FF2B5EF4-FFF2-40B4-BE49-F238E27FC236}">
                    <a16:creationId xmlns:a16="http://schemas.microsoft.com/office/drawing/2014/main" id="{9D6EB049-53A2-6E30-D8E6-27D6DD1DD8AF}"/>
                  </a:ext>
                </a:extLst>
              </p:cNvPr>
              <p:cNvSpPr>
                <a:spLocks noGrp="1" noRot="1" noChangeAspect="1" noMove="1" noResize="1" noEditPoints="1" noAdjustHandles="1" noChangeArrowheads="1" noChangeShapeType="1" noTextEdit="1"/>
              </p:cNvSpPr>
              <p:nvPr>
                <p:ph idx="13"/>
              </p:nvPr>
            </p:nvSpPr>
            <p:spPr>
              <a:blipFill>
                <a:blip r:embed="rId2"/>
                <a:stretch>
                  <a:fillRect l="-840" t="-1687" r="-112" b="-84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2AF67F-941B-3FED-F578-21A5D1D2F251}"/>
              </a:ext>
            </a:extLst>
          </p:cNvPr>
          <p:cNvSpPr>
            <a:spLocks noGrp="1"/>
          </p:cNvSpPr>
          <p:nvPr>
            <p:ph type="title"/>
          </p:nvPr>
        </p:nvSpPr>
        <p:spPr/>
        <p:txBody>
          <a:bodyPr/>
          <a:lstStyle/>
          <a:p>
            <a:r>
              <a:rPr lang="en-US" dirty="0"/>
              <a:t>Starting hypothesis – Price volatility in CRMs markets - Database</a:t>
            </a:r>
          </a:p>
        </p:txBody>
      </p:sp>
      <p:pic>
        <p:nvPicPr>
          <p:cNvPr id="4" name="Picture 3">
            <a:extLst>
              <a:ext uri="{FF2B5EF4-FFF2-40B4-BE49-F238E27FC236}">
                <a16:creationId xmlns:a16="http://schemas.microsoft.com/office/drawing/2014/main" id="{EAE0CC0C-A70B-BFE1-5BAE-9D31095ED652}"/>
              </a:ext>
            </a:extLst>
          </p:cNvPr>
          <p:cNvPicPr>
            <a:picLocks noChangeAspect="1"/>
          </p:cNvPicPr>
          <p:nvPr/>
        </p:nvPicPr>
        <p:blipFill>
          <a:blip r:embed="rId3"/>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1156252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F7109CA-9C0A-73BB-78B6-956E0924A265}"/>
              </a:ext>
            </a:extLst>
          </p:cNvPr>
          <p:cNvPicPr>
            <a:picLocks noGrp="1" noChangeAspect="1"/>
          </p:cNvPicPr>
          <p:nvPr>
            <p:ph idx="13"/>
          </p:nvPr>
        </p:nvPicPr>
        <p:blipFill>
          <a:blip r:embed="rId2"/>
          <a:stretch>
            <a:fillRect/>
          </a:stretch>
        </p:blipFill>
        <p:spPr>
          <a:xfrm>
            <a:off x="4573318" y="3038182"/>
            <a:ext cx="3443767" cy="1192072"/>
          </a:xfrm>
        </p:spPr>
      </p:pic>
      <p:grpSp>
        <p:nvGrpSpPr>
          <p:cNvPr id="12" name="Group 11">
            <a:extLst>
              <a:ext uri="{FF2B5EF4-FFF2-40B4-BE49-F238E27FC236}">
                <a16:creationId xmlns:a16="http://schemas.microsoft.com/office/drawing/2014/main" id="{D54B8FD1-10C8-49A0-D788-D9918B0B9814}"/>
              </a:ext>
            </a:extLst>
          </p:cNvPr>
          <p:cNvGrpSpPr/>
          <p:nvPr/>
        </p:nvGrpSpPr>
        <p:grpSpPr>
          <a:xfrm>
            <a:off x="653847" y="1204547"/>
            <a:ext cx="10965498" cy="5064369"/>
            <a:chOff x="653847" y="1204547"/>
            <a:chExt cx="4749426" cy="5064369"/>
          </a:xfrm>
        </p:grpSpPr>
        <p:sp>
          <p:nvSpPr>
            <p:cNvPr id="6" name="Content Placeholder 1">
              <a:extLst>
                <a:ext uri="{FF2B5EF4-FFF2-40B4-BE49-F238E27FC236}">
                  <a16:creationId xmlns:a16="http://schemas.microsoft.com/office/drawing/2014/main" id="{83450F94-38CA-A50E-948C-D6B6F288D8A6}"/>
                </a:ext>
              </a:extLst>
            </p:cNvPr>
            <p:cNvSpPr txBox="1">
              <a:spLocks/>
            </p:cNvSpPr>
            <p:nvPr/>
          </p:nvSpPr>
          <p:spPr>
            <a:xfrm>
              <a:off x="653847" y="1204547"/>
              <a:ext cx="4749426" cy="5064369"/>
            </a:xfrm>
            <a:prstGeom prst="rect">
              <a:avLst/>
            </a:prstGeom>
          </p:spPr>
          <p:txBody>
            <a:bodyPr vert="horz" lIns="91440" tIns="45720" rIns="91440" bIns="45720" rtlCol="0">
              <a:normAutofit/>
            </a:bodyPr>
            <a:lst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lang="en-US" sz="2400"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lang="en-US" sz="20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lang="en-US" sz="16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lang="en-US" sz="14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lang="en-US" sz="1400" kern="1200" noProof="0" dirty="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Log returns: </a:t>
              </a:r>
              <a:r>
                <a:rPr lang="en-US" dirty="0">
                  <a:sym typeface="Wingdings" panose="05000000000000000000" pitchFamily="2" charset="2"/>
                </a:rPr>
                <a:t> stationary returns</a:t>
              </a:r>
              <a:endParaRPr lang="en-US" dirty="0"/>
            </a:p>
            <a:p>
              <a:pPr lvl="1"/>
              <a:endParaRPr lang="en-US" dirty="0"/>
            </a:p>
            <a:p>
              <a:pPr lvl="1"/>
              <a:endParaRPr lang="en-US" dirty="0"/>
            </a:p>
            <a:p>
              <a:pPr lvl="1"/>
              <a:endParaRPr lang="en-US" dirty="0"/>
            </a:p>
            <a:p>
              <a:r>
                <a:rPr lang="en-US" dirty="0"/>
                <a:t>Log return volatility:</a:t>
              </a:r>
            </a:p>
            <a:p>
              <a:endParaRPr lang="en-US" dirty="0"/>
            </a:p>
            <a:p>
              <a:endParaRPr lang="en-US" dirty="0"/>
            </a:p>
            <a:p>
              <a:endParaRPr lang="en-US" dirty="0"/>
            </a:p>
            <a:p>
              <a:r>
                <a:rPr lang="en-US" dirty="0"/>
                <a:t>Rolling volatility: </a:t>
              </a:r>
              <a:r>
                <a:rPr lang="en-US" dirty="0">
                  <a:sym typeface="Wingdings" panose="05000000000000000000" pitchFamily="2" charset="2"/>
                </a:rPr>
                <a:t> how volatility changes in time (N = time window)</a:t>
              </a:r>
              <a:endParaRPr lang="en-US" dirty="0"/>
            </a:p>
          </p:txBody>
        </p:sp>
        <p:pic>
          <p:nvPicPr>
            <p:cNvPr id="8" name="Picture 7">
              <a:extLst>
                <a:ext uri="{FF2B5EF4-FFF2-40B4-BE49-F238E27FC236}">
                  <a16:creationId xmlns:a16="http://schemas.microsoft.com/office/drawing/2014/main" id="{6F619715-171C-1DBB-116C-E0D53CECB950}"/>
                </a:ext>
              </a:extLst>
            </p:cNvPr>
            <p:cNvPicPr>
              <a:picLocks noChangeAspect="1"/>
            </p:cNvPicPr>
            <p:nvPr/>
          </p:nvPicPr>
          <p:blipFill>
            <a:blip r:embed="rId3"/>
            <a:stretch>
              <a:fillRect/>
            </a:stretch>
          </p:blipFill>
          <p:spPr>
            <a:xfrm>
              <a:off x="2636451" y="1532654"/>
              <a:ext cx="825725" cy="980599"/>
            </a:xfrm>
            <a:prstGeom prst="rect">
              <a:avLst/>
            </a:prstGeom>
          </p:spPr>
        </p:pic>
        <p:pic>
          <p:nvPicPr>
            <p:cNvPr id="10" name="Picture 9">
              <a:extLst>
                <a:ext uri="{FF2B5EF4-FFF2-40B4-BE49-F238E27FC236}">
                  <a16:creationId xmlns:a16="http://schemas.microsoft.com/office/drawing/2014/main" id="{171CDEE4-73AF-1E42-B7DE-AB1DBC0B08AB}"/>
                </a:ext>
              </a:extLst>
            </p:cNvPr>
            <p:cNvPicPr>
              <a:picLocks noChangeAspect="1"/>
            </p:cNvPicPr>
            <p:nvPr/>
          </p:nvPicPr>
          <p:blipFill>
            <a:blip r:embed="rId4"/>
            <a:stretch>
              <a:fillRect/>
            </a:stretch>
          </p:blipFill>
          <p:spPr>
            <a:xfrm>
              <a:off x="2460584" y="5000303"/>
              <a:ext cx="1352823" cy="890231"/>
            </a:xfrm>
            <a:prstGeom prst="rect">
              <a:avLst/>
            </a:prstGeom>
          </p:spPr>
        </p:pic>
      </p:grpSp>
      <p:sp>
        <p:nvSpPr>
          <p:cNvPr id="3" name="Title 2">
            <a:extLst>
              <a:ext uri="{FF2B5EF4-FFF2-40B4-BE49-F238E27FC236}">
                <a16:creationId xmlns:a16="http://schemas.microsoft.com/office/drawing/2014/main" id="{88EB1D81-E664-C242-ABE0-AAB29B0F5A0D}"/>
              </a:ext>
            </a:extLst>
          </p:cNvPr>
          <p:cNvSpPr>
            <a:spLocks noGrp="1"/>
          </p:cNvSpPr>
          <p:nvPr>
            <p:ph type="title"/>
          </p:nvPr>
        </p:nvSpPr>
        <p:spPr/>
        <p:txBody>
          <a:bodyPr/>
          <a:lstStyle/>
          <a:p>
            <a:r>
              <a:rPr lang="en-US" dirty="0"/>
              <a:t>Starting hypothesis – Price volatility in CRMs markets </a:t>
            </a:r>
            <a:r>
              <a:rPr lang="en-US" sz="2800" dirty="0"/>
              <a:t>– DERA Approach</a:t>
            </a:r>
            <a:endParaRPr lang="it-IT" dirty="0"/>
          </a:p>
        </p:txBody>
      </p:sp>
      <p:sp>
        <p:nvSpPr>
          <p:cNvPr id="13" name="TextBox 12">
            <a:extLst>
              <a:ext uri="{FF2B5EF4-FFF2-40B4-BE49-F238E27FC236}">
                <a16:creationId xmlns:a16="http://schemas.microsoft.com/office/drawing/2014/main" id="{99A4FEF2-AF75-49DA-2CB2-4971A3509F88}"/>
              </a:ext>
            </a:extLst>
          </p:cNvPr>
          <p:cNvSpPr txBox="1"/>
          <p:nvPr/>
        </p:nvSpPr>
        <p:spPr>
          <a:xfrm>
            <a:off x="7948654" y="1302327"/>
            <a:ext cx="3443767" cy="1477328"/>
          </a:xfrm>
          <a:prstGeom prst="rect">
            <a:avLst/>
          </a:prstGeom>
          <a:solidFill>
            <a:schemeClr val="bg1">
              <a:lumMod val="95000"/>
            </a:schemeClr>
          </a:solidFill>
          <a:ln w="38100">
            <a:solidFill>
              <a:srgbClr val="4682B4"/>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Note:</a:t>
            </a:r>
          </a:p>
          <a:p>
            <a:pPr marL="285750" indent="-285750">
              <a:buFont typeface="Arial" panose="020B0604020202020204" pitchFamily="34" charset="0"/>
              <a:buChar char="•"/>
            </a:pPr>
            <a:r>
              <a:rPr lang="en-US" dirty="0"/>
              <a:t>Prices must be indexed</a:t>
            </a:r>
          </a:p>
          <a:p>
            <a:pPr marL="285750" indent="-285750">
              <a:buFont typeface="Arial" panose="020B0604020202020204" pitchFamily="34" charset="0"/>
              <a:buChar char="•"/>
            </a:pPr>
            <a:r>
              <a:rPr lang="en-US" dirty="0"/>
              <a:t>This characterizes the volatility, not extreme events occurrence</a:t>
            </a:r>
          </a:p>
        </p:txBody>
      </p:sp>
      <p:pic>
        <p:nvPicPr>
          <p:cNvPr id="2" name="Picture 1">
            <a:extLst>
              <a:ext uri="{FF2B5EF4-FFF2-40B4-BE49-F238E27FC236}">
                <a16:creationId xmlns:a16="http://schemas.microsoft.com/office/drawing/2014/main" id="{2A4FC9C0-1CA5-A412-205F-AA2E32A49261}"/>
              </a:ext>
            </a:extLst>
          </p:cNvPr>
          <p:cNvPicPr>
            <a:picLocks noChangeAspect="1"/>
          </p:cNvPicPr>
          <p:nvPr/>
        </p:nvPicPr>
        <p:blipFill>
          <a:blip r:embed="rId5"/>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3186317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373F3D-2A94-4873-917A-60FD9090BF29}"/>
              </a:ext>
            </a:extLst>
          </p:cNvPr>
          <p:cNvSpPr>
            <a:spLocks noGrp="1"/>
          </p:cNvSpPr>
          <p:nvPr>
            <p:ph idx="13"/>
          </p:nvPr>
        </p:nvSpPr>
        <p:spPr/>
        <p:txBody>
          <a:bodyPr anchor="ctr">
            <a:normAutofit/>
          </a:bodyPr>
          <a:lstStyle/>
          <a:p>
            <a:pPr marL="0" indent="0" algn="ctr">
              <a:buNone/>
            </a:pPr>
            <a:r>
              <a:rPr lang="en-US" sz="3600" b="1" dirty="0"/>
              <a:t>GEV analysis on material prices</a:t>
            </a:r>
          </a:p>
        </p:txBody>
      </p:sp>
      <p:sp>
        <p:nvSpPr>
          <p:cNvPr id="3" name="Title 2">
            <a:extLst>
              <a:ext uri="{FF2B5EF4-FFF2-40B4-BE49-F238E27FC236}">
                <a16:creationId xmlns:a16="http://schemas.microsoft.com/office/drawing/2014/main" id="{F4678D28-BFE4-D6CE-F652-EA7AACF8B603}"/>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222393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33E903-8F2A-FEAD-D93D-7ADD1FD6B714}"/>
              </a:ext>
            </a:extLst>
          </p:cNvPr>
          <p:cNvSpPr>
            <a:spLocks noGrp="1"/>
          </p:cNvSpPr>
          <p:nvPr>
            <p:ph type="title"/>
          </p:nvPr>
        </p:nvSpPr>
        <p:spPr/>
        <p:txBody>
          <a:bodyPr/>
          <a:lstStyle/>
          <a:p>
            <a:pPr marL="0" indent="0">
              <a:buNone/>
            </a:pPr>
            <a:r>
              <a:rPr lang="en-US" dirty="0"/>
              <a:t>   </a:t>
            </a:r>
            <a:r>
              <a:rPr lang="en-US" sz="2800" b="1" dirty="0"/>
              <a:t>GEV analysis on material prices</a:t>
            </a:r>
          </a:p>
        </p:txBody>
      </p:sp>
      <p:sp>
        <p:nvSpPr>
          <p:cNvPr id="5" name="Content Placeholder 4">
            <a:extLst>
              <a:ext uri="{FF2B5EF4-FFF2-40B4-BE49-F238E27FC236}">
                <a16:creationId xmlns:a16="http://schemas.microsoft.com/office/drawing/2014/main" id="{ED23CA7A-2FCB-A18E-B3F0-94472AE30CF3}"/>
              </a:ext>
            </a:extLst>
          </p:cNvPr>
          <p:cNvSpPr>
            <a:spLocks noGrp="1"/>
          </p:cNvSpPr>
          <p:nvPr>
            <p:ph idx="13"/>
          </p:nvPr>
        </p:nvSpPr>
        <p:spPr>
          <a:xfrm>
            <a:off x="653843" y="2269578"/>
            <a:ext cx="10884311" cy="4054310"/>
          </a:xfrm>
        </p:spPr>
        <p:txBody>
          <a:bodyPr>
            <a:normAutofit fontScale="92500" lnSpcReduction="20000"/>
          </a:bodyPr>
          <a:lstStyle/>
          <a:p>
            <a:pPr marL="0" indent="0">
              <a:lnSpc>
                <a:spcPct val="100000"/>
              </a:lnSpc>
              <a:buNone/>
            </a:pPr>
            <a:r>
              <a:rPr lang="it-IT" sz="2000" b="1" dirty="0"/>
              <a:t>Steps:</a:t>
            </a:r>
            <a:endParaRPr lang="it-IT" sz="2000" dirty="0"/>
          </a:p>
          <a:p>
            <a:pPr marL="457200" indent="-457200">
              <a:lnSpc>
                <a:spcPct val="100000"/>
              </a:lnSpc>
              <a:buFont typeface="+mj-lt"/>
              <a:buAutoNum type="arabicPeriod"/>
            </a:pPr>
            <a:r>
              <a:rPr lang="it-IT" sz="2000" dirty="0"/>
              <a:t>From </a:t>
            </a:r>
            <a:r>
              <a:rPr lang="it-IT" sz="2000" dirty="0" err="1"/>
              <a:t>historical</a:t>
            </a:r>
            <a:r>
              <a:rPr lang="it-IT" sz="2000" dirty="0"/>
              <a:t> </a:t>
            </a:r>
            <a:r>
              <a:rPr lang="it-IT" sz="2000" dirty="0" err="1"/>
              <a:t>yearly</a:t>
            </a:r>
            <a:r>
              <a:rPr lang="it-IT" sz="2000" dirty="0"/>
              <a:t> data, compute the </a:t>
            </a:r>
            <a:r>
              <a:rPr lang="it-IT" sz="2000" dirty="0" err="1"/>
              <a:t>yearly</a:t>
            </a:r>
            <a:r>
              <a:rPr lang="it-IT" sz="2000" dirty="0"/>
              <a:t> trend in %</a:t>
            </a:r>
          </a:p>
          <a:p>
            <a:pPr marL="457200" indent="-457200">
              <a:lnSpc>
                <a:spcPct val="100000"/>
              </a:lnSpc>
              <a:buFont typeface="+mj-lt"/>
              <a:buAutoNum type="arabicPeriod"/>
            </a:pPr>
            <a:r>
              <a:rPr lang="it-IT" sz="2000" dirty="0"/>
              <a:t>Select a time window (2, 5, 10 </a:t>
            </a:r>
            <a:r>
              <a:rPr lang="it-IT" sz="2000" dirty="0" err="1"/>
              <a:t>years</a:t>
            </a:r>
            <a:r>
              <a:rPr lang="it-IT" sz="2000" dirty="0"/>
              <a:t>) and for </a:t>
            </a:r>
            <a:r>
              <a:rPr lang="it-IT" sz="2000" dirty="0" err="1"/>
              <a:t>each</a:t>
            </a:r>
            <a:r>
              <a:rPr lang="it-IT" sz="2000" dirty="0"/>
              <a:t> consecutive time </a:t>
            </a:r>
            <a:r>
              <a:rPr lang="it-IT" sz="2000" dirty="0" err="1"/>
              <a:t>span</a:t>
            </a:r>
            <a:r>
              <a:rPr lang="it-IT" sz="2000" dirty="0"/>
              <a:t> </a:t>
            </a:r>
            <a:r>
              <a:rPr lang="it-IT" sz="2000" dirty="0" err="1"/>
              <a:t>find</a:t>
            </a:r>
            <a:r>
              <a:rPr lang="it-IT" sz="2000" dirty="0"/>
              <a:t> the maximum </a:t>
            </a:r>
            <a:r>
              <a:rPr lang="it-IT" sz="2000" dirty="0" err="1"/>
              <a:t>absolute</a:t>
            </a:r>
            <a:r>
              <a:rPr lang="it-IT" sz="2000" dirty="0"/>
              <a:t> % </a:t>
            </a:r>
            <a:r>
              <a:rPr lang="it-IT" sz="2000" dirty="0" err="1"/>
              <a:t>variation</a:t>
            </a:r>
            <a:r>
              <a:rPr lang="it-IT" sz="2000" dirty="0"/>
              <a:t> </a:t>
            </a:r>
            <a:r>
              <a:rPr lang="it-IT" sz="2000" dirty="0" err="1"/>
              <a:t>among</a:t>
            </a:r>
            <a:r>
              <a:rPr lang="it-IT" sz="2000" dirty="0"/>
              <a:t> the </a:t>
            </a:r>
            <a:r>
              <a:rPr lang="it-IT" sz="2000" dirty="0" err="1"/>
              <a:t>years</a:t>
            </a:r>
            <a:r>
              <a:rPr lang="it-IT" sz="2000" dirty="0"/>
              <a:t> </a:t>
            </a:r>
            <a:r>
              <a:rPr lang="it-IT" sz="2000" dirty="0" err="1"/>
              <a:t>included</a:t>
            </a:r>
            <a:r>
              <a:rPr lang="it-IT" sz="2000" dirty="0"/>
              <a:t> in </a:t>
            </a:r>
            <a:r>
              <a:rPr lang="it-IT" sz="2000" dirty="0" err="1"/>
              <a:t>that</a:t>
            </a:r>
            <a:r>
              <a:rPr lang="it-IT" sz="2000" dirty="0"/>
              <a:t> window</a:t>
            </a:r>
          </a:p>
          <a:p>
            <a:pPr marL="457200" indent="-457200">
              <a:buFont typeface="+mj-lt"/>
              <a:buAutoNum type="arabicPeriod" startAt="3"/>
            </a:pPr>
            <a:r>
              <a:rPr lang="en-US" sz="2000" dirty="0"/>
              <a:t>The CDF of the GEV distribution is given by the following formula:</a:t>
            </a:r>
          </a:p>
          <a:p>
            <a:pPr marL="0" indent="0">
              <a:buNone/>
            </a:pPr>
            <a:endParaRPr lang="en-US" sz="1900" dirty="0"/>
          </a:p>
          <a:p>
            <a:pPr marL="0" indent="0">
              <a:buNone/>
            </a:pPr>
            <a:endParaRPr lang="en-US" sz="1900" dirty="0"/>
          </a:p>
          <a:p>
            <a:pPr marL="0" indent="0">
              <a:buNone/>
            </a:pPr>
            <a:r>
              <a:rPr lang="en-US" sz="1900" dirty="0"/>
              <a:t>	</a:t>
            </a:r>
          </a:p>
          <a:p>
            <a:pPr marL="0" indent="0">
              <a:buNone/>
            </a:pPr>
            <a:r>
              <a:rPr lang="en-US" sz="1900" dirty="0"/>
              <a:t>	Where:</a:t>
            </a:r>
          </a:p>
          <a:p>
            <a:pPr lvl="2"/>
            <a:r>
              <a:rPr lang="en-US" sz="1100" dirty="0"/>
              <a:t>x is the value of the extreme event (e.g., the maximum price change).</a:t>
            </a:r>
          </a:p>
          <a:p>
            <a:pPr lvl="2"/>
            <a:r>
              <a:rPr lang="en-US" sz="1100" dirty="0"/>
              <a:t>μ (location) is the center of the distribution of extremes.</a:t>
            </a:r>
          </a:p>
          <a:p>
            <a:pPr lvl="2"/>
            <a:r>
              <a:rPr lang="en-US" sz="1100" dirty="0"/>
              <a:t>σ (scale) measures the dispersion or spread of the extremes.</a:t>
            </a:r>
          </a:p>
          <a:p>
            <a:pPr lvl="2"/>
            <a:r>
              <a:rPr lang="en-US" sz="1100" dirty="0"/>
              <a:t>ξ (shape) controls the shape of the tail</a:t>
            </a:r>
          </a:p>
          <a:p>
            <a:pPr lvl="3"/>
            <a:r>
              <a:rPr lang="it-IT" sz="1300" b="1" dirty="0">
                <a:effectLst/>
                <a:latin typeface="Aptos" panose="020B0004020202020204" pitchFamily="34" charset="0"/>
                <a:ea typeface="Aptos" panose="020B0004020202020204" pitchFamily="34" charset="0"/>
                <a:cs typeface="Arial" panose="020B0604020202020204" pitchFamily="34" charset="0"/>
              </a:rPr>
              <a:t>ξ</a:t>
            </a:r>
            <a:r>
              <a:rPr lang="en-US" sz="1300" b="1" dirty="0">
                <a:effectLst/>
                <a:latin typeface="Aptos" panose="020B0004020202020204" pitchFamily="34" charset="0"/>
                <a:ea typeface="Aptos" panose="020B0004020202020204" pitchFamily="34" charset="0"/>
                <a:cs typeface="Arial" panose="020B0604020202020204" pitchFamily="34" charset="0"/>
              </a:rPr>
              <a:t>&gt;0 : </a:t>
            </a:r>
            <a:r>
              <a:rPr lang="en-US" sz="1300" b="1" dirty="0">
                <a:effectLst/>
                <a:latin typeface="+mn-lt"/>
                <a:ea typeface="Aptos" panose="020B0004020202020204" pitchFamily="34" charset="0"/>
                <a:cs typeface="Arial" panose="020B0604020202020204" pitchFamily="34" charset="0"/>
              </a:rPr>
              <a:t>Fréchet Distribution, </a:t>
            </a:r>
            <a:r>
              <a:rPr lang="en-US" sz="1300" dirty="0">
                <a:effectLst/>
                <a:latin typeface="+mn-lt"/>
                <a:ea typeface="Aptos" panose="020B0004020202020204" pitchFamily="34" charset="0"/>
                <a:cs typeface="Arial" panose="020B0604020202020204" pitchFamily="34" charset="0"/>
              </a:rPr>
              <a:t>heavy tailed</a:t>
            </a:r>
            <a:endParaRPr lang="en-US" sz="1300" b="1" dirty="0">
              <a:effectLst/>
              <a:latin typeface="+mn-lt"/>
              <a:ea typeface="Aptos" panose="020B0004020202020204" pitchFamily="34" charset="0"/>
              <a:cs typeface="Arial" panose="020B0604020202020204" pitchFamily="34" charset="0"/>
            </a:endParaRPr>
          </a:p>
          <a:p>
            <a:pPr lvl="3"/>
            <a:r>
              <a:rPr lang="it-IT" sz="1300" b="1" dirty="0">
                <a:effectLst/>
                <a:latin typeface="Aptos" panose="020B0004020202020204" pitchFamily="34" charset="0"/>
                <a:ea typeface="Aptos" panose="020B0004020202020204" pitchFamily="34" charset="0"/>
                <a:cs typeface="Arial" panose="020B0604020202020204" pitchFamily="34" charset="0"/>
              </a:rPr>
              <a:t>ξ</a:t>
            </a:r>
            <a:r>
              <a:rPr lang="en-US" sz="1300" b="1" dirty="0">
                <a:latin typeface="Aptos" panose="020B0004020202020204" pitchFamily="34" charset="0"/>
                <a:ea typeface="Aptos" panose="020B0004020202020204" pitchFamily="34" charset="0"/>
                <a:cs typeface="Arial" panose="020B0604020202020204" pitchFamily="34" charset="0"/>
              </a:rPr>
              <a:t>=</a:t>
            </a:r>
            <a:r>
              <a:rPr lang="en-US" sz="1300" b="1" dirty="0">
                <a:effectLst/>
                <a:latin typeface="Aptos" panose="020B0004020202020204" pitchFamily="34" charset="0"/>
                <a:ea typeface="Aptos" panose="020B0004020202020204" pitchFamily="34" charset="0"/>
                <a:cs typeface="Arial" panose="020B0604020202020204" pitchFamily="34" charset="0"/>
              </a:rPr>
              <a:t>0 : </a:t>
            </a:r>
            <a:r>
              <a:rPr lang="en-US" sz="1300" b="1" dirty="0">
                <a:effectLst/>
                <a:latin typeface="+mn-lt"/>
                <a:ea typeface="Aptos" panose="020B0004020202020204" pitchFamily="34" charset="0"/>
                <a:cs typeface="Arial" panose="020B0604020202020204" pitchFamily="34" charset="0"/>
              </a:rPr>
              <a:t>Fréchet Distribution, </a:t>
            </a:r>
            <a:r>
              <a:rPr lang="en-US" sz="1300" dirty="0">
                <a:effectLst/>
                <a:latin typeface="+mn-lt"/>
                <a:ea typeface="Aptos" panose="020B0004020202020204" pitchFamily="34" charset="0"/>
                <a:cs typeface="Arial" panose="020B0604020202020204" pitchFamily="34" charset="0"/>
              </a:rPr>
              <a:t>light tailed</a:t>
            </a:r>
            <a:endParaRPr lang="en-US" sz="1300" b="1" dirty="0">
              <a:latin typeface="Aptos" panose="020B0004020202020204" pitchFamily="34" charset="0"/>
              <a:ea typeface="Aptos" panose="020B0004020202020204" pitchFamily="34" charset="0"/>
              <a:cs typeface="Arial" panose="020B0604020202020204" pitchFamily="34" charset="0"/>
            </a:endParaRPr>
          </a:p>
          <a:p>
            <a:pPr lvl="3"/>
            <a:r>
              <a:rPr lang="it-IT" sz="1300" b="1" dirty="0">
                <a:effectLst/>
                <a:latin typeface="Aptos" panose="020B0004020202020204" pitchFamily="34" charset="0"/>
                <a:ea typeface="Aptos" panose="020B0004020202020204" pitchFamily="34" charset="0"/>
                <a:cs typeface="Arial" panose="020B0604020202020204" pitchFamily="34" charset="0"/>
              </a:rPr>
              <a:t>ξ</a:t>
            </a:r>
            <a:r>
              <a:rPr lang="en-US" sz="1300" b="1" dirty="0">
                <a:latin typeface="Aptos" panose="020B0004020202020204" pitchFamily="34" charset="0"/>
                <a:ea typeface="Aptos" panose="020B0004020202020204" pitchFamily="34" charset="0"/>
                <a:cs typeface="Arial" panose="020B0604020202020204" pitchFamily="34" charset="0"/>
              </a:rPr>
              <a:t>&lt;</a:t>
            </a:r>
            <a:r>
              <a:rPr lang="en-US" sz="1300" b="1" dirty="0">
                <a:effectLst/>
                <a:latin typeface="Aptos" panose="020B0004020202020204" pitchFamily="34" charset="0"/>
                <a:ea typeface="Aptos" panose="020B0004020202020204" pitchFamily="34" charset="0"/>
                <a:cs typeface="Arial" panose="020B0604020202020204" pitchFamily="34" charset="0"/>
              </a:rPr>
              <a:t>0 :</a:t>
            </a:r>
            <a:r>
              <a:rPr lang="en-US" sz="1900" b="1" dirty="0">
                <a:effectLst/>
                <a:latin typeface="Aptos" panose="020B0004020202020204" pitchFamily="34" charset="0"/>
                <a:ea typeface="Aptos" panose="020B0004020202020204" pitchFamily="34" charset="0"/>
                <a:cs typeface="Arial" panose="020B0604020202020204" pitchFamily="34" charset="0"/>
              </a:rPr>
              <a:t> </a:t>
            </a:r>
            <a:r>
              <a:rPr lang="en-US" sz="1300" b="1" dirty="0">
                <a:effectLst/>
                <a:latin typeface="+mn-lt"/>
                <a:ea typeface="Aptos" panose="020B0004020202020204" pitchFamily="34" charset="0"/>
                <a:cs typeface="Arial" panose="020B0604020202020204" pitchFamily="34" charset="0"/>
              </a:rPr>
              <a:t>Gumbel Distribution, </a:t>
            </a:r>
            <a:r>
              <a:rPr lang="en-US" sz="1300" dirty="0">
                <a:effectLst/>
                <a:latin typeface="+mn-lt"/>
                <a:ea typeface="Aptos" panose="020B0004020202020204" pitchFamily="34" charset="0"/>
                <a:cs typeface="Arial" panose="020B0604020202020204" pitchFamily="34" charset="0"/>
              </a:rPr>
              <a:t>heavy tailed</a:t>
            </a:r>
            <a:endParaRPr lang="en-US" sz="1100" dirty="0"/>
          </a:p>
          <a:p>
            <a:pPr marL="457200" indent="-457200">
              <a:lnSpc>
                <a:spcPct val="100000"/>
              </a:lnSpc>
              <a:buFont typeface="+mj-lt"/>
              <a:buAutoNum type="arabicPeriod"/>
            </a:pPr>
            <a:endParaRPr lang="it-IT" sz="2000" dirty="0"/>
          </a:p>
        </p:txBody>
      </p:sp>
      <p:pic>
        <p:nvPicPr>
          <p:cNvPr id="4" name="Picture 3">
            <a:extLst>
              <a:ext uri="{FF2B5EF4-FFF2-40B4-BE49-F238E27FC236}">
                <a16:creationId xmlns:a16="http://schemas.microsoft.com/office/drawing/2014/main" id="{088AD4A5-1E56-7512-F224-01E9CCFFC2D0}"/>
              </a:ext>
            </a:extLst>
          </p:cNvPr>
          <p:cNvPicPr>
            <a:picLocks noChangeAspect="1"/>
          </p:cNvPicPr>
          <p:nvPr/>
        </p:nvPicPr>
        <p:blipFill>
          <a:blip r:embed="rId2"/>
          <a:stretch>
            <a:fillRect/>
          </a:stretch>
        </p:blipFill>
        <p:spPr>
          <a:xfrm>
            <a:off x="11154408" y="717147"/>
            <a:ext cx="383746" cy="383746"/>
          </a:xfrm>
          <a:prstGeom prst="rect">
            <a:avLst/>
          </a:prstGeom>
        </p:spPr>
      </p:pic>
      <p:sp>
        <p:nvSpPr>
          <p:cNvPr id="7" name="Content Placeholder 4">
            <a:extLst>
              <a:ext uri="{FF2B5EF4-FFF2-40B4-BE49-F238E27FC236}">
                <a16:creationId xmlns:a16="http://schemas.microsoft.com/office/drawing/2014/main" id="{22D3F2B4-E32D-10B8-6BB4-BD731FF875C6}"/>
              </a:ext>
            </a:extLst>
          </p:cNvPr>
          <p:cNvSpPr txBox="1">
            <a:spLocks/>
          </p:cNvSpPr>
          <p:nvPr/>
        </p:nvSpPr>
        <p:spPr>
          <a:xfrm>
            <a:off x="5472052" y="1100893"/>
            <a:ext cx="4902542" cy="1166645"/>
          </a:xfrm>
          <a:prstGeom prst="rect">
            <a:avLst/>
          </a:prstGeom>
        </p:spPr>
        <p:txBody>
          <a:bodyPr vert="horz" lIns="91440" tIns="45720" rIns="91440" bIns="45720" rtlCol="0">
            <a:normAutofit fontScale="77500" lnSpcReduction="20000"/>
          </a:bodyPr>
          <a:lst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lang="en-US" sz="2400"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lang="en-US" sz="20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lang="en-US" sz="16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lang="en-US" sz="14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lang="en-US" sz="1400" kern="1200" noProof="0" dirty="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60000" indent="-360000" algn="just" defTabSz="685783">
              <a:lnSpc>
                <a:spcPct val="120000"/>
              </a:lnSpc>
              <a:spcBef>
                <a:spcPts val="750"/>
              </a:spcBef>
              <a:buClr>
                <a:srgbClr val="002060"/>
              </a:buClr>
              <a:buSzPct val="100000"/>
              <a:buFont typeface="Wingdings" panose="05000000000000000000" pitchFamily="2" charset="2"/>
              <a:buChar char="v"/>
            </a:pPr>
            <a:r>
              <a:rPr lang="it-IT" sz="2000" b="1" dirty="0">
                <a:latin typeface="Tahoma" panose="020B0604030504040204" pitchFamily="34" charset="0"/>
                <a:ea typeface="Tahoma" panose="020B0604030504040204" pitchFamily="34" charset="0"/>
                <a:cs typeface="Tahoma" panose="020B0604030504040204" pitchFamily="34" charset="0"/>
              </a:rPr>
              <a:t>GEV </a:t>
            </a:r>
            <a:r>
              <a:rPr lang="it-IT" sz="2000" dirty="0">
                <a:latin typeface="Tahoma" panose="020B0604030504040204" pitchFamily="34" charset="0"/>
                <a:ea typeface="Tahoma" panose="020B0604030504040204" pitchFamily="34" charset="0"/>
                <a:cs typeface="Tahoma" panose="020B0604030504040204" pitchFamily="34" charset="0"/>
              </a:rPr>
              <a:t>– </a:t>
            </a:r>
            <a:r>
              <a:rPr lang="it-IT" sz="2000" dirty="0" err="1">
                <a:latin typeface="Tahoma" panose="020B0604030504040204" pitchFamily="34" charset="0"/>
                <a:ea typeface="Tahoma" panose="020B0604030504040204" pitchFamily="34" charset="0"/>
                <a:cs typeface="Tahoma" panose="020B0604030504040204" pitchFamily="34" charset="0"/>
              </a:rPr>
              <a:t>Generalized</a:t>
            </a:r>
            <a:r>
              <a:rPr lang="it-IT" sz="2000" dirty="0">
                <a:latin typeface="Tahoma" panose="020B0604030504040204" pitchFamily="34" charset="0"/>
                <a:ea typeface="Tahoma" panose="020B0604030504040204" pitchFamily="34" charset="0"/>
                <a:cs typeface="Tahoma" panose="020B0604030504040204" pitchFamily="34" charset="0"/>
              </a:rPr>
              <a:t> Extreme Value – </a:t>
            </a:r>
            <a:r>
              <a:rPr lang="it-IT" sz="2000" dirty="0" err="1">
                <a:latin typeface="Tahoma" panose="020B0604030504040204" pitchFamily="34" charset="0"/>
                <a:ea typeface="Tahoma" panose="020B0604030504040204" pitchFamily="34" charset="0"/>
                <a:cs typeface="Tahoma" panose="020B0604030504040204" pitchFamily="34" charset="0"/>
              </a:rPr>
              <a:t>distribution</a:t>
            </a:r>
            <a:r>
              <a:rPr lang="it-IT" sz="2000" dirty="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is a foundational model in EVT that combines the three possible types of extreme value distributions into a single, comprehensive family</a:t>
            </a:r>
          </a:p>
        </p:txBody>
      </p:sp>
      <p:sp>
        <p:nvSpPr>
          <p:cNvPr id="8" name="Content Placeholder 4">
            <a:extLst>
              <a:ext uri="{FF2B5EF4-FFF2-40B4-BE49-F238E27FC236}">
                <a16:creationId xmlns:a16="http://schemas.microsoft.com/office/drawing/2014/main" id="{814D6C2D-840F-589D-E8E5-310B1E0E1418}"/>
              </a:ext>
            </a:extLst>
          </p:cNvPr>
          <p:cNvSpPr txBox="1">
            <a:spLocks/>
          </p:cNvSpPr>
          <p:nvPr/>
        </p:nvSpPr>
        <p:spPr>
          <a:xfrm>
            <a:off x="653843" y="1100893"/>
            <a:ext cx="4626516" cy="881731"/>
          </a:xfrm>
          <a:prstGeom prst="rect">
            <a:avLst/>
          </a:prstGeom>
        </p:spPr>
        <p:txBody>
          <a:bodyPr vert="horz" lIns="91440" tIns="45720" rIns="91440" bIns="45720" rtlCol="0">
            <a:normAutofit/>
          </a:bodyPr>
          <a:lst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lang="en-US" sz="2400"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lang="en-US" sz="20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lang="en-US" sz="16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lang="en-US" sz="14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lang="en-US" sz="1400" kern="1200" noProof="0" dirty="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lnSpc>
                <a:spcPct val="120000"/>
              </a:lnSpc>
            </a:pPr>
            <a:r>
              <a:rPr lang="en-US" sz="1400" b="1" dirty="0">
                <a:latin typeface="Tahoma" panose="020B0604030504040204" pitchFamily="34" charset="0"/>
                <a:ea typeface="Tahoma" panose="020B0604030504040204" pitchFamily="34" charset="0"/>
                <a:cs typeface="Tahoma" panose="020B0604030504040204" pitchFamily="34" charset="0"/>
              </a:rPr>
              <a:t>Extreme Value Theory </a:t>
            </a:r>
            <a:r>
              <a:rPr lang="en-US" sz="1400" dirty="0">
                <a:latin typeface="Tahoma" panose="020B0604030504040204" pitchFamily="34" charset="0"/>
                <a:ea typeface="Tahoma" panose="020B0604030504040204" pitchFamily="34" charset="0"/>
                <a:cs typeface="Tahoma" panose="020B0604030504040204" pitchFamily="34" charset="0"/>
              </a:rPr>
              <a:t>is a branch of statistics that focuses on the behavior of the tails of a distribution, rather than the central tendency.</a:t>
            </a:r>
          </a:p>
          <a:p>
            <a:pPr marL="360000" indent="-360000" algn="just" defTabSz="685783">
              <a:spcBef>
                <a:spcPts val="750"/>
              </a:spcBef>
              <a:buClr>
                <a:srgbClr val="002060"/>
              </a:buClr>
              <a:buSzPct val="100000"/>
              <a:buFont typeface="Wingdings" panose="05000000000000000000" pitchFamily="2" charset="2"/>
              <a:buChar char="v"/>
            </a:pPr>
            <a:endParaRPr lang="en-US" sz="1400" dirty="0">
              <a:latin typeface="Tahoma" panose="020B0604030504040204" pitchFamily="34" charset="0"/>
              <a:ea typeface="Tahoma" panose="020B0604030504040204" pitchFamily="34" charset="0"/>
              <a:cs typeface="Tahoma" panose="020B0604030504040204" pitchFamily="34" charset="0"/>
            </a:endParaRPr>
          </a:p>
        </p:txBody>
      </p:sp>
      <p:pic>
        <p:nvPicPr>
          <p:cNvPr id="9" name="Picture 8">
            <a:extLst>
              <a:ext uri="{FF2B5EF4-FFF2-40B4-BE49-F238E27FC236}">
                <a16:creationId xmlns:a16="http://schemas.microsoft.com/office/drawing/2014/main" id="{B492467D-EF71-E4C7-0C39-34EE17FEC051}"/>
              </a:ext>
            </a:extLst>
          </p:cNvPr>
          <p:cNvPicPr>
            <a:picLocks noChangeAspect="1"/>
          </p:cNvPicPr>
          <p:nvPr/>
        </p:nvPicPr>
        <p:blipFill>
          <a:blip r:embed="rId3"/>
          <a:stretch>
            <a:fillRect/>
          </a:stretch>
        </p:blipFill>
        <p:spPr>
          <a:xfrm>
            <a:off x="3938125" y="3855135"/>
            <a:ext cx="4315750" cy="844385"/>
          </a:xfrm>
          <a:prstGeom prst="rect">
            <a:avLst/>
          </a:prstGeom>
        </p:spPr>
      </p:pic>
    </p:spTree>
    <p:extLst>
      <p:ext uri="{BB962C8B-B14F-4D97-AF65-F5344CB8AC3E}">
        <p14:creationId xmlns:p14="http://schemas.microsoft.com/office/powerpoint/2010/main" val="3934564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33E903-8F2A-FEAD-D93D-7ADD1FD6B714}"/>
              </a:ext>
            </a:extLst>
          </p:cNvPr>
          <p:cNvSpPr>
            <a:spLocks noGrp="1"/>
          </p:cNvSpPr>
          <p:nvPr>
            <p:ph type="title"/>
          </p:nvPr>
        </p:nvSpPr>
        <p:spPr/>
        <p:txBody>
          <a:bodyPr/>
          <a:lstStyle/>
          <a:p>
            <a:r>
              <a:rPr lang="en-US" dirty="0"/>
              <a:t>Starting hypothesis – Price volatility in CRMs markets</a:t>
            </a:r>
            <a:r>
              <a:rPr lang="en-US" sz="2800" dirty="0"/>
              <a:t> – GARCH + EVT</a:t>
            </a:r>
            <a:endParaRPr lang="it-IT" dirty="0"/>
          </a:p>
        </p:txBody>
      </p:sp>
      <p:sp>
        <p:nvSpPr>
          <p:cNvPr id="5" name="Content Placeholder 4">
            <a:extLst>
              <a:ext uri="{FF2B5EF4-FFF2-40B4-BE49-F238E27FC236}">
                <a16:creationId xmlns:a16="http://schemas.microsoft.com/office/drawing/2014/main" id="{ED23CA7A-2FCB-A18E-B3F0-94472AE30CF3}"/>
              </a:ext>
            </a:extLst>
          </p:cNvPr>
          <p:cNvSpPr>
            <a:spLocks noGrp="1"/>
          </p:cNvSpPr>
          <p:nvPr>
            <p:ph idx="13"/>
          </p:nvPr>
        </p:nvSpPr>
        <p:spPr>
          <a:xfrm>
            <a:off x="653847" y="1084475"/>
            <a:ext cx="8656602" cy="5064369"/>
          </a:xfrm>
        </p:spPr>
        <p:txBody>
          <a:bodyPr>
            <a:normAutofit fontScale="77500" lnSpcReduction="20000"/>
          </a:bodyPr>
          <a:lstStyle/>
          <a:p>
            <a:pPr marL="457200" indent="-457200">
              <a:lnSpc>
                <a:spcPct val="120000"/>
              </a:lnSpc>
              <a:buFont typeface="+mj-lt"/>
              <a:buAutoNum type="arabicPeriod" startAt="4"/>
            </a:pPr>
            <a:r>
              <a:rPr lang="en-US" dirty="0"/>
              <a:t>The GEV PDF is found and plotted (histogram of historical data and fitting) </a:t>
            </a:r>
          </a:p>
          <a:p>
            <a:pPr marL="457200" indent="-457200">
              <a:lnSpc>
                <a:spcPct val="120000"/>
              </a:lnSpc>
              <a:buFont typeface="+mj-lt"/>
              <a:buAutoNum type="arabicPeriod" startAt="4"/>
            </a:pPr>
            <a:endParaRPr lang="en-US" dirty="0"/>
          </a:p>
          <a:p>
            <a:pPr marL="457200" indent="-457200">
              <a:lnSpc>
                <a:spcPct val="120000"/>
              </a:lnSpc>
              <a:buFont typeface="+mj-lt"/>
              <a:buAutoNum type="arabicPeriod" startAt="4"/>
            </a:pPr>
            <a:endParaRPr lang="en-US" dirty="0"/>
          </a:p>
          <a:p>
            <a:pPr marL="457200" indent="-457200">
              <a:lnSpc>
                <a:spcPct val="120000"/>
              </a:lnSpc>
              <a:buFont typeface="+mj-lt"/>
              <a:buAutoNum type="arabicPeriod" startAt="5"/>
            </a:pPr>
            <a:r>
              <a:rPr lang="it-IT" sz="2200" dirty="0"/>
              <a:t>The GEV procedure </a:t>
            </a:r>
            <a:r>
              <a:rPr lang="it-IT" sz="2200" dirty="0" err="1"/>
              <a:t>allows</a:t>
            </a:r>
            <a:r>
              <a:rPr lang="it-IT" sz="2200" dirty="0"/>
              <a:t> to determine the </a:t>
            </a:r>
            <a:r>
              <a:rPr lang="it-IT" sz="2200" b="1" dirty="0" err="1"/>
              <a:t>return</a:t>
            </a:r>
            <a:r>
              <a:rPr lang="it-IT" sz="2200" b="1" dirty="0"/>
              <a:t> </a:t>
            </a:r>
            <a:r>
              <a:rPr lang="it-IT" sz="2200" b="1" dirty="0" err="1"/>
              <a:t>levels</a:t>
            </a:r>
            <a:r>
              <a:rPr lang="it-IT" sz="2200" b="1" dirty="0"/>
              <a:t> </a:t>
            </a:r>
            <a:r>
              <a:rPr lang="it-IT" b="1" dirty="0" err="1"/>
              <a:t>z</a:t>
            </a:r>
            <a:r>
              <a:rPr lang="it-IT" sz="1100" b="1" dirty="0" err="1"/>
              <a:t>T</a:t>
            </a:r>
            <a:r>
              <a:rPr lang="it-IT" sz="1100" b="1" dirty="0"/>
              <a:t> </a:t>
            </a:r>
            <a:r>
              <a:rPr lang="it-IT" dirty="0"/>
              <a:t>for</a:t>
            </a:r>
            <a:r>
              <a:rPr lang="it-IT" sz="2200" dirty="0"/>
              <a:t> </a:t>
            </a:r>
            <a:r>
              <a:rPr lang="it-IT" sz="2200" dirty="0" err="1"/>
              <a:t>specific</a:t>
            </a:r>
            <a:r>
              <a:rPr lang="it-IT" sz="2200" dirty="0"/>
              <a:t> time </a:t>
            </a:r>
            <a:r>
              <a:rPr lang="it-IT" sz="2200" dirty="0" err="1"/>
              <a:t>periods</a:t>
            </a:r>
            <a:r>
              <a:rPr lang="it-IT" sz="2200" dirty="0"/>
              <a:t> (5, 10, 25 </a:t>
            </a:r>
            <a:r>
              <a:rPr lang="it-IT" sz="2200" dirty="0" err="1"/>
              <a:t>years</a:t>
            </a:r>
            <a:r>
              <a:rPr lang="it-IT" sz="2200" dirty="0"/>
              <a:t>). The </a:t>
            </a:r>
            <a:r>
              <a:rPr lang="it-IT" sz="2200" dirty="0" err="1"/>
              <a:t>return</a:t>
            </a:r>
            <a:r>
              <a:rPr lang="it-IT" sz="2200" dirty="0"/>
              <a:t> </a:t>
            </a:r>
            <a:r>
              <a:rPr lang="it-IT" sz="2200" dirty="0" err="1"/>
              <a:t>level</a:t>
            </a:r>
            <a:r>
              <a:rPr lang="it-IT" sz="2200" dirty="0"/>
              <a:t> </a:t>
            </a:r>
            <a:r>
              <a:rPr lang="it-IT" sz="2200" dirty="0" err="1"/>
              <a:t>is</a:t>
            </a:r>
            <a:r>
              <a:rPr lang="it-IT" sz="2200" dirty="0"/>
              <a:t> </a:t>
            </a:r>
            <a:r>
              <a:rPr lang="it-IT" sz="2200" dirty="0" err="1"/>
              <a:t>calculated</a:t>
            </a:r>
            <a:r>
              <a:rPr lang="it-IT" sz="2200" dirty="0"/>
              <a:t> </a:t>
            </a:r>
            <a:r>
              <a:rPr lang="it-IT" sz="2200" dirty="0" err="1"/>
              <a:t>using</a:t>
            </a:r>
            <a:r>
              <a:rPr lang="it-IT" sz="2200" dirty="0"/>
              <a:t> the </a:t>
            </a:r>
            <a:r>
              <a:rPr lang="it-IT" sz="2200" b="1" dirty="0"/>
              <a:t>quantile </a:t>
            </a:r>
            <a:r>
              <a:rPr lang="it-IT" sz="2200" b="1" dirty="0" err="1"/>
              <a:t>function</a:t>
            </a:r>
            <a:r>
              <a:rPr lang="it-IT" sz="2200" b="1" dirty="0"/>
              <a:t>, </a:t>
            </a:r>
            <a:r>
              <a:rPr lang="it-IT" sz="2200" dirty="0" err="1"/>
              <a:t>starting</a:t>
            </a:r>
            <a:r>
              <a:rPr lang="it-IT" sz="2200" dirty="0"/>
              <a:t> from the non-</a:t>
            </a:r>
            <a:r>
              <a:rPr lang="it-IT" sz="2200" dirty="0" err="1"/>
              <a:t>exceedance</a:t>
            </a:r>
            <a:r>
              <a:rPr lang="it-IT" sz="2200" dirty="0"/>
              <a:t> </a:t>
            </a:r>
            <a:r>
              <a:rPr lang="it-IT" sz="2200" dirty="0" err="1"/>
              <a:t>probability</a:t>
            </a:r>
            <a:r>
              <a:rPr lang="it-IT" sz="2200" dirty="0"/>
              <a:t>: p=1 - 1/T</a:t>
            </a:r>
          </a:p>
          <a:p>
            <a:pPr lvl="1">
              <a:lnSpc>
                <a:spcPct val="120000"/>
              </a:lnSpc>
            </a:pPr>
            <a:r>
              <a:rPr lang="en-US" sz="1800" dirty="0"/>
              <a:t>5-year return level: There is a 1/5=20% probability that a price change of this magnitude or greater will occur in any given year.</a:t>
            </a:r>
            <a:endParaRPr lang="it-IT" sz="1800" dirty="0"/>
          </a:p>
          <a:p>
            <a:pPr marL="342000" lvl="1" indent="0">
              <a:lnSpc>
                <a:spcPct val="120000"/>
              </a:lnSpc>
              <a:buNone/>
            </a:pPr>
            <a:endParaRPr lang="it-IT" sz="1800" b="1" dirty="0">
              <a:hlinkClick r:id="rId2" action="ppaction://hlinkfile">
                <a:extLst>
                  <a:ext uri="{A12FA001-AC4F-418D-AE19-62706E023703}">
                    <ahyp:hlinkClr xmlns:ahyp="http://schemas.microsoft.com/office/drawing/2018/hyperlinkcolor" val="tx"/>
                  </a:ext>
                </a:extLst>
              </a:hlinkClick>
            </a:endParaRPr>
          </a:p>
          <a:p>
            <a:pPr>
              <a:lnSpc>
                <a:spcPct val="120000"/>
              </a:lnSpc>
            </a:pPr>
            <a:endParaRPr lang="it-IT" dirty="0">
              <a:hlinkClick r:id="" action="ppaction://hlinkfile"/>
            </a:endParaRPr>
          </a:p>
          <a:p>
            <a:pPr>
              <a:lnSpc>
                <a:spcPct val="120000"/>
              </a:lnSpc>
            </a:pPr>
            <a:endParaRPr lang="it-IT" dirty="0">
              <a:hlinkClick r:id="" action="ppaction://hlinkfile"/>
            </a:endParaRPr>
          </a:p>
          <a:p>
            <a:pPr marL="457200" indent="-457200">
              <a:lnSpc>
                <a:spcPct val="120000"/>
              </a:lnSpc>
              <a:buFont typeface="+mj-lt"/>
              <a:buAutoNum type="arabicPeriod" startAt="6"/>
            </a:pPr>
            <a:r>
              <a:rPr lang="it-IT" dirty="0"/>
              <a:t>The </a:t>
            </a:r>
            <a:r>
              <a:rPr lang="it-IT" dirty="0" err="1"/>
              <a:t>return</a:t>
            </a:r>
            <a:r>
              <a:rPr lang="it-IT" dirty="0"/>
              <a:t> </a:t>
            </a:r>
            <a:r>
              <a:rPr lang="it-IT" dirty="0" err="1"/>
              <a:t>levels</a:t>
            </a:r>
            <a:r>
              <a:rPr lang="it-IT" dirty="0"/>
              <a:t> can be </a:t>
            </a:r>
            <a:r>
              <a:rPr lang="it-IT" dirty="0" err="1"/>
              <a:t>used</a:t>
            </a:r>
            <a:r>
              <a:rPr lang="it-IT" dirty="0"/>
              <a:t> to determine </a:t>
            </a:r>
            <a:r>
              <a:rPr lang="it-IT" dirty="0" err="1"/>
              <a:t>specific</a:t>
            </a:r>
            <a:r>
              <a:rPr lang="it-IT" dirty="0"/>
              <a:t> </a:t>
            </a:r>
            <a:r>
              <a:rPr lang="it-IT" dirty="0" err="1"/>
              <a:t>scenarios</a:t>
            </a:r>
            <a:r>
              <a:rPr lang="it-IT" dirty="0"/>
              <a:t> of </a:t>
            </a:r>
            <a:r>
              <a:rPr lang="it-IT" dirty="0" err="1"/>
              <a:t>extreme</a:t>
            </a:r>
            <a:r>
              <a:rPr lang="it-IT" dirty="0"/>
              <a:t> price </a:t>
            </a:r>
            <a:r>
              <a:rPr lang="it-IT" dirty="0" err="1"/>
              <a:t>values</a:t>
            </a:r>
            <a:r>
              <a:rPr lang="it-IT" dirty="0"/>
              <a:t>, with </a:t>
            </a:r>
            <a:r>
              <a:rPr lang="it-IT" dirty="0" err="1"/>
              <a:t>proper</a:t>
            </a:r>
            <a:r>
              <a:rPr lang="it-IT" dirty="0"/>
              <a:t> </a:t>
            </a:r>
            <a:r>
              <a:rPr lang="it-IT" dirty="0" err="1"/>
              <a:t>quantified</a:t>
            </a:r>
            <a:r>
              <a:rPr lang="it-IT" dirty="0"/>
              <a:t> risks (</a:t>
            </a:r>
            <a:r>
              <a:rPr lang="it-IT" dirty="0" err="1"/>
              <a:t>probabilities</a:t>
            </a:r>
            <a:r>
              <a:rPr lang="it-IT" dirty="0"/>
              <a:t>)</a:t>
            </a:r>
            <a:endParaRPr lang="it-IT" dirty="0">
              <a:hlinkClick r:id="rId2" action="ppaction://hlinkfile"/>
            </a:endParaRPr>
          </a:p>
          <a:p>
            <a:pPr marL="457200" indent="-457200">
              <a:lnSpc>
                <a:spcPct val="120000"/>
              </a:lnSpc>
              <a:buFont typeface="+mj-lt"/>
              <a:buAutoNum type="arabicPeriod" startAt="6"/>
            </a:pPr>
            <a:r>
              <a:rPr lang="it-IT" dirty="0">
                <a:solidFill>
                  <a:schemeClr val="accent1"/>
                </a:solidFill>
              </a:rPr>
              <a:t>In alternative, the GEV </a:t>
            </a:r>
            <a:r>
              <a:rPr lang="it-IT" dirty="0" err="1">
                <a:solidFill>
                  <a:schemeClr val="accent1"/>
                </a:solidFill>
              </a:rPr>
              <a:t>results</a:t>
            </a:r>
            <a:r>
              <a:rPr lang="it-IT" dirty="0">
                <a:solidFill>
                  <a:schemeClr val="accent1"/>
                </a:solidFill>
              </a:rPr>
              <a:t> can be </a:t>
            </a:r>
            <a:r>
              <a:rPr lang="it-IT" dirty="0" err="1">
                <a:solidFill>
                  <a:schemeClr val="accent1"/>
                </a:solidFill>
              </a:rPr>
              <a:t>used</a:t>
            </a:r>
            <a:r>
              <a:rPr lang="it-IT" dirty="0">
                <a:solidFill>
                  <a:schemeClr val="accent1"/>
                </a:solidFill>
              </a:rPr>
              <a:t> </a:t>
            </a:r>
            <a:r>
              <a:rPr lang="it-IT" dirty="0" err="1">
                <a:solidFill>
                  <a:schemeClr val="accent1"/>
                </a:solidFill>
              </a:rPr>
              <a:t>as</a:t>
            </a:r>
            <a:r>
              <a:rPr lang="it-IT" dirty="0">
                <a:solidFill>
                  <a:schemeClr val="accent1"/>
                </a:solidFill>
              </a:rPr>
              <a:t> a </a:t>
            </a:r>
            <a:r>
              <a:rPr lang="it-IT" dirty="0" err="1">
                <a:solidFill>
                  <a:schemeClr val="accent1"/>
                </a:solidFill>
              </a:rPr>
              <a:t>robustness</a:t>
            </a:r>
            <a:r>
              <a:rPr lang="it-IT" dirty="0">
                <a:solidFill>
                  <a:schemeClr val="accent1"/>
                </a:solidFill>
              </a:rPr>
              <a:t> check to study the </a:t>
            </a:r>
            <a:r>
              <a:rPr lang="it-IT" dirty="0" err="1">
                <a:solidFill>
                  <a:schemeClr val="accent1"/>
                </a:solidFill>
              </a:rPr>
              <a:t>extreme</a:t>
            </a:r>
            <a:r>
              <a:rPr lang="it-IT" dirty="0">
                <a:solidFill>
                  <a:schemeClr val="accent1"/>
                </a:solidFill>
              </a:rPr>
              <a:t> price </a:t>
            </a:r>
            <a:r>
              <a:rPr lang="it-IT" dirty="0" err="1">
                <a:solidFill>
                  <a:schemeClr val="accent1"/>
                </a:solidFill>
              </a:rPr>
              <a:t>behaviour</a:t>
            </a:r>
            <a:r>
              <a:rPr lang="it-IT" dirty="0">
                <a:solidFill>
                  <a:schemeClr val="accent1"/>
                </a:solidFill>
              </a:rPr>
              <a:t> of the </a:t>
            </a:r>
            <a:r>
              <a:rPr lang="it-IT" dirty="0" err="1">
                <a:solidFill>
                  <a:schemeClr val="accent1"/>
                </a:solidFill>
              </a:rPr>
              <a:t>materials</a:t>
            </a:r>
            <a:endParaRPr lang="it-IT" dirty="0">
              <a:solidFill>
                <a:schemeClr val="accent1"/>
              </a:solidFill>
            </a:endParaRPr>
          </a:p>
          <a:p>
            <a:pPr marL="457200" indent="-457200">
              <a:buFont typeface="+mj-lt"/>
              <a:buAutoNum type="arabicPeriod" startAt="4"/>
            </a:pPr>
            <a:endParaRPr lang="en-US" dirty="0"/>
          </a:p>
          <a:p>
            <a:pPr marL="457200" indent="-457200">
              <a:buFont typeface="+mj-lt"/>
              <a:buAutoNum type="arabicPeriod" startAt="4"/>
            </a:pPr>
            <a:endParaRPr lang="it-IT" dirty="0"/>
          </a:p>
        </p:txBody>
      </p:sp>
      <p:pic>
        <p:nvPicPr>
          <p:cNvPr id="2" name="Picture 1">
            <a:extLst>
              <a:ext uri="{FF2B5EF4-FFF2-40B4-BE49-F238E27FC236}">
                <a16:creationId xmlns:a16="http://schemas.microsoft.com/office/drawing/2014/main" id="{119AD4DC-C83F-EE57-2420-36B82989A154}"/>
              </a:ext>
            </a:extLst>
          </p:cNvPr>
          <p:cNvPicPr>
            <a:picLocks noChangeAspect="1"/>
          </p:cNvPicPr>
          <p:nvPr/>
        </p:nvPicPr>
        <p:blipFill>
          <a:blip r:embed="rId3">
            <a:extLst>
              <a:ext uri="{28A0092B-C50C-407E-A947-70E740481C1C}">
                <a14:useLocalDpi xmlns:a14="http://schemas.microsoft.com/office/drawing/2010/main" val="0"/>
              </a:ext>
            </a:extLst>
          </a:blip>
          <a:srcRect b="59314"/>
          <a:stretch/>
        </p:blipFill>
        <p:spPr>
          <a:xfrm>
            <a:off x="2787548" y="1537237"/>
            <a:ext cx="5862263" cy="705287"/>
          </a:xfrm>
          <a:prstGeom prst="rect">
            <a:avLst/>
          </a:prstGeom>
        </p:spPr>
      </p:pic>
      <p:grpSp>
        <p:nvGrpSpPr>
          <p:cNvPr id="15" name="Group 14">
            <a:extLst>
              <a:ext uri="{FF2B5EF4-FFF2-40B4-BE49-F238E27FC236}">
                <a16:creationId xmlns:a16="http://schemas.microsoft.com/office/drawing/2014/main" id="{D442B71D-6C5D-69AC-D025-63D8AC0A90D2}"/>
              </a:ext>
            </a:extLst>
          </p:cNvPr>
          <p:cNvGrpSpPr/>
          <p:nvPr/>
        </p:nvGrpSpPr>
        <p:grpSpPr>
          <a:xfrm>
            <a:off x="9356628" y="1681019"/>
            <a:ext cx="2382979" cy="4315983"/>
            <a:chOff x="9310448" y="1514759"/>
            <a:chExt cx="2382979" cy="4315983"/>
          </a:xfrm>
        </p:grpSpPr>
        <p:pic>
          <p:nvPicPr>
            <p:cNvPr id="10" name="Picture 9" descr="A graph with a red line&#10;&#10;AI-generated content may be incorrect.">
              <a:extLst>
                <a:ext uri="{FF2B5EF4-FFF2-40B4-BE49-F238E27FC236}">
                  <a16:creationId xmlns:a16="http://schemas.microsoft.com/office/drawing/2014/main" id="{36535287-CC39-5155-FACC-E3DD7944FDA6}"/>
                </a:ext>
              </a:extLst>
            </p:cNvPr>
            <p:cNvPicPr>
              <a:picLocks noChangeAspect="1"/>
            </p:cNvPicPr>
            <p:nvPr/>
          </p:nvPicPr>
          <p:blipFill>
            <a:blip r:embed="rId4">
              <a:extLst>
                <a:ext uri="{28A0092B-C50C-407E-A947-70E740481C1C}">
                  <a14:useLocalDpi xmlns:a14="http://schemas.microsoft.com/office/drawing/2010/main" val="0"/>
                </a:ext>
              </a:extLst>
            </a:blip>
            <a:srcRect l="12223" t="11575" r="9596" b="10648"/>
            <a:stretch/>
          </p:blipFill>
          <p:spPr>
            <a:xfrm>
              <a:off x="9310448" y="4408344"/>
              <a:ext cx="2382979" cy="1422398"/>
            </a:xfrm>
            <a:prstGeom prst="rect">
              <a:avLst/>
            </a:prstGeom>
          </p:spPr>
        </p:pic>
        <p:pic>
          <p:nvPicPr>
            <p:cNvPr id="12" name="Picture 11">
              <a:extLst>
                <a:ext uri="{FF2B5EF4-FFF2-40B4-BE49-F238E27FC236}">
                  <a16:creationId xmlns:a16="http://schemas.microsoft.com/office/drawing/2014/main" id="{1EEFDBC2-19D6-A2B0-5F52-ACC8D5914D09}"/>
                </a:ext>
              </a:extLst>
            </p:cNvPr>
            <p:cNvPicPr>
              <a:picLocks noChangeAspect="1"/>
            </p:cNvPicPr>
            <p:nvPr/>
          </p:nvPicPr>
          <p:blipFill>
            <a:blip r:embed="rId5"/>
            <a:stretch>
              <a:fillRect/>
            </a:stretch>
          </p:blipFill>
          <p:spPr>
            <a:xfrm>
              <a:off x="9310448" y="2955631"/>
              <a:ext cx="2382979" cy="1431635"/>
            </a:xfrm>
            <a:prstGeom prst="rect">
              <a:avLst/>
            </a:prstGeom>
          </p:spPr>
        </p:pic>
        <p:pic>
          <p:nvPicPr>
            <p:cNvPr id="14" name="Picture 13" descr="A graph with a red line&#10;&#10;AI-generated content may be incorrect.">
              <a:extLst>
                <a:ext uri="{FF2B5EF4-FFF2-40B4-BE49-F238E27FC236}">
                  <a16:creationId xmlns:a16="http://schemas.microsoft.com/office/drawing/2014/main" id="{DFB4A4AA-0881-9D0A-B7E5-924A09535D86}"/>
                </a:ext>
              </a:extLst>
            </p:cNvPr>
            <p:cNvPicPr>
              <a:picLocks noChangeAspect="1"/>
            </p:cNvPicPr>
            <p:nvPr/>
          </p:nvPicPr>
          <p:blipFill>
            <a:blip r:embed="rId6">
              <a:extLst>
                <a:ext uri="{28A0092B-C50C-407E-A947-70E740481C1C}">
                  <a14:useLocalDpi xmlns:a14="http://schemas.microsoft.com/office/drawing/2010/main" val="0"/>
                </a:ext>
              </a:extLst>
            </a:blip>
            <a:srcRect l="11706" t="11284" r="9224" b="9203"/>
            <a:stretch/>
          </p:blipFill>
          <p:spPr>
            <a:xfrm>
              <a:off x="9310448" y="1514759"/>
              <a:ext cx="2382979" cy="1437775"/>
            </a:xfrm>
            <a:prstGeom prst="rect">
              <a:avLst/>
            </a:prstGeom>
          </p:spPr>
        </p:pic>
      </p:grpSp>
      <p:pic>
        <p:nvPicPr>
          <p:cNvPr id="6" name="Picture 5">
            <a:extLst>
              <a:ext uri="{FF2B5EF4-FFF2-40B4-BE49-F238E27FC236}">
                <a16:creationId xmlns:a16="http://schemas.microsoft.com/office/drawing/2014/main" id="{EABE69C5-E252-AD6F-36F2-CA263CC6F0C3}"/>
              </a:ext>
            </a:extLst>
          </p:cNvPr>
          <p:cNvPicPr>
            <a:picLocks noChangeAspect="1"/>
          </p:cNvPicPr>
          <p:nvPr/>
        </p:nvPicPr>
        <p:blipFill>
          <a:blip r:embed="rId7"/>
          <a:stretch>
            <a:fillRect/>
          </a:stretch>
        </p:blipFill>
        <p:spPr>
          <a:xfrm>
            <a:off x="11194990" y="717147"/>
            <a:ext cx="343163" cy="343163"/>
          </a:xfrm>
          <a:prstGeom prst="rect">
            <a:avLst/>
          </a:prstGeom>
        </p:spPr>
      </p:pic>
      <p:pic>
        <p:nvPicPr>
          <p:cNvPr id="4" name="Picture 3">
            <a:extLst>
              <a:ext uri="{FF2B5EF4-FFF2-40B4-BE49-F238E27FC236}">
                <a16:creationId xmlns:a16="http://schemas.microsoft.com/office/drawing/2014/main" id="{9980B1FA-DB64-89F1-631B-3EBC2645BAF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30168" y="4105860"/>
            <a:ext cx="2511196" cy="666587"/>
          </a:xfrm>
          <a:prstGeom prst="rect">
            <a:avLst/>
          </a:prstGeom>
        </p:spPr>
      </p:pic>
    </p:spTree>
    <p:extLst>
      <p:ext uri="{BB962C8B-B14F-4D97-AF65-F5344CB8AC3E}">
        <p14:creationId xmlns:p14="http://schemas.microsoft.com/office/powerpoint/2010/main" val="2698442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33E903-8F2A-FEAD-D93D-7ADD1FD6B714}"/>
              </a:ext>
            </a:extLst>
          </p:cNvPr>
          <p:cNvSpPr>
            <a:spLocks noGrp="1"/>
          </p:cNvSpPr>
          <p:nvPr>
            <p:ph type="title"/>
          </p:nvPr>
        </p:nvSpPr>
        <p:spPr/>
        <p:txBody>
          <a:bodyPr/>
          <a:lstStyle/>
          <a:p>
            <a:r>
              <a:rPr lang="en-US" dirty="0"/>
              <a:t>Starting hypothesis – Price volatility in CRMs markets</a:t>
            </a:r>
            <a:r>
              <a:rPr lang="en-US" sz="2800" dirty="0"/>
              <a:t> – GARCH + EVT</a:t>
            </a:r>
            <a:endParaRPr lang="it-IT" dirty="0"/>
          </a:p>
        </p:txBody>
      </p:sp>
      <p:sp>
        <p:nvSpPr>
          <p:cNvPr id="5" name="Content Placeholder 4">
            <a:extLst>
              <a:ext uri="{FF2B5EF4-FFF2-40B4-BE49-F238E27FC236}">
                <a16:creationId xmlns:a16="http://schemas.microsoft.com/office/drawing/2014/main" id="{ED23CA7A-2FCB-A18E-B3F0-94472AE30CF3}"/>
              </a:ext>
            </a:extLst>
          </p:cNvPr>
          <p:cNvSpPr>
            <a:spLocks noGrp="1"/>
          </p:cNvSpPr>
          <p:nvPr>
            <p:ph idx="13"/>
          </p:nvPr>
        </p:nvSpPr>
        <p:spPr/>
        <p:txBody>
          <a:bodyPr/>
          <a:lstStyle/>
          <a:p>
            <a:r>
              <a:rPr lang="en-US" dirty="0"/>
              <a:t>From the literature, GEV is applied to determine market volatility, but it requires almost about 30 data to get realistic and robust results</a:t>
            </a:r>
          </a:p>
          <a:p>
            <a:r>
              <a:rPr lang="en-US" dirty="0"/>
              <a:t>So, a 2-years window will be used to label the historical trends data, where the maximum absolute % is selected for each couple of years</a:t>
            </a:r>
          </a:p>
          <a:p>
            <a:r>
              <a:rPr lang="en-US" dirty="0"/>
              <a:t>A 5-years window could better emphasize the long-lasting volatility, but here we don’t have enough raw data to process</a:t>
            </a:r>
          </a:p>
          <a:p>
            <a:pPr lvl="1"/>
            <a:r>
              <a:rPr lang="en-US" dirty="0"/>
              <a:t>A shock in a 5-years window, if repeated or consecutive, would tell us that there could be the probability of a shock every 5 years, or lasting more than that time span</a:t>
            </a:r>
          </a:p>
          <a:p>
            <a:pPr lvl="1"/>
            <a:r>
              <a:rPr lang="en-US" dirty="0"/>
              <a:t>A shock in a 2-years window is easily linked to less-lasting phenomena</a:t>
            </a:r>
          </a:p>
          <a:p>
            <a:endParaRPr lang="it-IT" dirty="0"/>
          </a:p>
        </p:txBody>
      </p:sp>
      <p:pic>
        <p:nvPicPr>
          <p:cNvPr id="2" name="Picture 1">
            <a:extLst>
              <a:ext uri="{FF2B5EF4-FFF2-40B4-BE49-F238E27FC236}">
                <a16:creationId xmlns:a16="http://schemas.microsoft.com/office/drawing/2014/main" id="{6F5742EB-103F-07E9-20CB-836D71FC2681}"/>
              </a:ext>
            </a:extLst>
          </p:cNvPr>
          <p:cNvPicPr>
            <a:picLocks noChangeAspect="1"/>
          </p:cNvPicPr>
          <p:nvPr/>
        </p:nvPicPr>
        <p:blipFill>
          <a:blip r:embed="rId2"/>
          <a:stretch>
            <a:fillRect/>
          </a:stretch>
        </p:blipFill>
        <p:spPr>
          <a:xfrm>
            <a:off x="10997028" y="717147"/>
            <a:ext cx="541126" cy="541126"/>
          </a:xfrm>
          <a:prstGeom prst="rect">
            <a:avLst/>
          </a:prstGeom>
        </p:spPr>
      </p:pic>
    </p:spTree>
    <p:extLst>
      <p:ext uri="{BB962C8B-B14F-4D97-AF65-F5344CB8AC3E}">
        <p14:creationId xmlns:p14="http://schemas.microsoft.com/office/powerpoint/2010/main" val="67609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33E903-8F2A-FEAD-D93D-7ADD1FD6B714}"/>
              </a:ext>
            </a:extLst>
          </p:cNvPr>
          <p:cNvSpPr>
            <a:spLocks noGrp="1"/>
          </p:cNvSpPr>
          <p:nvPr>
            <p:ph type="title"/>
          </p:nvPr>
        </p:nvSpPr>
        <p:spPr/>
        <p:txBody>
          <a:bodyPr/>
          <a:lstStyle/>
          <a:p>
            <a:r>
              <a:rPr lang="en-US" dirty="0"/>
              <a:t>Starting hypothesis – Price volatility in CRMs markets</a:t>
            </a:r>
            <a:r>
              <a:rPr lang="en-US" sz="2800" dirty="0"/>
              <a:t> – GARCH + EVT</a:t>
            </a:r>
            <a:endParaRPr lang="it-IT" dirty="0"/>
          </a:p>
        </p:txBody>
      </p:sp>
      <p:graphicFrame>
        <p:nvGraphicFramePr>
          <p:cNvPr id="4" name="Content Placeholder 3">
            <a:extLst>
              <a:ext uri="{FF2B5EF4-FFF2-40B4-BE49-F238E27FC236}">
                <a16:creationId xmlns:a16="http://schemas.microsoft.com/office/drawing/2014/main" id="{7CB7EDEA-8698-4D70-F8EE-9F47B3A5961D}"/>
              </a:ext>
            </a:extLst>
          </p:cNvPr>
          <p:cNvGraphicFramePr>
            <a:graphicFrameLocks noGrp="1"/>
          </p:cNvGraphicFramePr>
          <p:nvPr>
            <p:ph idx="13"/>
          </p:nvPr>
        </p:nvGraphicFramePr>
        <p:xfrm>
          <a:off x="653846" y="1187821"/>
          <a:ext cx="10883900" cy="5064125"/>
        </p:xfrm>
        <a:graphic>
          <a:graphicData uri="http://schemas.openxmlformats.org/drawingml/2006/chart">
            <c:chart xmlns:c="http://schemas.openxmlformats.org/drawingml/2006/chart" xmlns:r="http://schemas.openxmlformats.org/officeDocument/2006/relationships" r:id="rId2"/>
          </a:graphicData>
        </a:graphic>
      </p:graphicFrame>
      <p:pic>
        <p:nvPicPr>
          <p:cNvPr id="2" name="Picture 1">
            <a:extLst>
              <a:ext uri="{FF2B5EF4-FFF2-40B4-BE49-F238E27FC236}">
                <a16:creationId xmlns:a16="http://schemas.microsoft.com/office/drawing/2014/main" id="{68943DB9-3656-A616-394E-3443BBCC1EE4}"/>
              </a:ext>
            </a:extLst>
          </p:cNvPr>
          <p:cNvPicPr>
            <a:picLocks noChangeAspect="1"/>
          </p:cNvPicPr>
          <p:nvPr/>
        </p:nvPicPr>
        <p:blipFill>
          <a:blip r:embed="rId3"/>
          <a:stretch>
            <a:fillRect/>
          </a:stretch>
        </p:blipFill>
        <p:spPr>
          <a:xfrm>
            <a:off x="10997028" y="717147"/>
            <a:ext cx="541126" cy="541126"/>
          </a:xfrm>
          <a:prstGeom prst="rect">
            <a:avLst/>
          </a:prstGeom>
        </p:spPr>
      </p:pic>
    </p:spTree>
    <p:extLst>
      <p:ext uri="{BB962C8B-B14F-4D97-AF65-F5344CB8AC3E}">
        <p14:creationId xmlns:p14="http://schemas.microsoft.com/office/powerpoint/2010/main" val="2603785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D9BA72-1B08-1276-E2EF-FEADDA0524F1}"/>
              </a:ext>
            </a:extLst>
          </p:cNvPr>
          <p:cNvSpPr>
            <a:spLocks noGrp="1"/>
          </p:cNvSpPr>
          <p:nvPr>
            <p:ph idx="13"/>
          </p:nvPr>
        </p:nvSpPr>
        <p:spPr/>
        <p:txBody>
          <a:bodyPr>
            <a:normAutofit lnSpcReduction="10000"/>
          </a:bodyPr>
          <a:lstStyle/>
          <a:p>
            <a:pPr marL="0" indent="0">
              <a:buNone/>
            </a:pPr>
            <a:r>
              <a:rPr lang="en-US" dirty="0" err="1">
                <a:solidFill>
                  <a:schemeClr val="accent1"/>
                </a:solidFill>
              </a:rPr>
              <a:t>Bastianin</a:t>
            </a:r>
            <a:r>
              <a:rPr lang="en-US" dirty="0">
                <a:solidFill>
                  <a:schemeClr val="accent1"/>
                </a:solidFill>
              </a:rPr>
              <a:t> et al, 2025</a:t>
            </a:r>
            <a:endParaRPr lang="it-IT" dirty="0">
              <a:solidFill>
                <a:schemeClr val="accent1"/>
              </a:solidFill>
            </a:endParaRPr>
          </a:p>
          <a:p>
            <a:r>
              <a:rPr lang="it-IT" b="1" dirty="0"/>
              <a:t>GARCH</a:t>
            </a:r>
            <a:r>
              <a:rPr lang="it-IT" dirty="0"/>
              <a:t>: </a:t>
            </a:r>
            <a:r>
              <a:rPr lang="it-IT" dirty="0" err="1"/>
              <a:t>Generalized</a:t>
            </a:r>
            <a:r>
              <a:rPr lang="it-IT" dirty="0"/>
              <a:t> </a:t>
            </a:r>
            <a:r>
              <a:rPr lang="it-IT" dirty="0" err="1"/>
              <a:t>Autoregressive</a:t>
            </a:r>
            <a:r>
              <a:rPr lang="it-IT" dirty="0"/>
              <a:t> </a:t>
            </a:r>
            <a:r>
              <a:rPr lang="it-IT" dirty="0" err="1"/>
              <a:t>Conditional</a:t>
            </a:r>
            <a:r>
              <a:rPr lang="it-IT" dirty="0"/>
              <a:t> </a:t>
            </a:r>
            <a:r>
              <a:rPr lang="it-IT" dirty="0" err="1"/>
              <a:t>Heteroskedasticity</a:t>
            </a:r>
            <a:endParaRPr lang="it-IT" dirty="0"/>
          </a:p>
          <a:p>
            <a:pPr lvl="1"/>
            <a:r>
              <a:rPr lang="it-IT" dirty="0"/>
              <a:t>model for </a:t>
            </a:r>
            <a:r>
              <a:rPr lang="it-IT" dirty="0" err="1"/>
              <a:t>conditional</a:t>
            </a:r>
            <a:r>
              <a:rPr lang="it-IT" dirty="0"/>
              <a:t> </a:t>
            </a:r>
            <a:r>
              <a:rPr lang="it-IT" dirty="0" err="1"/>
              <a:t>volatility</a:t>
            </a:r>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pPr lvl="1"/>
            <a:r>
              <a:rPr lang="el-GR" dirty="0"/>
              <a:t>α </a:t>
            </a:r>
            <a:r>
              <a:rPr lang="en-US" dirty="0"/>
              <a:t>and </a:t>
            </a:r>
            <a:r>
              <a:rPr lang="el-GR" dirty="0"/>
              <a:t>β</a:t>
            </a:r>
            <a:r>
              <a:rPr lang="it-IT" dirty="0"/>
              <a:t> </a:t>
            </a:r>
            <a:r>
              <a:rPr lang="en-US" dirty="0"/>
              <a:t>are estimated from the raw data by fitting the GARCH model via Maximum Likelihood Estimation (MLE)</a:t>
            </a:r>
          </a:p>
        </p:txBody>
      </p:sp>
      <p:sp>
        <p:nvSpPr>
          <p:cNvPr id="3" name="Title 2">
            <a:extLst>
              <a:ext uri="{FF2B5EF4-FFF2-40B4-BE49-F238E27FC236}">
                <a16:creationId xmlns:a16="http://schemas.microsoft.com/office/drawing/2014/main" id="{88EB1D81-E664-C242-ABE0-AAB29B0F5A0D}"/>
              </a:ext>
            </a:extLst>
          </p:cNvPr>
          <p:cNvSpPr>
            <a:spLocks noGrp="1"/>
          </p:cNvSpPr>
          <p:nvPr>
            <p:ph type="title"/>
          </p:nvPr>
        </p:nvSpPr>
        <p:spPr/>
        <p:txBody>
          <a:bodyPr/>
          <a:lstStyle/>
          <a:p>
            <a:r>
              <a:rPr lang="en-US" dirty="0"/>
              <a:t>Starting hypothesis – Price volatility in CRMs markets</a:t>
            </a:r>
            <a:r>
              <a:rPr lang="en-US" sz="2800" dirty="0"/>
              <a:t> – GARCH + EVT</a:t>
            </a:r>
            <a:endParaRPr lang="it-IT" dirty="0"/>
          </a:p>
        </p:txBody>
      </p:sp>
      <p:grpSp>
        <p:nvGrpSpPr>
          <p:cNvPr id="12" name="Group 11">
            <a:extLst>
              <a:ext uri="{FF2B5EF4-FFF2-40B4-BE49-F238E27FC236}">
                <a16:creationId xmlns:a16="http://schemas.microsoft.com/office/drawing/2014/main" id="{6DB5F5C7-1F46-0E6C-07AA-E18A63D48147}"/>
              </a:ext>
            </a:extLst>
          </p:cNvPr>
          <p:cNvGrpSpPr/>
          <p:nvPr/>
        </p:nvGrpSpPr>
        <p:grpSpPr>
          <a:xfrm>
            <a:off x="879905" y="2281467"/>
            <a:ext cx="10658249" cy="2910528"/>
            <a:chOff x="1144562" y="2167795"/>
            <a:chExt cx="10658249" cy="2910528"/>
          </a:xfrm>
        </p:grpSpPr>
        <p:grpSp>
          <p:nvGrpSpPr>
            <p:cNvPr id="9" name="Group 8">
              <a:extLst>
                <a:ext uri="{FF2B5EF4-FFF2-40B4-BE49-F238E27FC236}">
                  <a16:creationId xmlns:a16="http://schemas.microsoft.com/office/drawing/2014/main" id="{50D4C25B-1449-86CB-3049-9BFD5DBBC48B}"/>
                </a:ext>
              </a:extLst>
            </p:cNvPr>
            <p:cNvGrpSpPr/>
            <p:nvPr/>
          </p:nvGrpSpPr>
          <p:grpSpPr>
            <a:xfrm>
              <a:off x="1144562" y="2395139"/>
              <a:ext cx="9926279" cy="2683184"/>
              <a:chOff x="1144562" y="2395139"/>
              <a:chExt cx="9926279" cy="2683184"/>
            </a:xfrm>
          </p:grpSpPr>
          <p:pic>
            <p:nvPicPr>
              <p:cNvPr id="6" name="Picture 5">
                <a:extLst>
                  <a:ext uri="{FF2B5EF4-FFF2-40B4-BE49-F238E27FC236}">
                    <a16:creationId xmlns:a16="http://schemas.microsoft.com/office/drawing/2014/main" id="{9132DF2A-D943-81D1-A5BE-8D41D4E7A066}"/>
                  </a:ext>
                </a:extLst>
              </p:cNvPr>
              <p:cNvPicPr>
                <a:picLocks noChangeAspect="1"/>
              </p:cNvPicPr>
              <p:nvPr/>
            </p:nvPicPr>
            <p:blipFill>
              <a:blip r:embed="rId2"/>
              <a:stretch>
                <a:fillRect/>
              </a:stretch>
            </p:blipFill>
            <p:spPr>
              <a:xfrm>
                <a:off x="1144562" y="2395139"/>
                <a:ext cx="7021323" cy="2683184"/>
              </a:xfrm>
              <a:prstGeom prst="rect">
                <a:avLst/>
              </a:prstGeom>
            </p:spPr>
          </p:pic>
          <p:pic>
            <p:nvPicPr>
              <p:cNvPr id="8" name="Picture 7">
                <a:extLst>
                  <a:ext uri="{FF2B5EF4-FFF2-40B4-BE49-F238E27FC236}">
                    <a16:creationId xmlns:a16="http://schemas.microsoft.com/office/drawing/2014/main" id="{603C9A17-2E37-8169-79B4-81BC5838903F}"/>
                  </a:ext>
                </a:extLst>
              </p:cNvPr>
              <p:cNvPicPr>
                <a:picLocks noChangeAspect="1"/>
              </p:cNvPicPr>
              <p:nvPr/>
            </p:nvPicPr>
            <p:blipFill>
              <a:blip r:embed="rId3"/>
              <a:stretch>
                <a:fillRect/>
              </a:stretch>
            </p:blipFill>
            <p:spPr>
              <a:xfrm>
                <a:off x="5260929" y="4043359"/>
                <a:ext cx="5809912" cy="1034964"/>
              </a:xfrm>
              <a:prstGeom prst="rect">
                <a:avLst/>
              </a:prstGeom>
            </p:spPr>
          </p:pic>
        </p:grpSp>
        <p:pic>
          <p:nvPicPr>
            <p:cNvPr id="11" name="Picture 10">
              <a:extLst>
                <a:ext uri="{FF2B5EF4-FFF2-40B4-BE49-F238E27FC236}">
                  <a16:creationId xmlns:a16="http://schemas.microsoft.com/office/drawing/2014/main" id="{60774950-3B86-52BC-C5E7-1E9F697B75F6}"/>
                </a:ext>
              </a:extLst>
            </p:cNvPr>
            <p:cNvPicPr>
              <a:picLocks noChangeAspect="1"/>
            </p:cNvPicPr>
            <p:nvPr/>
          </p:nvPicPr>
          <p:blipFill>
            <a:blip r:embed="rId4"/>
            <a:stretch>
              <a:fillRect/>
            </a:stretch>
          </p:blipFill>
          <p:spPr>
            <a:xfrm>
              <a:off x="6096000" y="2167795"/>
              <a:ext cx="5706811" cy="502035"/>
            </a:xfrm>
            <a:prstGeom prst="rect">
              <a:avLst/>
            </a:prstGeom>
          </p:spPr>
        </p:pic>
      </p:grpSp>
      <p:pic>
        <p:nvPicPr>
          <p:cNvPr id="4" name="Picture 3">
            <a:extLst>
              <a:ext uri="{FF2B5EF4-FFF2-40B4-BE49-F238E27FC236}">
                <a16:creationId xmlns:a16="http://schemas.microsoft.com/office/drawing/2014/main" id="{B076C8DE-D322-7E83-32AD-DCB6BD1D6C91}"/>
              </a:ext>
            </a:extLst>
          </p:cNvPr>
          <p:cNvPicPr>
            <a:picLocks noChangeAspect="1"/>
          </p:cNvPicPr>
          <p:nvPr/>
        </p:nvPicPr>
        <p:blipFill>
          <a:blip r:embed="rId5"/>
          <a:stretch>
            <a:fillRect/>
          </a:stretch>
        </p:blipFill>
        <p:spPr>
          <a:xfrm>
            <a:off x="10997028" y="717147"/>
            <a:ext cx="541126" cy="541126"/>
          </a:xfrm>
          <a:prstGeom prst="rect">
            <a:avLst/>
          </a:prstGeom>
        </p:spPr>
      </p:pic>
    </p:spTree>
    <p:extLst>
      <p:ext uri="{BB962C8B-B14F-4D97-AF65-F5344CB8AC3E}">
        <p14:creationId xmlns:p14="http://schemas.microsoft.com/office/powerpoint/2010/main" val="3128124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D9BA72-1B08-1276-E2EF-FEADDA0524F1}"/>
              </a:ext>
            </a:extLst>
          </p:cNvPr>
          <p:cNvSpPr>
            <a:spLocks noGrp="1"/>
          </p:cNvSpPr>
          <p:nvPr>
            <p:ph idx="13"/>
          </p:nvPr>
        </p:nvSpPr>
        <p:spPr/>
        <p:txBody>
          <a:bodyPr>
            <a:normAutofit lnSpcReduction="10000"/>
          </a:bodyPr>
          <a:lstStyle/>
          <a:p>
            <a:r>
              <a:rPr lang="en-US" dirty="0"/>
              <a:t>Maximum Likelihood Estimation (MLE):</a:t>
            </a:r>
          </a:p>
          <a:p>
            <a:endParaRPr lang="en-US" dirty="0"/>
          </a:p>
          <a:p>
            <a:endParaRPr lang="en-US" dirty="0"/>
          </a:p>
          <a:p>
            <a:endParaRPr lang="en-US" dirty="0"/>
          </a:p>
          <a:p>
            <a:endParaRPr lang="en-US" dirty="0"/>
          </a:p>
          <a:p>
            <a:endParaRPr lang="en-US" dirty="0"/>
          </a:p>
          <a:p>
            <a:endParaRPr lang="en-US" dirty="0"/>
          </a:p>
          <a:p>
            <a:endParaRPr lang="en-US" dirty="0"/>
          </a:p>
          <a:p>
            <a:pPr lvl="1"/>
            <a:r>
              <a:rPr lang="en-US" dirty="0"/>
              <a:t>A possible issue is that the log-likelihood function assumes normally distributed return shocks </a:t>
            </a:r>
            <a:r>
              <a:rPr lang="el-GR" dirty="0"/>
              <a:t>ε</a:t>
            </a:r>
            <a:r>
              <a:rPr lang="it-IT" dirty="0"/>
              <a:t>t</a:t>
            </a:r>
          </a:p>
          <a:p>
            <a:pPr lvl="1"/>
            <a:r>
              <a:rPr lang="it-IT" dirty="0" err="1"/>
              <a:t>Actually</a:t>
            </a:r>
            <a:r>
              <a:rPr lang="it-IT" dirty="0"/>
              <a:t> the </a:t>
            </a:r>
            <a:r>
              <a:rPr lang="it-IT" dirty="0" err="1"/>
              <a:t>distribution</a:t>
            </a:r>
            <a:r>
              <a:rPr lang="it-IT" dirty="0"/>
              <a:t> of the log </a:t>
            </a:r>
            <a:r>
              <a:rPr lang="it-IT" dirty="0" err="1"/>
              <a:t>returns</a:t>
            </a:r>
            <a:r>
              <a:rPr lang="it-IT" dirty="0"/>
              <a:t> can be </a:t>
            </a:r>
            <a:r>
              <a:rPr lang="it-IT" dirty="0" err="1"/>
              <a:t>different</a:t>
            </a:r>
            <a:r>
              <a:rPr lang="it-IT" dirty="0"/>
              <a:t> (</a:t>
            </a:r>
            <a:r>
              <a:rPr lang="it-IT" dirty="0" err="1"/>
              <a:t>different</a:t>
            </a:r>
            <a:r>
              <a:rPr lang="it-IT" dirty="0"/>
              <a:t> </a:t>
            </a:r>
            <a:r>
              <a:rPr lang="it-IT" dirty="0" err="1"/>
              <a:t>tailing</a:t>
            </a:r>
            <a:r>
              <a:rPr lang="it-IT" dirty="0"/>
              <a:t>, or </a:t>
            </a:r>
            <a:r>
              <a:rPr lang="it-IT" dirty="0" err="1"/>
              <a:t>skewing</a:t>
            </a:r>
            <a:r>
              <a:rPr lang="it-IT" dirty="0"/>
              <a:t>), and </a:t>
            </a:r>
            <a:r>
              <a:rPr lang="it-IT" dirty="0" err="1"/>
              <a:t>it’s</a:t>
            </a:r>
            <a:r>
              <a:rPr lang="it-IT" dirty="0"/>
              <a:t> </a:t>
            </a:r>
            <a:r>
              <a:rPr lang="it-IT" dirty="0" err="1"/>
              <a:t>possible</a:t>
            </a:r>
            <a:r>
              <a:rPr lang="it-IT" dirty="0"/>
              <a:t> to </a:t>
            </a:r>
            <a:r>
              <a:rPr lang="it-IT" dirty="0" err="1"/>
              <a:t>select</a:t>
            </a:r>
            <a:r>
              <a:rPr lang="it-IT" dirty="0"/>
              <a:t> </a:t>
            </a:r>
            <a:r>
              <a:rPr lang="it-IT" dirty="0" err="1"/>
              <a:t>different</a:t>
            </a:r>
            <a:r>
              <a:rPr lang="it-IT" dirty="0"/>
              <a:t> </a:t>
            </a:r>
            <a:r>
              <a:rPr lang="it-IT" dirty="0" err="1"/>
              <a:t>likelihood</a:t>
            </a:r>
            <a:r>
              <a:rPr lang="it-IT" dirty="0"/>
              <a:t> </a:t>
            </a:r>
            <a:r>
              <a:rPr lang="it-IT" dirty="0" err="1"/>
              <a:t>functions</a:t>
            </a:r>
            <a:r>
              <a:rPr lang="it-IT" dirty="0"/>
              <a:t> (</a:t>
            </a:r>
            <a:r>
              <a:rPr lang="it-IT" dirty="0" err="1"/>
              <a:t>normal</a:t>
            </a:r>
            <a:r>
              <a:rPr lang="it-IT" dirty="0"/>
              <a:t>, </a:t>
            </a:r>
            <a:r>
              <a:rPr lang="it-IT" dirty="0" err="1"/>
              <a:t>student</a:t>
            </a:r>
            <a:r>
              <a:rPr lang="it-IT" dirty="0"/>
              <a:t>-t, </a:t>
            </a:r>
            <a:r>
              <a:rPr lang="it-IT" dirty="0" err="1"/>
              <a:t>skewed</a:t>
            </a:r>
            <a:r>
              <a:rPr lang="it-IT" dirty="0"/>
              <a:t>-t, GED)</a:t>
            </a:r>
          </a:p>
          <a:p>
            <a:pPr lvl="1"/>
            <a:r>
              <a:rPr lang="it-IT" dirty="0"/>
              <a:t>In </a:t>
            </a:r>
            <a:r>
              <a:rPr lang="it-IT" dirty="0" err="1"/>
              <a:t>any</a:t>
            </a:r>
            <a:r>
              <a:rPr lang="it-IT" dirty="0"/>
              <a:t> case, the EVT (Extreme Value Theory) </a:t>
            </a:r>
            <a:r>
              <a:rPr lang="en-US" dirty="0"/>
              <a:t>on standardized residuals is here applied on top of GARCH to quantify probabilities of extreme moves</a:t>
            </a:r>
          </a:p>
          <a:p>
            <a:pPr lvl="1"/>
            <a:endParaRPr lang="en-US" dirty="0"/>
          </a:p>
        </p:txBody>
      </p:sp>
      <p:sp>
        <p:nvSpPr>
          <p:cNvPr id="3" name="Title 2">
            <a:extLst>
              <a:ext uri="{FF2B5EF4-FFF2-40B4-BE49-F238E27FC236}">
                <a16:creationId xmlns:a16="http://schemas.microsoft.com/office/drawing/2014/main" id="{88EB1D81-E664-C242-ABE0-AAB29B0F5A0D}"/>
              </a:ext>
            </a:extLst>
          </p:cNvPr>
          <p:cNvSpPr>
            <a:spLocks noGrp="1"/>
          </p:cNvSpPr>
          <p:nvPr>
            <p:ph type="title"/>
          </p:nvPr>
        </p:nvSpPr>
        <p:spPr/>
        <p:txBody>
          <a:bodyPr/>
          <a:lstStyle/>
          <a:p>
            <a:r>
              <a:rPr lang="en-US" dirty="0"/>
              <a:t>Starting hypothesis – Price volatility in CRMs markets</a:t>
            </a:r>
            <a:r>
              <a:rPr lang="en-US" sz="2800" dirty="0"/>
              <a:t> – GARCH + EVT</a:t>
            </a:r>
            <a:endParaRPr lang="it-IT" dirty="0"/>
          </a:p>
        </p:txBody>
      </p:sp>
      <p:grpSp>
        <p:nvGrpSpPr>
          <p:cNvPr id="14" name="Group 13">
            <a:extLst>
              <a:ext uri="{FF2B5EF4-FFF2-40B4-BE49-F238E27FC236}">
                <a16:creationId xmlns:a16="http://schemas.microsoft.com/office/drawing/2014/main" id="{3921ADDE-24BB-4798-D2DE-9FB9A5C54CFE}"/>
              </a:ext>
            </a:extLst>
          </p:cNvPr>
          <p:cNvGrpSpPr/>
          <p:nvPr/>
        </p:nvGrpSpPr>
        <p:grpSpPr>
          <a:xfrm>
            <a:off x="879579" y="1665713"/>
            <a:ext cx="10626486" cy="2626871"/>
            <a:chOff x="879579" y="1785781"/>
            <a:chExt cx="10626486" cy="2626871"/>
          </a:xfrm>
        </p:grpSpPr>
        <p:grpSp>
          <p:nvGrpSpPr>
            <p:cNvPr id="11" name="Group 10">
              <a:extLst>
                <a:ext uri="{FF2B5EF4-FFF2-40B4-BE49-F238E27FC236}">
                  <a16:creationId xmlns:a16="http://schemas.microsoft.com/office/drawing/2014/main" id="{50B9AC48-D8E1-7868-8F88-95D13A251590}"/>
                </a:ext>
              </a:extLst>
            </p:cNvPr>
            <p:cNvGrpSpPr/>
            <p:nvPr/>
          </p:nvGrpSpPr>
          <p:grpSpPr>
            <a:xfrm>
              <a:off x="879579" y="1785781"/>
              <a:ext cx="10432842" cy="2626871"/>
              <a:chOff x="879579" y="1785781"/>
              <a:chExt cx="10432842" cy="2626871"/>
            </a:xfrm>
          </p:grpSpPr>
          <p:pic>
            <p:nvPicPr>
              <p:cNvPr id="5" name="Picture 4">
                <a:extLst>
                  <a:ext uri="{FF2B5EF4-FFF2-40B4-BE49-F238E27FC236}">
                    <a16:creationId xmlns:a16="http://schemas.microsoft.com/office/drawing/2014/main" id="{BE5CA237-C242-DD6B-0B8D-7A11B11B1206}"/>
                  </a:ext>
                </a:extLst>
              </p:cNvPr>
              <p:cNvPicPr>
                <a:picLocks noChangeAspect="1"/>
              </p:cNvPicPr>
              <p:nvPr/>
            </p:nvPicPr>
            <p:blipFill>
              <a:blip r:embed="rId2"/>
              <a:stretch>
                <a:fillRect/>
              </a:stretch>
            </p:blipFill>
            <p:spPr>
              <a:xfrm>
                <a:off x="947737" y="1785781"/>
                <a:ext cx="6072480" cy="1626104"/>
              </a:xfrm>
              <a:prstGeom prst="rect">
                <a:avLst/>
              </a:prstGeom>
            </p:spPr>
          </p:pic>
          <p:pic>
            <p:nvPicPr>
              <p:cNvPr id="10" name="Picture 9">
                <a:extLst>
                  <a:ext uri="{FF2B5EF4-FFF2-40B4-BE49-F238E27FC236}">
                    <a16:creationId xmlns:a16="http://schemas.microsoft.com/office/drawing/2014/main" id="{7C98C798-DED6-42AD-49D1-3CF0D14AEC86}"/>
                  </a:ext>
                </a:extLst>
              </p:cNvPr>
              <p:cNvPicPr>
                <a:picLocks noChangeAspect="1"/>
              </p:cNvPicPr>
              <p:nvPr/>
            </p:nvPicPr>
            <p:blipFill>
              <a:blip r:embed="rId3"/>
              <a:stretch>
                <a:fillRect/>
              </a:stretch>
            </p:blipFill>
            <p:spPr>
              <a:xfrm>
                <a:off x="879579" y="3642045"/>
                <a:ext cx="10432842" cy="770607"/>
              </a:xfrm>
              <a:prstGeom prst="rect">
                <a:avLst/>
              </a:prstGeom>
            </p:spPr>
          </p:pic>
        </p:grpSp>
        <p:pic>
          <p:nvPicPr>
            <p:cNvPr id="13" name="Picture 12">
              <a:extLst>
                <a:ext uri="{FF2B5EF4-FFF2-40B4-BE49-F238E27FC236}">
                  <a16:creationId xmlns:a16="http://schemas.microsoft.com/office/drawing/2014/main" id="{27DE19F2-A67D-A32B-A413-7B90D25BD984}"/>
                </a:ext>
              </a:extLst>
            </p:cNvPr>
            <p:cNvPicPr>
              <a:picLocks noChangeAspect="1"/>
            </p:cNvPicPr>
            <p:nvPr/>
          </p:nvPicPr>
          <p:blipFill>
            <a:blip r:embed="rId4"/>
            <a:stretch>
              <a:fillRect/>
            </a:stretch>
          </p:blipFill>
          <p:spPr>
            <a:xfrm>
              <a:off x="7052308" y="1785781"/>
              <a:ext cx="4453757" cy="1216809"/>
            </a:xfrm>
            <a:prstGeom prst="rect">
              <a:avLst/>
            </a:prstGeom>
          </p:spPr>
        </p:pic>
      </p:grpSp>
      <p:pic>
        <p:nvPicPr>
          <p:cNvPr id="4" name="Picture 3">
            <a:extLst>
              <a:ext uri="{FF2B5EF4-FFF2-40B4-BE49-F238E27FC236}">
                <a16:creationId xmlns:a16="http://schemas.microsoft.com/office/drawing/2014/main" id="{7C8E1900-7B35-75B9-0018-A2596844A5E8}"/>
              </a:ext>
            </a:extLst>
          </p:cNvPr>
          <p:cNvPicPr>
            <a:picLocks noChangeAspect="1"/>
          </p:cNvPicPr>
          <p:nvPr/>
        </p:nvPicPr>
        <p:blipFill>
          <a:blip r:embed="rId5"/>
          <a:stretch>
            <a:fillRect/>
          </a:stretch>
        </p:blipFill>
        <p:spPr>
          <a:xfrm>
            <a:off x="10997028" y="717147"/>
            <a:ext cx="541126" cy="541126"/>
          </a:xfrm>
          <a:prstGeom prst="rect">
            <a:avLst/>
          </a:prstGeom>
        </p:spPr>
      </p:pic>
    </p:spTree>
    <p:extLst>
      <p:ext uri="{BB962C8B-B14F-4D97-AF65-F5344CB8AC3E}">
        <p14:creationId xmlns:p14="http://schemas.microsoft.com/office/powerpoint/2010/main" val="2378098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D9BA72-1B08-1276-E2EF-FEADDA0524F1}"/>
              </a:ext>
            </a:extLst>
          </p:cNvPr>
          <p:cNvSpPr>
            <a:spLocks noGrp="1"/>
          </p:cNvSpPr>
          <p:nvPr>
            <p:ph idx="13"/>
          </p:nvPr>
        </p:nvSpPr>
        <p:spPr/>
        <p:txBody>
          <a:bodyPr>
            <a:normAutofit/>
          </a:bodyPr>
          <a:lstStyle/>
          <a:p>
            <a:r>
              <a:rPr lang="en-US" sz="1600" b="1" dirty="0"/>
              <a:t>Extreme Value Theory </a:t>
            </a:r>
            <a:r>
              <a:rPr lang="en-US" sz="1600" dirty="0"/>
              <a:t>(EVT) for tail risk, from risk-theory literature</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pPr lvl="1"/>
            <a:r>
              <a:rPr lang="en-US" sz="1400" dirty="0"/>
              <a:t>The threshold </a:t>
            </a:r>
            <a:r>
              <a:rPr lang="en-US" sz="1400" dirty="0" err="1"/>
              <a:t>stdev</a:t>
            </a:r>
            <a:r>
              <a:rPr lang="en-US" sz="1400" dirty="0"/>
              <a:t> is the key parameter, and it can be computed in several ways (quantile threshold, k*</a:t>
            </a:r>
            <a:r>
              <a:rPr lang="en-US" sz="1400" dirty="0" err="1"/>
              <a:t>stdev</a:t>
            </a:r>
            <a:r>
              <a:rPr lang="en-US" sz="1400" dirty="0"/>
              <a:t>, ….)</a:t>
            </a:r>
          </a:p>
          <a:p>
            <a:pPr lvl="1"/>
            <a:r>
              <a:rPr lang="en-US" sz="1400" dirty="0"/>
              <a:t>Shape and scale factor have the same formulation of the GEV procedure</a:t>
            </a:r>
          </a:p>
          <a:p>
            <a:pPr marL="0" indent="0">
              <a:buNone/>
            </a:pPr>
            <a:r>
              <a:rPr lang="en-US" sz="1600" dirty="0">
                <a:solidFill>
                  <a:schemeClr val="accent1"/>
                </a:solidFill>
              </a:rPr>
              <a:t>Much deeper analysis is required to study CRMs markets with GARCH + EVT analysis, so, here it’s let as a possible future development as a combined model to be coupled with clustering analysis</a:t>
            </a:r>
          </a:p>
          <a:p>
            <a:endParaRPr lang="en-US" sz="1600" dirty="0"/>
          </a:p>
          <a:p>
            <a:endParaRPr lang="en-US" sz="1600" dirty="0"/>
          </a:p>
          <a:p>
            <a:endParaRPr lang="en-US" sz="1600" dirty="0"/>
          </a:p>
          <a:p>
            <a:endParaRPr lang="en-US" sz="1600" dirty="0"/>
          </a:p>
          <a:p>
            <a:endParaRPr lang="en-US" sz="1600" dirty="0"/>
          </a:p>
          <a:p>
            <a:pPr lvl="1"/>
            <a:endParaRPr lang="en-US" sz="1400" dirty="0"/>
          </a:p>
        </p:txBody>
      </p:sp>
      <p:sp>
        <p:nvSpPr>
          <p:cNvPr id="3" name="Title 2">
            <a:extLst>
              <a:ext uri="{FF2B5EF4-FFF2-40B4-BE49-F238E27FC236}">
                <a16:creationId xmlns:a16="http://schemas.microsoft.com/office/drawing/2014/main" id="{88EB1D81-E664-C242-ABE0-AAB29B0F5A0D}"/>
              </a:ext>
            </a:extLst>
          </p:cNvPr>
          <p:cNvSpPr>
            <a:spLocks noGrp="1"/>
          </p:cNvSpPr>
          <p:nvPr>
            <p:ph type="title"/>
          </p:nvPr>
        </p:nvSpPr>
        <p:spPr/>
        <p:txBody>
          <a:bodyPr/>
          <a:lstStyle/>
          <a:p>
            <a:r>
              <a:rPr lang="en-US" dirty="0"/>
              <a:t>Starting hypothesis – Price volatility in CRMs markets</a:t>
            </a:r>
            <a:r>
              <a:rPr lang="en-US" sz="2800" dirty="0"/>
              <a:t> – GARCH + EVT</a:t>
            </a:r>
            <a:endParaRPr lang="it-IT" dirty="0"/>
          </a:p>
        </p:txBody>
      </p:sp>
      <p:grpSp>
        <p:nvGrpSpPr>
          <p:cNvPr id="9" name="Group 8">
            <a:extLst>
              <a:ext uri="{FF2B5EF4-FFF2-40B4-BE49-F238E27FC236}">
                <a16:creationId xmlns:a16="http://schemas.microsoft.com/office/drawing/2014/main" id="{EECED5D8-C813-1383-5077-7FADBA089405}"/>
              </a:ext>
            </a:extLst>
          </p:cNvPr>
          <p:cNvGrpSpPr/>
          <p:nvPr/>
        </p:nvGrpSpPr>
        <p:grpSpPr>
          <a:xfrm>
            <a:off x="915734" y="1520503"/>
            <a:ext cx="10690286" cy="3400557"/>
            <a:chOff x="1208482" y="1901116"/>
            <a:chExt cx="10690286" cy="3400557"/>
          </a:xfrm>
        </p:grpSpPr>
        <p:pic>
          <p:nvPicPr>
            <p:cNvPr id="6" name="Picture 5">
              <a:extLst>
                <a:ext uri="{FF2B5EF4-FFF2-40B4-BE49-F238E27FC236}">
                  <a16:creationId xmlns:a16="http://schemas.microsoft.com/office/drawing/2014/main" id="{0AC9F9FE-55DC-A4D7-1B90-0604FB9F7A9B}"/>
                </a:ext>
              </a:extLst>
            </p:cNvPr>
            <p:cNvPicPr>
              <a:picLocks noChangeAspect="1"/>
            </p:cNvPicPr>
            <p:nvPr/>
          </p:nvPicPr>
          <p:blipFill>
            <a:blip r:embed="rId2"/>
            <a:srcRect r="17101"/>
            <a:stretch/>
          </p:blipFill>
          <p:spPr>
            <a:xfrm>
              <a:off x="1208482" y="1901116"/>
              <a:ext cx="5832168" cy="3400557"/>
            </a:xfrm>
            <a:prstGeom prst="rect">
              <a:avLst/>
            </a:prstGeom>
          </p:spPr>
        </p:pic>
        <p:pic>
          <p:nvPicPr>
            <p:cNvPr id="8" name="Picture 7">
              <a:extLst>
                <a:ext uri="{FF2B5EF4-FFF2-40B4-BE49-F238E27FC236}">
                  <a16:creationId xmlns:a16="http://schemas.microsoft.com/office/drawing/2014/main" id="{1440686A-50AB-7410-6F5A-BAA6BC9DF0AF}"/>
                </a:ext>
              </a:extLst>
            </p:cNvPr>
            <p:cNvPicPr>
              <a:picLocks noChangeAspect="1"/>
            </p:cNvPicPr>
            <p:nvPr/>
          </p:nvPicPr>
          <p:blipFill>
            <a:blip r:embed="rId3"/>
            <a:srcRect r="28819"/>
            <a:stretch/>
          </p:blipFill>
          <p:spPr>
            <a:xfrm>
              <a:off x="6680040" y="2048897"/>
              <a:ext cx="5218728" cy="1895029"/>
            </a:xfrm>
            <a:prstGeom prst="rect">
              <a:avLst/>
            </a:prstGeom>
          </p:spPr>
        </p:pic>
      </p:grpSp>
      <p:pic>
        <p:nvPicPr>
          <p:cNvPr id="4" name="Picture 3">
            <a:extLst>
              <a:ext uri="{FF2B5EF4-FFF2-40B4-BE49-F238E27FC236}">
                <a16:creationId xmlns:a16="http://schemas.microsoft.com/office/drawing/2014/main" id="{C877E6F0-56C0-ED55-E4AE-C9A58B9A050F}"/>
              </a:ext>
            </a:extLst>
          </p:cNvPr>
          <p:cNvPicPr>
            <a:picLocks noChangeAspect="1"/>
          </p:cNvPicPr>
          <p:nvPr/>
        </p:nvPicPr>
        <p:blipFill>
          <a:blip r:embed="rId4"/>
          <a:stretch>
            <a:fillRect/>
          </a:stretch>
        </p:blipFill>
        <p:spPr>
          <a:xfrm>
            <a:off x="10997028" y="717147"/>
            <a:ext cx="541126" cy="541126"/>
          </a:xfrm>
          <a:prstGeom prst="rect">
            <a:avLst/>
          </a:prstGeom>
        </p:spPr>
      </p:pic>
    </p:spTree>
    <p:extLst>
      <p:ext uri="{BB962C8B-B14F-4D97-AF65-F5344CB8AC3E}">
        <p14:creationId xmlns:p14="http://schemas.microsoft.com/office/powerpoint/2010/main" val="3095968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DD386E-5002-274F-041F-1C6E1A443B20}"/>
              </a:ext>
            </a:extLst>
          </p:cNvPr>
          <p:cNvSpPr>
            <a:spLocks noGrp="1"/>
          </p:cNvSpPr>
          <p:nvPr>
            <p:ph type="title"/>
          </p:nvPr>
        </p:nvSpPr>
        <p:spPr/>
        <p:txBody>
          <a:bodyPr/>
          <a:lstStyle/>
          <a:p>
            <a:r>
              <a:rPr lang="en-US" dirty="0"/>
              <a:t>Global and EU_CRM framework</a:t>
            </a:r>
          </a:p>
        </p:txBody>
      </p:sp>
      <p:grpSp>
        <p:nvGrpSpPr>
          <p:cNvPr id="8" name="Group 7">
            <a:extLst>
              <a:ext uri="{FF2B5EF4-FFF2-40B4-BE49-F238E27FC236}">
                <a16:creationId xmlns:a16="http://schemas.microsoft.com/office/drawing/2014/main" id="{D1D93AB9-3137-396C-2E31-ABDFB605CD76}"/>
              </a:ext>
            </a:extLst>
          </p:cNvPr>
          <p:cNvGrpSpPr/>
          <p:nvPr/>
        </p:nvGrpSpPr>
        <p:grpSpPr>
          <a:xfrm>
            <a:off x="3518997" y="1956635"/>
            <a:ext cx="5154005" cy="2944730"/>
            <a:chOff x="2730032" y="2855145"/>
            <a:chExt cx="2869094" cy="1624374"/>
          </a:xfrm>
        </p:grpSpPr>
        <p:grpSp>
          <p:nvGrpSpPr>
            <p:cNvPr id="12" name="Group 11">
              <a:extLst>
                <a:ext uri="{FF2B5EF4-FFF2-40B4-BE49-F238E27FC236}">
                  <a16:creationId xmlns:a16="http://schemas.microsoft.com/office/drawing/2014/main" id="{B8F255B3-D70D-2F78-5404-F95C4C579301}"/>
                </a:ext>
              </a:extLst>
            </p:cNvPr>
            <p:cNvGrpSpPr/>
            <p:nvPr/>
          </p:nvGrpSpPr>
          <p:grpSpPr>
            <a:xfrm>
              <a:off x="2730032" y="2855145"/>
              <a:ext cx="2869094" cy="1624374"/>
              <a:chOff x="2730032" y="3086046"/>
              <a:chExt cx="2869094" cy="1624374"/>
            </a:xfrm>
          </p:grpSpPr>
          <p:grpSp>
            <p:nvGrpSpPr>
              <p:cNvPr id="13" name="Group 12">
                <a:extLst>
                  <a:ext uri="{FF2B5EF4-FFF2-40B4-BE49-F238E27FC236}">
                    <a16:creationId xmlns:a16="http://schemas.microsoft.com/office/drawing/2014/main" id="{B7982888-C8F8-A377-CAA7-A0897915C7E1}"/>
                  </a:ext>
                </a:extLst>
              </p:cNvPr>
              <p:cNvGrpSpPr/>
              <p:nvPr/>
            </p:nvGrpSpPr>
            <p:grpSpPr>
              <a:xfrm>
                <a:off x="2730032" y="3086046"/>
                <a:ext cx="2869094" cy="1624374"/>
                <a:chOff x="2730032" y="3039713"/>
                <a:chExt cx="2869094" cy="1624374"/>
              </a:xfrm>
            </p:grpSpPr>
            <p:grpSp>
              <p:nvGrpSpPr>
                <p:cNvPr id="15" name="Group 14">
                  <a:extLst>
                    <a:ext uri="{FF2B5EF4-FFF2-40B4-BE49-F238E27FC236}">
                      <a16:creationId xmlns:a16="http://schemas.microsoft.com/office/drawing/2014/main" id="{6BEDB5F3-BCBE-4BC5-BAE0-3DFF4530CBBD}"/>
                    </a:ext>
                  </a:extLst>
                </p:cNvPr>
                <p:cNvGrpSpPr/>
                <p:nvPr/>
              </p:nvGrpSpPr>
              <p:grpSpPr>
                <a:xfrm>
                  <a:off x="2730032" y="3039713"/>
                  <a:ext cx="2869094" cy="1624374"/>
                  <a:chOff x="6823934" y="2514639"/>
                  <a:chExt cx="2345756" cy="1915806"/>
                </a:xfrm>
              </p:grpSpPr>
              <p:grpSp>
                <p:nvGrpSpPr>
                  <p:cNvPr id="17" name="Group 16">
                    <a:extLst>
                      <a:ext uri="{FF2B5EF4-FFF2-40B4-BE49-F238E27FC236}">
                        <a16:creationId xmlns:a16="http://schemas.microsoft.com/office/drawing/2014/main" id="{3ED445E7-DFFB-42DD-E744-7FC88BC5BEFE}"/>
                      </a:ext>
                    </a:extLst>
                  </p:cNvPr>
                  <p:cNvGrpSpPr/>
                  <p:nvPr/>
                </p:nvGrpSpPr>
                <p:grpSpPr>
                  <a:xfrm>
                    <a:off x="6823934" y="2514639"/>
                    <a:ext cx="2345756" cy="1915806"/>
                    <a:chOff x="6823934" y="2514639"/>
                    <a:chExt cx="2345756" cy="1915806"/>
                  </a:xfrm>
                </p:grpSpPr>
                <p:sp>
                  <p:nvSpPr>
                    <p:cNvPr id="21" name="Scroll: Vertical 20">
                      <a:extLst>
                        <a:ext uri="{FF2B5EF4-FFF2-40B4-BE49-F238E27FC236}">
                          <a16:creationId xmlns:a16="http://schemas.microsoft.com/office/drawing/2014/main" id="{9F96D020-D6AA-2543-E9B1-7B9D30D1999B}"/>
                        </a:ext>
                      </a:extLst>
                    </p:cNvPr>
                    <p:cNvSpPr/>
                    <p:nvPr/>
                  </p:nvSpPr>
                  <p:spPr>
                    <a:xfrm>
                      <a:off x="6823934" y="2514639"/>
                      <a:ext cx="2345756" cy="1915806"/>
                    </a:xfrm>
                    <a:prstGeom prst="verticalScroll">
                      <a:avLst/>
                    </a:prstGeom>
                    <a:solidFill>
                      <a:schemeClr val="accent6">
                        <a:lumMod val="40000"/>
                        <a:lumOff val="60000"/>
                      </a:schemeClr>
                    </a:solidFill>
                    <a:ln w="28575">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 name="TextBox 21">
                      <a:extLst>
                        <a:ext uri="{FF2B5EF4-FFF2-40B4-BE49-F238E27FC236}">
                          <a16:creationId xmlns:a16="http://schemas.microsoft.com/office/drawing/2014/main" id="{F07E5EC1-9F49-A314-FC77-989295AAE2F0}"/>
                        </a:ext>
                      </a:extLst>
                    </p:cNvPr>
                    <p:cNvSpPr txBox="1"/>
                    <p:nvPr/>
                  </p:nvSpPr>
                  <p:spPr>
                    <a:xfrm>
                      <a:off x="7056167" y="2807668"/>
                      <a:ext cx="2113521" cy="268736"/>
                    </a:xfrm>
                    <a:prstGeom prst="rect">
                      <a:avLst/>
                    </a:prstGeom>
                    <a:noFill/>
                  </p:spPr>
                  <p:txBody>
                    <a:bodyPr wrap="square" rtlCol="0">
                      <a:spAutoFit/>
                    </a:bodyPr>
                    <a:lstStyle/>
                    <a:p>
                      <a:pPr algn="ctr"/>
                      <a:r>
                        <a:rPr lang="en-US" sz="2000" b="1" dirty="0"/>
                        <a:t>EU_CRM framework</a:t>
                      </a:r>
                    </a:p>
                  </p:txBody>
                </p:sp>
              </p:grpSp>
              <p:sp>
                <p:nvSpPr>
                  <p:cNvPr id="18" name="TextBox 17">
                    <a:extLst>
                      <a:ext uri="{FF2B5EF4-FFF2-40B4-BE49-F238E27FC236}">
                        <a16:creationId xmlns:a16="http://schemas.microsoft.com/office/drawing/2014/main" id="{8C1C0E82-4225-4B2D-CF40-F49C37FC1758}"/>
                      </a:ext>
                    </a:extLst>
                  </p:cNvPr>
                  <p:cNvSpPr txBox="1"/>
                  <p:nvPr/>
                </p:nvSpPr>
                <p:spPr>
                  <a:xfrm>
                    <a:off x="7378468" y="3093474"/>
                    <a:ext cx="1629178" cy="434111"/>
                  </a:xfrm>
                  <a:prstGeom prst="rect">
                    <a:avLst/>
                  </a:prstGeom>
                  <a:noFill/>
                </p:spPr>
                <p:txBody>
                  <a:bodyPr wrap="square" rtlCol="0">
                    <a:spAutoFit/>
                  </a:bodyPr>
                  <a:lstStyle/>
                  <a:p>
                    <a:r>
                      <a:rPr lang="en-US" dirty="0"/>
                      <a:t>Methodology</a:t>
                    </a:r>
                  </a:p>
                  <a:p>
                    <a:r>
                      <a:rPr lang="en-US" dirty="0"/>
                      <a:t>Projects (RMIS, SCRREEN)</a:t>
                    </a:r>
                  </a:p>
                </p:txBody>
              </p:sp>
              <p:pic>
                <p:nvPicPr>
                  <p:cNvPr id="19" name="Picture 18">
                    <a:extLst>
                      <a:ext uri="{FF2B5EF4-FFF2-40B4-BE49-F238E27FC236}">
                        <a16:creationId xmlns:a16="http://schemas.microsoft.com/office/drawing/2014/main" id="{B48297EF-03B5-34B0-9C33-03626C9CDD95}"/>
                      </a:ext>
                    </a:extLst>
                  </p:cNvPr>
                  <p:cNvPicPr>
                    <a:picLocks noChangeAspect="1"/>
                  </p:cNvPicPr>
                  <p:nvPr/>
                </p:nvPicPr>
                <p:blipFill>
                  <a:blip r:embed="rId2"/>
                  <a:stretch>
                    <a:fillRect/>
                  </a:stretch>
                </p:blipFill>
                <p:spPr>
                  <a:xfrm>
                    <a:off x="7069174" y="3687081"/>
                    <a:ext cx="265742" cy="345510"/>
                  </a:xfrm>
                  <a:prstGeom prst="rect">
                    <a:avLst/>
                  </a:prstGeom>
                </p:spPr>
              </p:pic>
              <p:sp>
                <p:nvSpPr>
                  <p:cNvPr id="20" name="Rectangle: Rounded Corners 19">
                    <a:extLst>
                      <a:ext uri="{FF2B5EF4-FFF2-40B4-BE49-F238E27FC236}">
                        <a16:creationId xmlns:a16="http://schemas.microsoft.com/office/drawing/2014/main" id="{2C7E7631-3674-9474-D9A7-0501B13D11B9}"/>
                      </a:ext>
                    </a:extLst>
                  </p:cNvPr>
                  <p:cNvSpPr/>
                  <p:nvPr/>
                </p:nvSpPr>
                <p:spPr>
                  <a:xfrm>
                    <a:off x="7361048" y="3646501"/>
                    <a:ext cx="1565868" cy="656476"/>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600" dirty="0">
                        <a:solidFill>
                          <a:schemeClr val="tx1"/>
                        </a:solidFill>
                      </a:rPr>
                      <a:t>Supply Risk</a:t>
                    </a:r>
                  </a:p>
                  <a:p>
                    <a:pPr marL="171450" indent="-171450">
                      <a:buFont typeface="Arial" panose="020B0604020202020204" pitchFamily="34" charset="0"/>
                      <a:buChar char="•"/>
                    </a:pPr>
                    <a:r>
                      <a:rPr lang="en-US" sz="1600" dirty="0">
                        <a:solidFill>
                          <a:schemeClr val="tx1"/>
                        </a:solidFill>
                      </a:rPr>
                      <a:t>Economic Importance</a:t>
                    </a:r>
                  </a:p>
                  <a:p>
                    <a:pPr marL="171450" indent="-171450">
                      <a:buFont typeface="Arial" panose="020B0604020202020204" pitchFamily="34" charset="0"/>
                      <a:buChar char="•"/>
                    </a:pPr>
                    <a:r>
                      <a:rPr lang="en-US" sz="1600" dirty="0">
                        <a:solidFill>
                          <a:schemeClr val="tx1"/>
                        </a:solidFill>
                      </a:rPr>
                      <a:t>HHI, SI, IR, EOL</a:t>
                    </a:r>
                    <a:r>
                      <a:rPr lang="en-US" sz="900" dirty="0">
                        <a:solidFill>
                          <a:schemeClr val="tx1"/>
                        </a:solidFill>
                      </a:rPr>
                      <a:t>RIR</a:t>
                    </a:r>
                    <a:endParaRPr lang="en-US" sz="1600" dirty="0">
                      <a:solidFill>
                        <a:schemeClr val="tx1"/>
                      </a:solidFill>
                    </a:endParaRPr>
                  </a:p>
                </p:txBody>
              </p:sp>
            </p:grpSp>
            <p:pic>
              <p:nvPicPr>
                <p:cNvPr id="16" name="Picture 15">
                  <a:extLst>
                    <a:ext uri="{FF2B5EF4-FFF2-40B4-BE49-F238E27FC236}">
                      <a16:creationId xmlns:a16="http://schemas.microsoft.com/office/drawing/2014/main" id="{D6E14D82-9BF5-AFB8-F1A1-5026F69FA34F}"/>
                    </a:ext>
                  </a:extLst>
                </p:cNvPr>
                <p:cNvPicPr>
                  <a:picLocks noChangeAspect="1"/>
                </p:cNvPicPr>
                <p:nvPr/>
              </p:nvPicPr>
              <p:blipFill>
                <a:blip r:embed="rId3"/>
                <a:stretch>
                  <a:fillRect/>
                </a:stretch>
              </p:blipFill>
              <p:spPr>
                <a:xfrm>
                  <a:off x="3060663" y="3316447"/>
                  <a:ext cx="260085" cy="260085"/>
                </a:xfrm>
                <a:prstGeom prst="rect">
                  <a:avLst/>
                </a:prstGeom>
              </p:spPr>
            </p:pic>
          </p:grpSp>
          <p:pic>
            <p:nvPicPr>
              <p:cNvPr id="14" name="Picture 13" descr="A red triangle with a white exclamation mark on a yellow rectangular object&#10;&#10;Description automatically generated">
                <a:extLst>
                  <a:ext uri="{FF2B5EF4-FFF2-40B4-BE49-F238E27FC236}">
                    <a16:creationId xmlns:a16="http://schemas.microsoft.com/office/drawing/2014/main" id="{5F0FE989-56F8-7FD5-6710-7A890657E9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7515" y="4032734"/>
                <a:ext cx="278807" cy="278807"/>
              </a:xfrm>
              <a:prstGeom prst="rect">
                <a:avLst/>
              </a:prstGeom>
            </p:spPr>
          </p:pic>
        </p:grpSp>
        <p:pic>
          <p:nvPicPr>
            <p:cNvPr id="10" name="Picture 9">
              <a:extLst>
                <a:ext uri="{FF2B5EF4-FFF2-40B4-BE49-F238E27FC236}">
                  <a16:creationId xmlns:a16="http://schemas.microsoft.com/office/drawing/2014/main" id="{36B83CAF-1500-3FC1-46BD-DBC7631D8D47}"/>
                </a:ext>
              </a:extLst>
            </p:cNvPr>
            <p:cNvPicPr>
              <a:picLocks noChangeAspect="1"/>
            </p:cNvPicPr>
            <p:nvPr/>
          </p:nvPicPr>
          <p:blipFill>
            <a:blip r:embed="rId5"/>
            <a:stretch>
              <a:fillRect/>
            </a:stretch>
          </p:blipFill>
          <p:spPr>
            <a:xfrm>
              <a:off x="3034935" y="3450242"/>
              <a:ext cx="293875" cy="284019"/>
            </a:xfrm>
            <a:prstGeom prst="rect">
              <a:avLst/>
            </a:prstGeom>
          </p:spPr>
        </p:pic>
      </p:grpSp>
    </p:spTree>
    <p:extLst>
      <p:ext uri="{BB962C8B-B14F-4D97-AF65-F5344CB8AC3E}">
        <p14:creationId xmlns:p14="http://schemas.microsoft.com/office/powerpoint/2010/main" val="813561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EE7653-1A18-94B1-BE41-30C7EDD97CA1}"/>
              </a:ext>
            </a:extLst>
          </p:cNvPr>
          <p:cNvSpPr>
            <a:spLocks noGrp="1"/>
          </p:cNvSpPr>
          <p:nvPr>
            <p:ph idx="13"/>
          </p:nvPr>
        </p:nvSpPr>
        <p:spPr>
          <a:xfrm>
            <a:off x="653846" y="1204548"/>
            <a:ext cx="10884311" cy="4983816"/>
          </a:xfrm>
        </p:spPr>
        <p:txBody>
          <a:bodyPr/>
          <a:lstStyle/>
          <a:p>
            <a:pPr marL="0" indent="0">
              <a:buNone/>
            </a:pPr>
            <a:r>
              <a:rPr lang="en-US" dirty="0">
                <a:solidFill>
                  <a:schemeClr val="accent1"/>
                </a:solidFill>
              </a:rPr>
              <a:t>IRENA, 2024: </a:t>
            </a:r>
            <a:r>
              <a:rPr lang="en-US" i="1" dirty="0">
                <a:solidFill>
                  <a:schemeClr val="accent1"/>
                </a:solidFill>
              </a:rPr>
              <a:t>Geopolitics of the Energy Transition: Critical Materials</a:t>
            </a:r>
          </a:p>
          <a:p>
            <a:r>
              <a:rPr lang="en-US" dirty="0"/>
              <a:t>Mining, processing concentration</a:t>
            </a:r>
          </a:p>
          <a:p>
            <a:r>
              <a:rPr lang="en-US" dirty="0"/>
              <a:t>Corporate concentration </a:t>
            </a:r>
            <a:r>
              <a:rPr lang="en-US" dirty="0">
                <a:sym typeface="Wingdings" panose="05000000000000000000" pitchFamily="2" charset="2"/>
              </a:rPr>
              <a:t> oligopolistic behavior and price sensitivity</a:t>
            </a:r>
          </a:p>
          <a:p>
            <a:r>
              <a:rPr lang="en-US" dirty="0">
                <a:sym typeface="Wingdings" panose="05000000000000000000" pitchFamily="2" charset="2"/>
              </a:rPr>
              <a:t>CRM markets and trades:</a:t>
            </a:r>
          </a:p>
          <a:p>
            <a:pPr lvl="1"/>
            <a:r>
              <a:rPr lang="en-US" dirty="0"/>
              <a:t>Unlike oil, many CRMs are not broadly exchange‑traded; price discovery often relies on bilateral contracts, giving commodity traders outsize influence</a:t>
            </a:r>
          </a:p>
          <a:p>
            <a:pPr lvl="1"/>
            <a:r>
              <a:rPr lang="en-US" dirty="0">
                <a:sym typeface="Wingdings" panose="05000000000000000000" pitchFamily="2" charset="2"/>
              </a:rPr>
              <a:t>CRMs trade values are orders of magnitude smaller than fossil fuels; market liquidity and hedging instruments are limited</a:t>
            </a:r>
          </a:p>
          <a:p>
            <a:r>
              <a:rPr lang="en-US" dirty="0">
                <a:sym typeface="Wingdings" panose="05000000000000000000" pitchFamily="2" charset="2"/>
              </a:rPr>
              <a:t>External shocks (wars, pandemic, global energy crisis)</a:t>
            </a:r>
          </a:p>
          <a:p>
            <a:r>
              <a:rPr lang="en-US" dirty="0"/>
              <a:t>Reserves: they appear sufficient, while near‑term constraints are investment, permitting, and mid‑stream capacity</a:t>
            </a:r>
          </a:p>
          <a:p>
            <a:r>
              <a:rPr lang="en-US" dirty="0"/>
              <a:t>Study of the key drivers of CRM supply disruptions</a:t>
            </a:r>
          </a:p>
        </p:txBody>
      </p:sp>
      <p:sp>
        <p:nvSpPr>
          <p:cNvPr id="3" name="Title 2">
            <a:extLst>
              <a:ext uri="{FF2B5EF4-FFF2-40B4-BE49-F238E27FC236}">
                <a16:creationId xmlns:a16="http://schemas.microsoft.com/office/drawing/2014/main" id="{CC8DF9F5-F31C-12DD-0C6E-078C50CE6DFE}"/>
              </a:ext>
            </a:extLst>
          </p:cNvPr>
          <p:cNvSpPr>
            <a:spLocks noGrp="1"/>
          </p:cNvSpPr>
          <p:nvPr>
            <p:ph type="title"/>
          </p:nvPr>
        </p:nvSpPr>
        <p:spPr/>
        <p:txBody>
          <a:bodyPr/>
          <a:lstStyle/>
          <a:p>
            <a:r>
              <a:rPr lang="en-US" dirty="0"/>
              <a:t>Global and EU_CRM framework</a:t>
            </a:r>
          </a:p>
        </p:txBody>
      </p:sp>
      <p:pic>
        <p:nvPicPr>
          <p:cNvPr id="4" name="Picture 3">
            <a:extLst>
              <a:ext uri="{FF2B5EF4-FFF2-40B4-BE49-F238E27FC236}">
                <a16:creationId xmlns:a16="http://schemas.microsoft.com/office/drawing/2014/main" id="{37412263-47D3-7666-ECDB-A1AD66EB7029}"/>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1548664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0F26F2-2C85-B01A-075D-B43848AD3CA9}"/>
              </a:ext>
            </a:extLst>
          </p:cNvPr>
          <p:cNvSpPr>
            <a:spLocks noGrp="1"/>
          </p:cNvSpPr>
          <p:nvPr>
            <p:ph idx="13"/>
          </p:nvPr>
        </p:nvSpPr>
        <p:spPr/>
        <p:txBody>
          <a:bodyPr>
            <a:normAutofit lnSpcReduction="10000"/>
          </a:bodyPr>
          <a:lstStyle/>
          <a:p>
            <a:pPr marL="0" indent="0">
              <a:buNone/>
            </a:pPr>
            <a:r>
              <a:rPr lang="en-US" dirty="0">
                <a:solidFill>
                  <a:schemeClr val="accent1"/>
                </a:solidFill>
              </a:rPr>
              <a:t>IEEP-EU, 2024: </a:t>
            </a:r>
            <a:r>
              <a:rPr lang="en-US" i="1" dirty="0">
                <a:solidFill>
                  <a:schemeClr val="accent1"/>
                </a:solidFill>
              </a:rPr>
              <a:t>Sourcing critical raw materials through trade and cooperation frameworks</a:t>
            </a:r>
          </a:p>
          <a:p>
            <a:r>
              <a:rPr lang="en-US" dirty="0"/>
              <a:t>Gaps in external supply approach:</a:t>
            </a:r>
          </a:p>
          <a:p>
            <a:pPr lvl="1"/>
            <a:r>
              <a:rPr lang="en-US" dirty="0"/>
              <a:t>Current EU approach lacks concrete mechanisms for value‑addition in partner countries and faces challenges in scaling secondary raw‑material markets.</a:t>
            </a:r>
          </a:p>
          <a:p>
            <a:r>
              <a:rPr lang="en-US" dirty="0"/>
              <a:t>New mining lead times:</a:t>
            </a:r>
          </a:p>
          <a:p>
            <a:pPr lvl="1"/>
            <a:r>
              <a:rPr lang="en-US" dirty="0"/>
              <a:t>New mining and processing projects have multi‑year lead times, making rapid rebalancing difficult</a:t>
            </a:r>
          </a:p>
          <a:p>
            <a:pPr marL="0" indent="0">
              <a:buNone/>
            </a:pPr>
            <a:r>
              <a:rPr lang="en-US" dirty="0"/>
              <a:t>And discussion about hurdles in the application of counterbalance strategies:</a:t>
            </a:r>
          </a:p>
          <a:p>
            <a:r>
              <a:rPr lang="en-US" dirty="0"/>
              <a:t>Stockpiling trade‑offs:</a:t>
            </a:r>
          </a:p>
          <a:p>
            <a:pPr lvl="1"/>
            <a:r>
              <a:rPr lang="en-US" dirty="0"/>
              <a:t>Strategic stockpiles alone are not a robust long‑term solution and can exacerbate price spikes or inequities if poorly designed</a:t>
            </a:r>
          </a:p>
          <a:p>
            <a:r>
              <a:rPr lang="en-US" dirty="0"/>
              <a:t>CRMs Club uncertainty: (also Hendrix, 2023)</a:t>
            </a:r>
          </a:p>
          <a:p>
            <a:pPr lvl="1"/>
            <a:r>
              <a:rPr lang="en-US" dirty="0"/>
              <a:t>A proposed CRMs Club could strengthen allied supply but faces </a:t>
            </a:r>
            <a:r>
              <a:rPr lang="en-US" dirty="0" err="1"/>
              <a:t>freerider</a:t>
            </a:r>
            <a:r>
              <a:rPr lang="en-US" dirty="0"/>
              <a:t> risks, intra‑EU distributional tensions, and equity concerns for partners</a:t>
            </a:r>
          </a:p>
          <a:p>
            <a:pPr marL="0" indent="0">
              <a:buNone/>
            </a:pPr>
            <a:endParaRPr lang="en-US" dirty="0"/>
          </a:p>
          <a:p>
            <a:pPr marL="0" indent="0">
              <a:buNone/>
            </a:pPr>
            <a:endParaRPr lang="en-US" i="1" dirty="0">
              <a:solidFill>
                <a:schemeClr val="accent1"/>
              </a:solidFill>
            </a:endParaRPr>
          </a:p>
        </p:txBody>
      </p:sp>
      <p:sp>
        <p:nvSpPr>
          <p:cNvPr id="3" name="Title 2">
            <a:extLst>
              <a:ext uri="{FF2B5EF4-FFF2-40B4-BE49-F238E27FC236}">
                <a16:creationId xmlns:a16="http://schemas.microsoft.com/office/drawing/2014/main" id="{49268C68-75B1-188F-2A1A-D45C660E78AC}"/>
              </a:ext>
            </a:extLst>
          </p:cNvPr>
          <p:cNvSpPr>
            <a:spLocks noGrp="1"/>
          </p:cNvSpPr>
          <p:nvPr>
            <p:ph type="title"/>
          </p:nvPr>
        </p:nvSpPr>
        <p:spPr/>
        <p:txBody>
          <a:bodyPr/>
          <a:lstStyle/>
          <a:p>
            <a:r>
              <a:rPr lang="en-US" dirty="0"/>
              <a:t>Global and EU_CRM framework</a:t>
            </a:r>
          </a:p>
        </p:txBody>
      </p:sp>
      <p:pic>
        <p:nvPicPr>
          <p:cNvPr id="4" name="Picture 3">
            <a:extLst>
              <a:ext uri="{FF2B5EF4-FFF2-40B4-BE49-F238E27FC236}">
                <a16:creationId xmlns:a16="http://schemas.microsoft.com/office/drawing/2014/main" id="{9EF9F561-87EF-6F11-8DD0-D7E6B5C0E188}"/>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762667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55DF60-2B2A-1D46-B2BA-0AAD5049B9B4}"/>
              </a:ext>
            </a:extLst>
          </p:cNvPr>
          <p:cNvSpPr>
            <a:spLocks noGrp="1"/>
          </p:cNvSpPr>
          <p:nvPr>
            <p:ph idx="13"/>
          </p:nvPr>
        </p:nvSpPr>
        <p:spPr/>
        <p:txBody>
          <a:bodyPr>
            <a:normAutofit/>
          </a:bodyPr>
          <a:lstStyle/>
          <a:p>
            <a:pPr marL="0" indent="0">
              <a:buNone/>
            </a:pPr>
            <a:r>
              <a:rPr lang="en-US" dirty="0">
                <a:solidFill>
                  <a:schemeClr val="accent1"/>
                </a:solidFill>
              </a:rPr>
              <a:t>IEA </a:t>
            </a:r>
            <a:r>
              <a:rPr lang="en-US" i="1" dirty="0">
                <a:solidFill>
                  <a:schemeClr val="accent1"/>
                </a:solidFill>
              </a:rPr>
              <a:t>ETP 2024:</a:t>
            </a:r>
            <a:endParaRPr lang="en-US" dirty="0">
              <a:solidFill>
                <a:schemeClr val="accent1"/>
              </a:solidFill>
            </a:endParaRPr>
          </a:p>
          <a:p>
            <a:r>
              <a:rPr lang="en-US" b="1" dirty="0"/>
              <a:t>Disruptions to critical materials slow the </a:t>
            </a:r>
            <a:r>
              <a:rPr lang="en-US" b="1" i="1" dirty="0"/>
              <a:t>transition</a:t>
            </a:r>
            <a:r>
              <a:rPr lang="en-US" b="1" dirty="0"/>
              <a:t>, not day‑to‑day operations</a:t>
            </a:r>
            <a:r>
              <a:rPr lang="en-US" dirty="0"/>
              <a:t>:</a:t>
            </a:r>
          </a:p>
          <a:p>
            <a:pPr lvl="1"/>
            <a:r>
              <a:rPr lang="en-US" dirty="0"/>
              <a:t>Material shortages raise costs and delay uptake rather than immediately turning off the energy system; </a:t>
            </a:r>
          </a:p>
          <a:p>
            <a:pPr lvl="2"/>
            <a:r>
              <a:rPr lang="en-US" dirty="0"/>
              <a:t>In TEMOA this will be studied (how costs will adapt?, how capacities/activities prepare before the disruption?</a:t>
            </a:r>
          </a:p>
          <a:p>
            <a:pPr lvl="2"/>
            <a:r>
              <a:rPr lang="en-US" dirty="0"/>
              <a:t>transition risk ≠ operational risk</a:t>
            </a:r>
          </a:p>
          <a:p>
            <a:pPr lvl="2"/>
            <a:r>
              <a:rPr lang="en-US" dirty="0"/>
              <a:t>diversification mitigates transition delays. </a:t>
            </a:r>
          </a:p>
          <a:p>
            <a:pPr lvl="2"/>
            <a:r>
              <a:rPr lang="en-US" b="1" dirty="0"/>
              <a:t>Market structure: processing is the choke point:</a:t>
            </a:r>
            <a:endParaRPr lang="en-US" dirty="0"/>
          </a:p>
          <a:p>
            <a:pPr lvl="1"/>
            <a:r>
              <a:rPr lang="it-IT" dirty="0"/>
              <a:t>Mining </a:t>
            </a:r>
            <a:r>
              <a:rPr lang="it-IT" dirty="0" err="1"/>
              <a:t>is</a:t>
            </a:r>
            <a:r>
              <a:rPr lang="it-IT" dirty="0"/>
              <a:t> </a:t>
            </a:r>
            <a:r>
              <a:rPr lang="it-IT" dirty="0" err="1"/>
              <a:t>concentrated</a:t>
            </a:r>
            <a:r>
              <a:rPr lang="it-IT" dirty="0"/>
              <a:t>, </a:t>
            </a:r>
            <a:r>
              <a:rPr lang="it-IT" dirty="0" err="1"/>
              <a:t>but</a:t>
            </a:r>
            <a:r>
              <a:rPr lang="it-IT" dirty="0"/>
              <a:t> </a:t>
            </a:r>
            <a:r>
              <a:rPr lang="it-IT" b="1" dirty="0"/>
              <a:t>processing </a:t>
            </a:r>
            <a:r>
              <a:rPr lang="it-IT" b="1" dirty="0" err="1"/>
              <a:t>is</a:t>
            </a:r>
            <a:r>
              <a:rPr lang="it-IT" b="1" dirty="0"/>
              <a:t> </a:t>
            </a:r>
            <a:r>
              <a:rPr lang="it-IT" b="1" dirty="0" err="1"/>
              <a:t>even</a:t>
            </a:r>
            <a:r>
              <a:rPr lang="it-IT" b="1" dirty="0"/>
              <a:t> more </a:t>
            </a:r>
            <a:r>
              <a:rPr lang="it-IT" b="1" dirty="0" err="1"/>
              <a:t>concentrated</a:t>
            </a:r>
            <a:endParaRPr lang="en-US" dirty="0">
              <a:sym typeface="Wingdings" panose="05000000000000000000" pitchFamily="2" charset="2"/>
            </a:endParaRPr>
          </a:p>
        </p:txBody>
      </p:sp>
      <p:sp>
        <p:nvSpPr>
          <p:cNvPr id="3" name="Title 2">
            <a:extLst>
              <a:ext uri="{FF2B5EF4-FFF2-40B4-BE49-F238E27FC236}">
                <a16:creationId xmlns:a16="http://schemas.microsoft.com/office/drawing/2014/main" id="{DB57C08C-0939-DB71-B411-76E11FA5A687}"/>
              </a:ext>
            </a:extLst>
          </p:cNvPr>
          <p:cNvSpPr>
            <a:spLocks noGrp="1"/>
          </p:cNvSpPr>
          <p:nvPr>
            <p:ph type="title"/>
          </p:nvPr>
        </p:nvSpPr>
        <p:spPr/>
        <p:txBody>
          <a:bodyPr/>
          <a:lstStyle/>
          <a:p>
            <a:r>
              <a:rPr lang="en-US" dirty="0"/>
              <a:t>Criticality framework </a:t>
            </a:r>
          </a:p>
        </p:txBody>
      </p:sp>
      <p:pic>
        <p:nvPicPr>
          <p:cNvPr id="4" name="Picture 3">
            <a:extLst>
              <a:ext uri="{FF2B5EF4-FFF2-40B4-BE49-F238E27FC236}">
                <a16:creationId xmlns:a16="http://schemas.microsoft.com/office/drawing/2014/main" id="{E03465F0-E88E-2A42-6516-66A55C37FA12}"/>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3396067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FBDB42-2BFF-8612-EFCA-B46D0293CE64}"/>
              </a:ext>
            </a:extLst>
          </p:cNvPr>
          <p:cNvSpPr>
            <a:spLocks noGrp="1"/>
          </p:cNvSpPr>
          <p:nvPr>
            <p:ph idx="13"/>
          </p:nvPr>
        </p:nvSpPr>
        <p:spPr/>
        <p:txBody>
          <a:bodyPr>
            <a:normAutofit fontScale="92500" lnSpcReduction="10000"/>
          </a:bodyPr>
          <a:lstStyle/>
          <a:p>
            <a:r>
              <a:rPr lang="en-US" b="1" dirty="0"/>
              <a:t>Rare earths 2010–11: a concrete template for shock‑and‑response:</a:t>
            </a:r>
            <a:endParaRPr lang="en-US" dirty="0"/>
          </a:p>
          <a:p>
            <a:pPr lvl="1"/>
            <a:r>
              <a:rPr lang="en-US" dirty="0"/>
              <a:t>A ~37% quota cut produced a price spike; substitution, recycling, new mines and smuggling attenuated prices; WTO later required lifting the restrictions. Use this as an empirical shape for </a:t>
            </a:r>
            <a:r>
              <a:rPr lang="en-US" b="1" dirty="0"/>
              <a:t>duration, magnitude, and endogenous mitigation</a:t>
            </a:r>
          </a:p>
          <a:p>
            <a:r>
              <a:rPr lang="en-US" b="1" dirty="0"/>
              <a:t>China, 2023</a:t>
            </a:r>
            <a:r>
              <a:rPr lang="en-US" dirty="0"/>
              <a:t>: </a:t>
            </a:r>
            <a:r>
              <a:rPr lang="en-US" b="1" dirty="0"/>
              <a:t>Export restrictions on gallium and germanium </a:t>
            </a:r>
            <a:r>
              <a:rPr lang="en-US" dirty="0"/>
              <a:t>due to their use in semiconductor </a:t>
            </a:r>
            <a:r>
              <a:rPr lang="en-US" dirty="0" err="1"/>
              <a:t>technolgy</a:t>
            </a:r>
            <a:r>
              <a:rPr lang="en-US" dirty="0"/>
              <a:t> as a reaction on the tensions with EU and US ("Chips War"), export restrictions on graphite products</a:t>
            </a:r>
          </a:p>
          <a:p>
            <a:r>
              <a:rPr lang="it-IT" b="1" dirty="0"/>
              <a:t>China, 2024: Export </a:t>
            </a:r>
            <a:r>
              <a:rPr lang="it-IT" b="1" dirty="0" err="1"/>
              <a:t>restictions</a:t>
            </a:r>
            <a:r>
              <a:rPr lang="it-IT" b="1" dirty="0"/>
              <a:t> on </a:t>
            </a:r>
            <a:r>
              <a:rPr lang="it-IT" b="1" dirty="0" err="1"/>
              <a:t>antimony</a:t>
            </a:r>
            <a:r>
              <a:rPr lang="it-IT" b="1" dirty="0"/>
              <a:t> </a:t>
            </a:r>
            <a:r>
              <a:rPr lang="en-US" dirty="0"/>
              <a:t>"to secure national security and interests"; December: export ban for the US on raw materials for dual-use technologies (antimony, gallium, germanium)</a:t>
            </a:r>
          </a:p>
          <a:p>
            <a:r>
              <a:rPr lang="en-US" b="1" dirty="0"/>
              <a:t>Indonesia, 2020: Export ban on nickel ores</a:t>
            </a:r>
          </a:p>
          <a:p>
            <a:endParaRPr lang="en-US" b="1" dirty="0"/>
          </a:p>
          <a:p>
            <a:pPr marL="0" indent="0">
              <a:buNone/>
            </a:pPr>
            <a:r>
              <a:rPr lang="en-US" dirty="0"/>
              <a:t>GATT Article XI by WTO generally prohibits export quotas but allows exceptions. </a:t>
            </a:r>
          </a:p>
          <a:p>
            <a:pPr marL="0" indent="0">
              <a:buNone/>
            </a:pPr>
            <a:r>
              <a:rPr lang="en-US" dirty="0"/>
              <a:t>WTO notification database (available online) shows how trades disputes are more and more frequent</a:t>
            </a:r>
          </a:p>
          <a:p>
            <a:endParaRPr lang="en-US" dirty="0"/>
          </a:p>
        </p:txBody>
      </p:sp>
      <p:sp>
        <p:nvSpPr>
          <p:cNvPr id="3" name="Title 2">
            <a:extLst>
              <a:ext uri="{FF2B5EF4-FFF2-40B4-BE49-F238E27FC236}">
                <a16:creationId xmlns:a16="http://schemas.microsoft.com/office/drawing/2014/main" id="{2239E866-7E45-7390-F0E0-9D07249F9603}"/>
              </a:ext>
            </a:extLst>
          </p:cNvPr>
          <p:cNvSpPr>
            <a:spLocks noGrp="1"/>
          </p:cNvSpPr>
          <p:nvPr>
            <p:ph type="title"/>
          </p:nvPr>
        </p:nvSpPr>
        <p:spPr/>
        <p:txBody>
          <a:bodyPr/>
          <a:lstStyle/>
          <a:p>
            <a:r>
              <a:rPr lang="en-US" dirty="0"/>
              <a:t>Criticality framework – recent example of Supply disruption and responses </a:t>
            </a:r>
          </a:p>
        </p:txBody>
      </p:sp>
      <p:pic>
        <p:nvPicPr>
          <p:cNvPr id="4" name="Picture 3">
            <a:extLst>
              <a:ext uri="{FF2B5EF4-FFF2-40B4-BE49-F238E27FC236}">
                <a16:creationId xmlns:a16="http://schemas.microsoft.com/office/drawing/2014/main" id="{E4E3017F-357B-D022-BAC4-C4A9935957D8}"/>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17576041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21BBF1-BDF5-03B7-5521-5B80AEE55F0B}"/>
              </a:ext>
            </a:extLst>
          </p:cNvPr>
          <p:cNvSpPr>
            <a:spLocks noGrp="1"/>
          </p:cNvSpPr>
          <p:nvPr>
            <p:ph idx="13"/>
          </p:nvPr>
        </p:nvSpPr>
        <p:spPr>
          <a:xfrm>
            <a:off x="653846" y="1204548"/>
            <a:ext cx="10884311" cy="3709198"/>
          </a:xfrm>
        </p:spPr>
        <p:txBody>
          <a:bodyPr numCol="2">
            <a:normAutofit lnSpcReduction="10000"/>
          </a:bodyPr>
          <a:lstStyle/>
          <a:p>
            <a:pPr marL="0" indent="0">
              <a:buNone/>
            </a:pPr>
            <a:r>
              <a:rPr lang="en-US" dirty="0"/>
              <a:t>Key sources of CRM supply disruptions</a:t>
            </a:r>
            <a:endParaRPr lang="en-US" dirty="0">
              <a:solidFill>
                <a:schemeClr val="accent1"/>
              </a:solidFill>
            </a:endParaRPr>
          </a:p>
          <a:p>
            <a:r>
              <a:rPr lang="en-US" dirty="0"/>
              <a:t>Market manipulation (i.e. Chinese market flooding, little liquidity)</a:t>
            </a:r>
          </a:p>
          <a:p>
            <a:r>
              <a:rPr lang="en-US" dirty="0"/>
              <a:t>Geographical concentration of the different stages of the CRMs supply chain</a:t>
            </a:r>
          </a:p>
          <a:p>
            <a:r>
              <a:rPr lang="en-US" dirty="0"/>
              <a:t>Circularity gaps (low EOL</a:t>
            </a:r>
            <a:r>
              <a:rPr lang="en-US" sz="1200" dirty="0"/>
              <a:t>RIR</a:t>
            </a:r>
            <a:r>
              <a:rPr lang="en-US" dirty="0"/>
              <a:t>)</a:t>
            </a:r>
          </a:p>
          <a:p>
            <a:r>
              <a:rPr lang="en-US" dirty="0"/>
              <a:t>Barriers to material supply diversification </a:t>
            </a:r>
          </a:p>
          <a:p>
            <a:endParaRPr lang="en-US" dirty="0"/>
          </a:p>
          <a:p>
            <a:endParaRPr lang="en-US" dirty="0"/>
          </a:p>
          <a:p>
            <a:r>
              <a:rPr lang="en-US" dirty="0"/>
              <a:t>Export restrictions (OECD, WTO)</a:t>
            </a:r>
          </a:p>
          <a:p>
            <a:r>
              <a:rPr lang="en-US" dirty="0"/>
              <a:t>Resource nationalism</a:t>
            </a:r>
          </a:p>
          <a:p>
            <a:r>
              <a:rPr lang="en-US" dirty="0"/>
              <a:t>Mineral cartels</a:t>
            </a:r>
          </a:p>
          <a:p>
            <a:r>
              <a:rPr lang="en-US" dirty="0"/>
              <a:t>Political instability and social unrest</a:t>
            </a:r>
          </a:p>
          <a:p>
            <a:r>
              <a:rPr lang="en-US" dirty="0"/>
              <a:t>External shocks</a:t>
            </a:r>
          </a:p>
          <a:p>
            <a:r>
              <a:rPr lang="en-US" dirty="0"/>
              <a:t>Mineral curses in low WGI and highly resource-based countries</a:t>
            </a:r>
          </a:p>
          <a:p>
            <a:r>
              <a:rPr lang="en-US" dirty="0"/>
              <a:t>Environmental diseases</a:t>
            </a:r>
          </a:p>
          <a:p>
            <a:endParaRPr lang="en-US" dirty="0"/>
          </a:p>
        </p:txBody>
      </p:sp>
      <p:sp>
        <p:nvSpPr>
          <p:cNvPr id="3" name="Title 2">
            <a:extLst>
              <a:ext uri="{FF2B5EF4-FFF2-40B4-BE49-F238E27FC236}">
                <a16:creationId xmlns:a16="http://schemas.microsoft.com/office/drawing/2014/main" id="{8DB2AF5D-CEB9-A621-05F1-1899A380F84E}"/>
              </a:ext>
            </a:extLst>
          </p:cNvPr>
          <p:cNvSpPr>
            <a:spLocks noGrp="1"/>
          </p:cNvSpPr>
          <p:nvPr>
            <p:ph type="title"/>
          </p:nvPr>
        </p:nvSpPr>
        <p:spPr/>
        <p:txBody>
          <a:bodyPr/>
          <a:lstStyle/>
          <a:p>
            <a:r>
              <a:rPr lang="en-US" dirty="0"/>
              <a:t>Global and EU_CRM framework</a:t>
            </a:r>
          </a:p>
        </p:txBody>
      </p:sp>
      <p:sp>
        <p:nvSpPr>
          <p:cNvPr id="4" name="Content Placeholder 1">
            <a:extLst>
              <a:ext uri="{FF2B5EF4-FFF2-40B4-BE49-F238E27FC236}">
                <a16:creationId xmlns:a16="http://schemas.microsoft.com/office/drawing/2014/main" id="{DE7421DA-8F7D-95D5-206F-9B1256C98920}"/>
              </a:ext>
            </a:extLst>
          </p:cNvPr>
          <p:cNvSpPr txBox="1">
            <a:spLocks/>
          </p:cNvSpPr>
          <p:nvPr/>
        </p:nvSpPr>
        <p:spPr>
          <a:xfrm>
            <a:off x="653846" y="4830618"/>
            <a:ext cx="10884311" cy="1438298"/>
          </a:xfrm>
          <a:prstGeom prst="rect">
            <a:avLst/>
          </a:prstGeom>
        </p:spPr>
        <p:txBody>
          <a:bodyPr vert="horz" lIns="91440" tIns="45720" rIns="91440" bIns="45720" rtlCol="0">
            <a:normAutofit/>
          </a:bodyPr>
          <a:lst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lang="en-US" sz="2400"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lang="en-US" sz="20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lang="en-US" sz="16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lang="en-US" sz="14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lang="en-US" sz="1400" kern="1200" noProof="0" dirty="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b="0" dirty="0">
                <a:solidFill>
                  <a:schemeClr val="accent1"/>
                </a:solidFill>
              </a:rPr>
              <a:t>M</a:t>
            </a:r>
            <a:r>
              <a:rPr lang="it-IT" b="0" dirty="0" err="1">
                <a:solidFill>
                  <a:schemeClr val="accent1"/>
                </a:solidFill>
              </a:rPr>
              <a:t>arket</a:t>
            </a:r>
            <a:r>
              <a:rPr lang="it-IT" b="0" dirty="0">
                <a:solidFill>
                  <a:schemeClr val="accent1"/>
                </a:solidFill>
              </a:rPr>
              <a:t> </a:t>
            </a:r>
            <a:r>
              <a:rPr lang="it-IT" b="0" dirty="0" err="1">
                <a:solidFill>
                  <a:schemeClr val="accent1"/>
                </a:solidFill>
              </a:rPr>
              <a:t>volatility</a:t>
            </a:r>
            <a:r>
              <a:rPr lang="it-IT" b="0" dirty="0">
                <a:solidFill>
                  <a:schemeClr val="accent1"/>
                </a:solidFill>
              </a:rPr>
              <a:t> </a:t>
            </a:r>
            <a:r>
              <a:rPr lang="it-IT" b="0" dirty="0" err="1">
                <a:solidFill>
                  <a:schemeClr val="accent1"/>
                </a:solidFill>
              </a:rPr>
              <a:t>encompasses</a:t>
            </a:r>
            <a:r>
              <a:rPr lang="it-IT" b="0" dirty="0">
                <a:solidFill>
                  <a:schemeClr val="accent1"/>
                </a:solidFill>
              </a:rPr>
              <a:t> </a:t>
            </a:r>
            <a:r>
              <a:rPr lang="it-IT" b="0" dirty="0" err="1">
                <a:solidFill>
                  <a:schemeClr val="accent1"/>
                </a:solidFill>
              </a:rPr>
              <a:t>several</a:t>
            </a:r>
            <a:r>
              <a:rPr lang="it-IT" b="0" dirty="0">
                <a:solidFill>
                  <a:schemeClr val="accent1"/>
                </a:solidFill>
              </a:rPr>
              <a:t> drivers of disruption, and </a:t>
            </a:r>
            <a:r>
              <a:rPr lang="it-IT" b="0" dirty="0" err="1">
                <a:solidFill>
                  <a:schemeClr val="accent1"/>
                </a:solidFill>
              </a:rPr>
              <a:t>it’s</a:t>
            </a:r>
            <a:r>
              <a:rPr lang="it-IT" b="0" dirty="0">
                <a:solidFill>
                  <a:schemeClr val="accent1"/>
                </a:solidFill>
              </a:rPr>
              <a:t> </a:t>
            </a:r>
            <a:r>
              <a:rPr lang="it-IT" b="0" dirty="0" err="1">
                <a:solidFill>
                  <a:schemeClr val="accent1"/>
                </a:solidFill>
              </a:rPr>
              <a:t>difficult</a:t>
            </a:r>
            <a:r>
              <a:rPr lang="it-IT" b="0" dirty="0">
                <a:solidFill>
                  <a:schemeClr val="accent1"/>
                </a:solidFill>
              </a:rPr>
              <a:t> to relate </a:t>
            </a:r>
            <a:r>
              <a:rPr lang="it-IT" b="0" dirty="0" err="1">
                <a:solidFill>
                  <a:schemeClr val="accent1"/>
                </a:solidFill>
              </a:rPr>
              <a:t>it</a:t>
            </a:r>
            <a:r>
              <a:rPr lang="it-IT" b="0" dirty="0">
                <a:solidFill>
                  <a:schemeClr val="accent1"/>
                </a:solidFill>
              </a:rPr>
              <a:t> </a:t>
            </a:r>
            <a:r>
              <a:rPr lang="it-IT" b="0" dirty="0" err="1">
                <a:solidFill>
                  <a:schemeClr val="accent1"/>
                </a:solidFill>
              </a:rPr>
              <a:t>only</a:t>
            </a:r>
            <a:r>
              <a:rPr lang="it-IT" b="0" dirty="0">
                <a:solidFill>
                  <a:schemeClr val="accent1"/>
                </a:solidFill>
              </a:rPr>
              <a:t> with energy </a:t>
            </a:r>
            <a:r>
              <a:rPr lang="it-IT" b="0" dirty="0" err="1">
                <a:solidFill>
                  <a:schemeClr val="accent1"/>
                </a:solidFill>
              </a:rPr>
              <a:t>crises</a:t>
            </a:r>
            <a:r>
              <a:rPr lang="it-IT" b="0" dirty="0">
                <a:solidFill>
                  <a:schemeClr val="accent1"/>
                </a:solidFill>
              </a:rPr>
              <a:t>.</a:t>
            </a:r>
          </a:p>
          <a:p>
            <a:pPr marL="0" indent="0">
              <a:buNone/>
            </a:pPr>
            <a:r>
              <a:rPr lang="it-IT" dirty="0">
                <a:solidFill>
                  <a:schemeClr val="accent1"/>
                </a:solidFill>
                <a:sym typeface="Wingdings" panose="05000000000000000000" pitchFamily="2" charset="2"/>
              </a:rPr>
              <a:t> </a:t>
            </a:r>
            <a:r>
              <a:rPr lang="it-IT" dirty="0">
                <a:solidFill>
                  <a:srgbClr val="FF0000"/>
                </a:solidFill>
                <a:sym typeface="Wingdings" panose="05000000000000000000" pitchFamily="2" charset="2"/>
              </a:rPr>
              <a:t>How to </a:t>
            </a:r>
            <a:r>
              <a:rPr lang="it-IT" dirty="0" err="1">
                <a:solidFill>
                  <a:srgbClr val="FF0000"/>
                </a:solidFill>
                <a:sym typeface="Wingdings" panose="05000000000000000000" pitchFamily="2" charset="2"/>
              </a:rPr>
              <a:t>quantify</a:t>
            </a:r>
            <a:r>
              <a:rPr lang="it-IT" dirty="0">
                <a:solidFill>
                  <a:srgbClr val="FF0000"/>
                </a:solidFill>
                <a:sym typeface="Wingdings" panose="05000000000000000000" pitchFamily="2" charset="2"/>
              </a:rPr>
              <a:t> and relate price </a:t>
            </a:r>
            <a:r>
              <a:rPr lang="it-IT" dirty="0" err="1">
                <a:solidFill>
                  <a:srgbClr val="FF0000"/>
                </a:solidFill>
                <a:sym typeface="Wingdings" panose="05000000000000000000" pitchFamily="2" charset="2"/>
              </a:rPr>
              <a:t>volatility</a:t>
            </a:r>
            <a:r>
              <a:rPr lang="it-IT" dirty="0">
                <a:solidFill>
                  <a:srgbClr val="FF0000"/>
                </a:solidFill>
                <a:sym typeface="Wingdings" panose="05000000000000000000" pitchFamily="2" charset="2"/>
              </a:rPr>
              <a:t> with </a:t>
            </a:r>
            <a:r>
              <a:rPr lang="it-IT" dirty="0" err="1">
                <a:solidFill>
                  <a:srgbClr val="FF0000"/>
                </a:solidFill>
                <a:sym typeface="Wingdings" panose="05000000000000000000" pitchFamily="2" charset="2"/>
              </a:rPr>
              <a:t>CRMs</a:t>
            </a:r>
            <a:r>
              <a:rPr lang="it-IT" dirty="0">
                <a:solidFill>
                  <a:srgbClr val="FF0000"/>
                </a:solidFill>
                <a:sym typeface="Wingdings" panose="05000000000000000000" pitchFamily="2" charset="2"/>
              </a:rPr>
              <a:t> supply risks?</a:t>
            </a:r>
            <a:endParaRPr lang="it-IT" b="0" dirty="0">
              <a:solidFill>
                <a:srgbClr val="FF0000"/>
              </a:solidFill>
            </a:endParaRPr>
          </a:p>
          <a:p>
            <a:pPr marL="0" indent="0">
              <a:buFont typeface="Wingdings" panose="05000000000000000000" pitchFamily="2" charset="2"/>
              <a:buNone/>
            </a:pPr>
            <a:endParaRPr lang="en-US" dirty="0"/>
          </a:p>
          <a:p>
            <a:pPr marL="0" indent="0">
              <a:buFont typeface="Wingdings" panose="05000000000000000000" pitchFamily="2" charset="2"/>
              <a:buNone/>
            </a:pPr>
            <a:endParaRPr lang="en-US" dirty="0"/>
          </a:p>
          <a:p>
            <a:pPr marL="0" indent="0">
              <a:buFont typeface="Wingdings" panose="05000000000000000000" pitchFamily="2" charset="2"/>
              <a:buNone/>
            </a:pPr>
            <a:endParaRPr lang="en-US" i="1" dirty="0">
              <a:solidFill>
                <a:schemeClr val="accent1"/>
              </a:solidFill>
            </a:endParaRPr>
          </a:p>
        </p:txBody>
      </p:sp>
      <p:sp>
        <p:nvSpPr>
          <p:cNvPr id="5" name="Rectangle 4">
            <a:extLst>
              <a:ext uri="{FF2B5EF4-FFF2-40B4-BE49-F238E27FC236}">
                <a16:creationId xmlns:a16="http://schemas.microsoft.com/office/drawing/2014/main" id="{7C28E620-EF58-6154-84FD-A8CC5DC88F37}"/>
              </a:ext>
            </a:extLst>
          </p:cNvPr>
          <p:cNvSpPr/>
          <p:nvPr/>
        </p:nvSpPr>
        <p:spPr>
          <a:xfrm>
            <a:off x="653846" y="1560945"/>
            <a:ext cx="10884308" cy="305283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3D1AB8B-1595-E2ED-D25B-8282B1503265}"/>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2075264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DA9D96-4813-B76F-2D36-893672037EE3}"/>
              </a:ext>
            </a:extLst>
          </p:cNvPr>
          <p:cNvSpPr>
            <a:spLocks noGrp="1"/>
          </p:cNvSpPr>
          <p:nvPr>
            <p:ph type="title"/>
          </p:nvPr>
        </p:nvSpPr>
        <p:spPr/>
        <p:txBody>
          <a:bodyPr/>
          <a:lstStyle/>
          <a:p>
            <a:r>
              <a:rPr lang="en-US" dirty="0"/>
              <a:t>Global and EU_CRM framework – Criticality </a:t>
            </a:r>
          </a:p>
        </p:txBody>
      </p:sp>
      <p:sp>
        <p:nvSpPr>
          <p:cNvPr id="4" name="Content Placeholder 1">
            <a:extLst>
              <a:ext uri="{FF2B5EF4-FFF2-40B4-BE49-F238E27FC236}">
                <a16:creationId xmlns:a16="http://schemas.microsoft.com/office/drawing/2014/main" id="{A6747F37-A3E9-FDB0-4E65-080B84621255}"/>
              </a:ext>
            </a:extLst>
          </p:cNvPr>
          <p:cNvSpPr>
            <a:spLocks noGrp="1"/>
          </p:cNvSpPr>
          <p:nvPr>
            <p:ph idx="13"/>
          </p:nvPr>
        </p:nvSpPr>
        <p:spPr>
          <a:xfrm>
            <a:off x="654050" y="1204912"/>
            <a:ext cx="10883900" cy="5214361"/>
          </a:xfrm>
        </p:spPr>
        <p:txBody>
          <a:bodyPr>
            <a:normAutofit/>
          </a:bodyPr>
          <a:lstStyle/>
          <a:p>
            <a:pPr marL="0" indent="0">
              <a:buNone/>
            </a:pPr>
            <a:r>
              <a:rPr lang="en-US" sz="1800" dirty="0">
                <a:solidFill>
                  <a:schemeClr val="accent1"/>
                </a:solidFill>
              </a:rPr>
              <a:t>Definition of </a:t>
            </a:r>
            <a:r>
              <a:rPr lang="en-US" sz="1800" b="1" i="1" dirty="0">
                <a:solidFill>
                  <a:schemeClr val="accent1"/>
                </a:solidFill>
              </a:rPr>
              <a:t>criticality</a:t>
            </a:r>
            <a:r>
              <a:rPr lang="en-US" sz="1800" i="1" dirty="0">
                <a:solidFill>
                  <a:schemeClr val="accent1"/>
                </a:solidFill>
              </a:rPr>
              <a:t>:</a:t>
            </a:r>
            <a:endParaRPr lang="en-US" sz="1800" dirty="0"/>
          </a:p>
          <a:p>
            <a:pPr marL="0" indent="0">
              <a:buNone/>
            </a:pPr>
            <a:r>
              <a:rPr lang="en-US" sz="1800" dirty="0"/>
              <a:t>NRC. 2008. Minerals, Critical Minerals, and the U.S. Economy, on criticality assessment:</a:t>
            </a:r>
          </a:p>
          <a:p>
            <a:r>
              <a:rPr lang="en-US" sz="1800" dirty="0"/>
              <a:t>The impact of a supply disruption of the raw material </a:t>
            </a:r>
          </a:p>
          <a:p>
            <a:r>
              <a:rPr lang="en-US" sz="1800" dirty="0"/>
              <a:t>The probability that the supply of the material is disrupted</a:t>
            </a:r>
          </a:p>
          <a:p>
            <a:pPr marL="0" indent="0">
              <a:buNone/>
            </a:pPr>
            <a:r>
              <a:rPr lang="en-US" sz="1800" dirty="0">
                <a:sym typeface="Wingdings" panose="05000000000000000000" pitchFamily="2" charset="2"/>
              </a:rPr>
              <a:t> </a:t>
            </a:r>
            <a:r>
              <a:rPr lang="en-US" sz="1800" dirty="0"/>
              <a:t>Criticality is a risk construct: likelihood of supply restriction (supply risk) × consequence (impact on system). </a:t>
            </a:r>
          </a:p>
          <a:p>
            <a:pPr marL="0" indent="0">
              <a:buNone/>
            </a:pPr>
            <a:endParaRPr lang="en-US" sz="1800" dirty="0"/>
          </a:p>
          <a:p>
            <a:pPr marL="0" indent="0">
              <a:buNone/>
            </a:pPr>
            <a:r>
              <a:rPr lang="en-US" sz="1800" dirty="0">
                <a:solidFill>
                  <a:schemeClr val="accent1"/>
                </a:solidFill>
              </a:rPr>
              <a:t>Definition of </a:t>
            </a:r>
            <a:r>
              <a:rPr lang="en-US" sz="1800" b="1" i="1" dirty="0">
                <a:solidFill>
                  <a:schemeClr val="accent1"/>
                </a:solidFill>
              </a:rPr>
              <a:t>critical raw material:</a:t>
            </a:r>
            <a:endParaRPr lang="nl-NL" sz="1800" dirty="0"/>
          </a:p>
          <a:p>
            <a:pPr marL="0" indent="0">
              <a:buNone/>
            </a:pPr>
            <a:r>
              <a:rPr lang="nl-NL" sz="1800" dirty="0"/>
              <a:t>Schrijvers et al. (2020) review:</a:t>
            </a:r>
            <a:endParaRPr lang="en-US" sz="1800" dirty="0"/>
          </a:p>
          <a:p>
            <a:r>
              <a:rPr lang="en-US" sz="1800" dirty="0"/>
              <a:t>CRM lists are scope-dependent; results vary with goal, system boundary, time horizon, indicator choices, and aggregation method</a:t>
            </a:r>
          </a:p>
          <a:p>
            <a:endParaRPr lang="en-US" sz="1800" dirty="0"/>
          </a:p>
          <a:p>
            <a:pPr marL="0" indent="0">
              <a:buNone/>
            </a:pPr>
            <a:endParaRPr lang="en-US" sz="1800" dirty="0"/>
          </a:p>
        </p:txBody>
      </p:sp>
      <p:sp>
        <p:nvSpPr>
          <p:cNvPr id="5" name="Right Brace 4">
            <a:extLst>
              <a:ext uri="{FF2B5EF4-FFF2-40B4-BE49-F238E27FC236}">
                <a16:creationId xmlns:a16="http://schemas.microsoft.com/office/drawing/2014/main" id="{84EA2A89-C8B0-A5B2-A8BE-D9DC421CEB95}"/>
              </a:ext>
            </a:extLst>
          </p:cNvPr>
          <p:cNvSpPr/>
          <p:nvPr/>
        </p:nvSpPr>
        <p:spPr>
          <a:xfrm>
            <a:off x="7259782" y="1911934"/>
            <a:ext cx="129309" cy="60960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CF633B31-88DD-2E67-D74F-0D2F9F6EC9FD}"/>
              </a:ext>
            </a:extLst>
          </p:cNvPr>
          <p:cNvSpPr txBox="1"/>
          <p:nvPr/>
        </p:nvSpPr>
        <p:spPr>
          <a:xfrm>
            <a:off x="7647710" y="1955124"/>
            <a:ext cx="3140363" cy="523220"/>
          </a:xfrm>
          <a:prstGeom prst="rect">
            <a:avLst/>
          </a:prstGeom>
          <a:noFill/>
          <a:ln w="28575">
            <a:solidFill>
              <a:srgbClr val="0C77C3"/>
            </a:solidFill>
          </a:ln>
        </p:spPr>
        <p:txBody>
          <a:bodyPr wrap="square" rtlCol="0">
            <a:spAutoFit/>
          </a:bodyPr>
          <a:lstStyle/>
          <a:p>
            <a:r>
              <a:rPr lang="en-US" sz="1400" dirty="0">
                <a:ln w="0"/>
                <a:solidFill>
                  <a:schemeClr val="accent1"/>
                </a:solidFill>
                <a:effectLst>
                  <a:outerShdw blurRad="38100" dist="25400" dir="5400000" algn="ctr" rotWithShape="0">
                    <a:srgbClr val="6E747A">
                      <a:alpha val="43000"/>
                    </a:srgbClr>
                  </a:outerShdw>
                </a:effectLst>
              </a:rPr>
              <a:t>The EU_CRM SR links both intensity and probability of a supply disruption</a:t>
            </a:r>
          </a:p>
        </p:txBody>
      </p:sp>
      <p:sp>
        <p:nvSpPr>
          <p:cNvPr id="7" name="Rectangle 6">
            <a:extLst>
              <a:ext uri="{FF2B5EF4-FFF2-40B4-BE49-F238E27FC236}">
                <a16:creationId xmlns:a16="http://schemas.microsoft.com/office/drawing/2014/main" id="{AA897EAF-7E8C-2B59-4458-AC341AB12802}"/>
              </a:ext>
            </a:extLst>
          </p:cNvPr>
          <p:cNvSpPr/>
          <p:nvPr/>
        </p:nvSpPr>
        <p:spPr>
          <a:xfrm>
            <a:off x="653846" y="1911934"/>
            <a:ext cx="6458154" cy="63097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D4BCA9E-C958-1A47-4B14-4CA5B69496B7}"/>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1352624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53C3BB-FBC7-88FD-0D94-254A30BA27B1}"/>
              </a:ext>
            </a:extLst>
          </p:cNvPr>
          <p:cNvSpPr>
            <a:spLocks noGrp="1"/>
          </p:cNvSpPr>
          <p:nvPr>
            <p:ph idx="13"/>
          </p:nvPr>
        </p:nvSpPr>
        <p:spPr/>
        <p:txBody>
          <a:bodyPr>
            <a:normAutofit fontScale="92500"/>
          </a:bodyPr>
          <a:lstStyle/>
          <a:p>
            <a:pPr marL="0" indent="0">
              <a:buNone/>
            </a:pPr>
            <a:r>
              <a:rPr lang="en-US" sz="2000" dirty="0">
                <a:solidFill>
                  <a:schemeClr val="accent1"/>
                </a:solidFill>
              </a:rPr>
              <a:t>Criticality assessment:</a:t>
            </a:r>
            <a:endParaRPr lang="en-US" sz="2000" dirty="0"/>
          </a:p>
          <a:p>
            <a:pPr marL="0" indent="0">
              <a:buNone/>
            </a:pPr>
            <a:r>
              <a:rPr lang="nl-NL" sz="2000" dirty="0"/>
              <a:t>Schrijvers et al. (2020) review:</a:t>
            </a:r>
          </a:p>
          <a:p>
            <a:r>
              <a:rPr lang="en-US" sz="2000" b="1" dirty="0"/>
              <a:t>Criticality</a:t>
            </a:r>
            <a:r>
              <a:rPr lang="en-US" sz="2000" dirty="0"/>
              <a:t> of a raw material then can be considered in the </a:t>
            </a:r>
            <a:r>
              <a:rPr lang="en-US" sz="2000" b="1" dirty="0"/>
              <a:t>short term </a:t>
            </a:r>
            <a:r>
              <a:rPr lang="en-US" sz="2000" dirty="0"/>
              <a:t>(e.g. a few years) or in the </a:t>
            </a:r>
            <a:r>
              <a:rPr lang="en-US" sz="2000" b="1" dirty="0"/>
              <a:t>long term </a:t>
            </a:r>
            <a:r>
              <a:rPr lang="en-US" sz="2000" dirty="0"/>
              <a:t>(i.e. decades)</a:t>
            </a:r>
          </a:p>
          <a:p>
            <a:r>
              <a:rPr lang="en-US" sz="2000" dirty="0"/>
              <a:t>The EIT (European Institute of Innovation &amp; Technology) Raw Materials project </a:t>
            </a:r>
            <a:r>
              <a:rPr lang="en-US" sz="2000" b="1" dirty="0"/>
              <a:t>IRTC</a:t>
            </a:r>
            <a:r>
              <a:rPr lang="en-US" sz="2000" dirty="0"/>
              <a:t> (“International Round Table on Materials Criticality”) was established to address criticality methods missing</a:t>
            </a:r>
          </a:p>
          <a:p>
            <a:r>
              <a:rPr lang="en-US" sz="2000" dirty="0"/>
              <a:t>List of indicators of supply disruption</a:t>
            </a:r>
          </a:p>
          <a:p>
            <a:r>
              <a:rPr lang="en-US" sz="2000" b="1" dirty="0"/>
              <a:t>Vulnerability</a:t>
            </a:r>
            <a:r>
              <a:rPr lang="en-US" sz="2000" dirty="0"/>
              <a:t> (in economies, technologies, companies) concept: referred to a supply disruption</a:t>
            </a:r>
          </a:p>
          <a:p>
            <a:pPr lvl="1"/>
            <a:r>
              <a:rPr lang="en-US" sz="1600" dirty="0"/>
              <a:t>The indicator that is included in most criticality studies is substitutability</a:t>
            </a:r>
          </a:p>
          <a:p>
            <a:pPr marL="0" indent="0">
              <a:buNone/>
            </a:pPr>
            <a:r>
              <a:rPr lang="en-US" sz="2000" dirty="0"/>
              <a:t>U.S. Department of Energy, 2023 </a:t>
            </a:r>
            <a:r>
              <a:rPr lang="en-US" sz="2000" i="1" dirty="0"/>
              <a:t>Critical Materials Assessment</a:t>
            </a:r>
            <a:r>
              <a:rPr lang="en-US" sz="2000" dirty="0"/>
              <a:t>:</a:t>
            </a:r>
          </a:p>
          <a:p>
            <a:r>
              <a:rPr lang="en-US" sz="2000" dirty="0"/>
              <a:t>Enabling activities that promote better assessments</a:t>
            </a:r>
          </a:p>
          <a:p>
            <a:pPr lvl="1"/>
            <a:r>
              <a:rPr lang="en-US" sz="1800" dirty="0"/>
              <a:t>Taking a forward-looking approach in the criticality assessment:</a:t>
            </a:r>
            <a:r>
              <a:rPr lang="it-IT" sz="1800" dirty="0"/>
              <a:t> demand </a:t>
            </a:r>
            <a:r>
              <a:rPr lang="it-IT" sz="1800" dirty="0" err="1"/>
              <a:t>projections</a:t>
            </a:r>
            <a:r>
              <a:rPr lang="it-IT" sz="1800" dirty="0"/>
              <a:t> and </a:t>
            </a:r>
            <a:r>
              <a:rPr lang="it-IT" sz="1800" dirty="0" err="1"/>
              <a:t>trajectories</a:t>
            </a:r>
            <a:r>
              <a:rPr lang="it-IT" sz="1800" dirty="0"/>
              <a:t> </a:t>
            </a:r>
            <a:r>
              <a:rPr lang="en-US" sz="1800" dirty="0"/>
              <a:t>for each material, that can inform energy demand, competing technology demand, and basic availability</a:t>
            </a:r>
            <a:r>
              <a:rPr lang="it-IT" sz="1800" dirty="0"/>
              <a:t> </a:t>
            </a:r>
          </a:p>
          <a:p>
            <a:pPr lvl="1"/>
            <a:r>
              <a:rPr lang="it-IT" sz="1800" dirty="0"/>
              <a:t>Dynamic supply </a:t>
            </a:r>
            <a:r>
              <a:rPr lang="it-IT" sz="1800" dirty="0" err="1"/>
              <a:t>projections</a:t>
            </a:r>
            <a:endParaRPr lang="it-IT" sz="1800" dirty="0"/>
          </a:p>
          <a:p>
            <a:pPr lvl="1"/>
            <a:r>
              <a:rPr lang="it-IT" sz="1800" dirty="0"/>
              <a:t>Others (LCA, TEA)</a:t>
            </a:r>
            <a:endParaRPr lang="en-US" sz="1800" dirty="0"/>
          </a:p>
        </p:txBody>
      </p:sp>
      <p:sp>
        <p:nvSpPr>
          <p:cNvPr id="3" name="Title 2">
            <a:extLst>
              <a:ext uri="{FF2B5EF4-FFF2-40B4-BE49-F238E27FC236}">
                <a16:creationId xmlns:a16="http://schemas.microsoft.com/office/drawing/2014/main" id="{BA988CB8-87A0-A83E-872C-A09A7CC18D3C}"/>
              </a:ext>
            </a:extLst>
          </p:cNvPr>
          <p:cNvSpPr>
            <a:spLocks noGrp="1"/>
          </p:cNvSpPr>
          <p:nvPr>
            <p:ph type="title"/>
          </p:nvPr>
        </p:nvSpPr>
        <p:spPr/>
        <p:txBody>
          <a:bodyPr/>
          <a:lstStyle/>
          <a:p>
            <a:r>
              <a:rPr lang="en-US" dirty="0"/>
              <a:t>Global and EU_CRM framework – Criticality </a:t>
            </a:r>
          </a:p>
        </p:txBody>
      </p:sp>
      <p:pic>
        <p:nvPicPr>
          <p:cNvPr id="4" name="Picture 3">
            <a:extLst>
              <a:ext uri="{FF2B5EF4-FFF2-40B4-BE49-F238E27FC236}">
                <a16:creationId xmlns:a16="http://schemas.microsoft.com/office/drawing/2014/main" id="{C4534A83-CC6B-B326-63E2-35E90CB9E983}"/>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26799646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E61B25-07B0-EF78-86B1-447C9C9A2BD8}"/>
              </a:ext>
            </a:extLst>
          </p:cNvPr>
          <p:cNvSpPr>
            <a:spLocks noGrp="1"/>
          </p:cNvSpPr>
          <p:nvPr>
            <p:ph idx="13"/>
          </p:nvPr>
        </p:nvSpPr>
        <p:spPr/>
        <p:txBody>
          <a:bodyPr>
            <a:normAutofit/>
          </a:bodyPr>
          <a:lstStyle/>
          <a:p>
            <a:pPr marL="0" indent="0">
              <a:buNone/>
            </a:pPr>
            <a:r>
              <a:rPr lang="en-US" sz="2400" dirty="0">
                <a:solidFill>
                  <a:schemeClr val="accent1"/>
                </a:solidFill>
              </a:rPr>
              <a:t>Criticality assessment: IRTC and EU framework</a:t>
            </a:r>
            <a:endParaRPr lang="en-US" sz="2400" dirty="0"/>
          </a:p>
          <a:p>
            <a:pPr marL="0" indent="0">
              <a:buNone/>
            </a:pPr>
            <a:endParaRPr lang="en-US" dirty="0"/>
          </a:p>
          <a:p>
            <a:r>
              <a:rPr lang="en-US" b="1" dirty="0"/>
              <a:t>Critical Raw Materials Act</a:t>
            </a:r>
            <a:r>
              <a:rPr lang="en-US" dirty="0"/>
              <a:t>:</a:t>
            </a:r>
          </a:p>
          <a:p>
            <a:pPr lvl="1"/>
            <a:r>
              <a:rPr lang="en-US" dirty="0"/>
              <a:t>EU CRM dependency and lack of industry</a:t>
            </a:r>
          </a:p>
          <a:p>
            <a:pPr lvl="1"/>
            <a:r>
              <a:rPr lang="en-US" dirty="0"/>
              <a:t>2030 benchmarks on domestic production:  ≥10% extraction, ≥40% processing, ≥25% recycling of EU consumption domestically; ≤65% from any single third country at each stage</a:t>
            </a:r>
          </a:p>
          <a:p>
            <a:r>
              <a:rPr lang="en-US" b="1" dirty="0"/>
              <a:t>Methodologies</a:t>
            </a:r>
            <a:r>
              <a:rPr lang="en-US" dirty="0"/>
              <a:t>:</a:t>
            </a:r>
          </a:p>
          <a:p>
            <a:pPr lvl="1"/>
            <a:r>
              <a:rPr lang="en-US" dirty="0"/>
              <a:t>Supply Risk indicators</a:t>
            </a:r>
          </a:p>
          <a:p>
            <a:pPr lvl="1"/>
            <a:r>
              <a:rPr lang="en-US" dirty="0"/>
              <a:t>Indicator aggregation choices (</a:t>
            </a:r>
            <a:r>
              <a:rPr lang="es-ES" dirty="0" err="1"/>
              <a:t>Duclos</a:t>
            </a:r>
            <a:r>
              <a:rPr lang="es-ES" dirty="0"/>
              <a:t> (2010); </a:t>
            </a:r>
            <a:r>
              <a:rPr lang="es-ES" dirty="0" err="1"/>
              <a:t>Graedel</a:t>
            </a:r>
            <a:r>
              <a:rPr lang="es-ES" dirty="0"/>
              <a:t> (2015); NSTC (2016))</a:t>
            </a:r>
          </a:p>
          <a:p>
            <a:pPr lvl="1"/>
            <a:r>
              <a:rPr lang="en-US" dirty="0"/>
              <a:t>IRTC encourages to adapt indicator selection/aggregation to the specific scope and run sensitivities</a:t>
            </a:r>
          </a:p>
          <a:p>
            <a:r>
              <a:rPr lang="en-US" b="1" dirty="0"/>
              <a:t>Data uncertainty </a:t>
            </a:r>
            <a:r>
              <a:rPr lang="en-US" dirty="0"/>
              <a:t>(</a:t>
            </a:r>
            <a:r>
              <a:rPr lang="en-US" dirty="0" err="1"/>
              <a:t>Nuss</a:t>
            </a:r>
            <a:r>
              <a:rPr lang="en-US" dirty="0"/>
              <a:t> et al. (2014))</a:t>
            </a:r>
          </a:p>
          <a:p>
            <a:endParaRPr lang="en-US" dirty="0"/>
          </a:p>
          <a:p>
            <a:endParaRPr lang="en-US" dirty="0"/>
          </a:p>
        </p:txBody>
      </p:sp>
      <p:sp>
        <p:nvSpPr>
          <p:cNvPr id="3" name="Title 2">
            <a:extLst>
              <a:ext uri="{FF2B5EF4-FFF2-40B4-BE49-F238E27FC236}">
                <a16:creationId xmlns:a16="http://schemas.microsoft.com/office/drawing/2014/main" id="{BE6B9D26-C4CC-E366-AEBC-2A8C6ABE132E}"/>
              </a:ext>
            </a:extLst>
          </p:cNvPr>
          <p:cNvSpPr>
            <a:spLocks noGrp="1"/>
          </p:cNvSpPr>
          <p:nvPr>
            <p:ph type="title"/>
          </p:nvPr>
        </p:nvSpPr>
        <p:spPr/>
        <p:txBody>
          <a:bodyPr/>
          <a:lstStyle/>
          <a:p>
            <a:r>
              <a:rPr lang="en-US" dirty="0"/>
              <a:t>Global and EU_CRM framework – Criticality </a:t>
            </a:r>
          </a:p>
        </p:txBody>
      </p:sp>
      <p:pic>
        <p:nvPicPr>
          <p:cNvPr id="4" name="Picture 3">
            <a:extLst>
              <a:ext uri="{FF2B5EF4-FFF2-40B4-BE49-F238E27FC236}">
                <a16:creationId xmlns:a16="http://schemas.microsoft.com/office/drawing/2014/main" id="{BF6328AE-0455-D477-CEE9-DFC3655B6BC9}"/>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1999986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8AD0AF8-A0A7-0CC3-2FE2-84D113B5B972}"/>
              </a:ext>
            </a:extLst>
          </p:cNvPr>
          <p:cNvPicPr>
            <a:picLocks noGrp="1" noChangeAspect="1"/>
          </p:cNvPicPr>
          <p:nvPr>
            <p:ph idx="13"/>
          </p:nvPr>
        </p:nvPicPr>
        <p:blipFill>
          <a:blip r:embed="rId2"/>
          <a:stretch>
            <a:fillRect/>
          </a:stretch>
        </p:blipFill>
        <p:spPr>
          <a:xfrm>
            <a:off x="1055957" y="1214150"/>
            <a:ext cx="10080085" cy="5064125"/>
          </a:xfrm>
        </p:spPr>
      </p:pic>
      <p:sp>
        <p:nvSpPr>
          <p:cNvPr id="3" name="Title 2">
            <a:extLst>
              <a:ext uri="{FF2B5EF4-FFF2-40B4-BE49-F238E27FC236}">
                <a16:creationId xmlns:a16="http://schemas.microsoft.com/office/drawing/2014/main" id="{85652058-34ED-1BF3-4E72-B514ED184477}"/>
              </a:ext>
            </a:extLst>
          </p:cNvPr>
          <p:cNvSpPr>
            <a:spLocks noGrp="1"/>
          </p:cNvSpPr>
          <p:nvPr>
            <p:ph type="title"/>
          </p:nvPr>
        </p:nvSpPr>
        <p:spPr/>
        <p:txBody>
          <a:bodyPr/>
          <a:lstStyle/>
          <a:p>
            <a:r>
              <a:rPr lang="en-US" dirty="0"/>
              <a:t>Global and EU_CRM framework – Criticality: CRMA (in force since 2024) </a:t>
            </a:r>
          </a:p>
        </p:txBody>
      </p:sp>
      <p:pic>
        <p:nvPicPr>
          <p:cNvPr id="6" name="Picture 5">
            <a:extLst>
              <a:ext uri="{FF2B5EF4-FFF2-40B4-BE49-F238E27FC236}">
                <a16:creationId xmlns:a16="http://schemas.microsoft.com/office/drawing/2014/main" id="{7B464640-D2AD-3A3C-C1D0-E7A0B12F9591}"/>
              </a:ext>
            </a:extLst>
          </p:cNvPr>
          <p:cNvPicPr>
            <a:picLocks noChangeAspect="1"/>
          </p:cNvPicPr>
          <p:nvPr/>
        </p:nvPicPr>
        <p:blipFill>
          <a:blip r:embed="rId3"/>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1215673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25E23D-4EF8-15CE-FE3A-09D97627C068}"/>
              </a:ext>
            </a:extLst>
          </p:cNvPr>
          <p:cNvSpPr>
            <a:spLocks noGrp="1"/>
          </p:cNvSpPr>
          <p:nvPr>
            <p:ph idx="13"/>
          </p:nvPr>
        </p:nvSpPr>
        <p:spPr/>
        <p:txBody>
          <a:bodyPr/>
          <a:lstStyle/>
          <a:p>
            <a:pPr marL="0" indent="0">
              <a:buNone/>
            </a:pPr>
            <a:r>
              <a:rPr lang="en-US" sz="2400" dirty="0">
                <a:solidFill>
                  <a:schemeClr val="accent1"/>
                </a:solidFill>
              </a:rPr>
              <a:t>Criticality assessment: IRTC and EU framework, EU CRM (2023)</a:t>
            </a:r>
            <a:endParaRPr lang="en-US" sz="2400" dirty="0"/>
          </a:p>
          <a:p>
            <a:pPr marL="0" indent="0">
              <a:buNone/>
            </a:pPr>
            <a:endParaRPr lang="en-US" dirty="0"/>
          </a:p>
        </p:txBody>
      </p:sp>
      <p:sp>
        <p:nvSpPr>
          <p:cNvPr id="3" name="Title 2">
            <a:extLst>
              <a:ext uri="{FF2B5EF4-FFF2-40B4-BE49-F238E27FC236}">
                <a16:creationId xmlns:a16="http://schemas.microsoft.com/office/drawing/2014/main" id="{D7CA6DF5-FF17-D17D-E619-EEDB58D5C21E}"/>
              </a:ext>
            </a:extLst>
          </p:cNvPr>
          <p:cNvSpPr>
            <a:spLocks noGrp="1"/>
          </p:cNvSpPr>
          <p:nvPr>
            <p:ph type="title"/>
          </p:nvPr>
        </p:nvSpPr>
        <p:spPr/>
        <p:txBody>
          <a:bodyPr/>
          <a:lstStyle/>
          <a:p>
            <a:r>
              <a:rPr lang="en-US" dirty="0"/>
              <a:t>Global and EU_CRM framework – Criticality: EU_SR</a:t>
            </a:r>
          </a:p>
        </p:txBody>
      </p:sp>
      <p:pic>
        <p:nvPicPr>
          <p:cNvPr id="4" name="Picture 3">
            <a:extLst>
              <a:ext uri="{FF2B5EF4-FFF2-40B4-BE49-F238E27FC236}">
                <a16:creationId xmlns:a16="http://schemas.microsoft.com/office/drawing/2014/main" id="{E82397D9-E8DD-35F5-8472-94BE9917F8E8}"/>
              </a:ext>
            </a:extLst>
          </p:cNvPr>
          <p:cNvPicPr>
            <a:picLocks noChangeAspect="1"/>
          </p:cNvPicPr>
          <p:nvPr/>
        </p:nvPicPr>
        <p:blipFill>
          <a:blip r:embed="rId2"/>
          <a:stretch>
            <a:fillRect/>
          </a:stretch>
        </p:blipFill>
        <p:spPr>
          <a:xfrm>
            <a:off x="2500015" y="1717838"/>
            <a:ext cx="6889145" cy="738124"/>
          </a:xfrm>
          <a:prstGeom prst="rect">
            <a:avLst/>
          </a:prstGeom>
          <a:ln w="28575">
            <a:solidFill>
              <a:srgbClr val="FF0000"/>
            </a:solidFill>
          </a:ln>
        </p:spPr>
      </p:pic>
      <p:grpSp>
        <p:nvGrpSpPr>
          <p:cNvPr id="5" name="Group 4">
            <a:extLst>
              <a:ext uri="{FF2B5EF4-FFF2-40B4-BE49-F238E27FC236}">
                <a16:creationId xmlns:a16="http://schemas.microsoft.com/office/drawing/2014/main" id="{6DD10137-0705-8FFE-FE3E-29501B6358DE}"/>
              </a:ext>
            </a:extLst>
          </p:cNvPr>
          <p:cNvGrpSpPr/>
          <p:nvPr/>
        </p:nvGrpSpPr>
        <p:grpSpPr>
          <a:xfrm>
            <a:off x="826960" y="2600370"/>
            <a:ext cx="10235254" cy="981966"/>
            <a:chOff x="1080133" y="2328816"/>
            <a:chExt cx="10235254" cy="981966"/>
          </a:xfrm>
        </p:grpSpPr>
        <p:pic>
          <p:nvPicPr>
            <p:cNvPr id="6" name="Picture 5">
              <a:extLst>
                <a:ext uri="{FF2B5EF4-FFF2-40B4-BE49-F238E27FC236}">
                  <a16:creationId xmlns:a16="http://schemas.microsoft.com/office/drawing/2014/main" id="{5E11D089-B173-9E32-B34A-5B591978BB78}"/>
                </a:ext>
              </a:extLst>
            </p:cNvPr>
            <p:cNvPicPr>
              <a:picLocks noChangeAspect="1"/>
            </p:cNvPicPr>
            <p:nvPr/>
          </p:nvPicPr>
          <p:blipFill>
            <a:blip r:embed="rId3"/>
            <a:srcRect b="49666"/>
            <a:stretch/>
          </p:blipFill>
          <p:spPr>
            <a:xfrm>
              <a:off x="1080133" y="2328816"/>
              <a:ext cx="5433531" cy="981966"/>
            </a:xfrm>
            <a:prstGeom prst="rect">
              <a:avLst/>
            </a:prstGeom>
          </p:spPr>
        </p:pic>
        <p:pic>
          <p:nvPicPr>
            <p:cNvPr id="7" name="Picture 6">
              <a:extLst>
                <a:ext uri="{FF2B5EF4-FFF2-40B4-BE49-F238E27FC236}">
                  <a16:creationId xmlns:a16="http://schemas.microsoft.com/office/drawing/2014/main" id="{9B0FBA4C-B4CA-384C-7A3D-9A11FEEA9B69}"/>
                </a:ext>
              </a:extLst>
            </p:cNvPr>
            <p:cNvPicPr>
              <a:picLocks noChangeAspect="1"/>
            </p:cNvPicPr>
            <p:nvPr/>
          </p:nvPicPr>
          <p:blipFill>
            <a:blip r:embed="rId4"/>
            <a:stretch>
              <a:fillRect/>
            </a:stretch>
          </p:blipFill>
          <p:spPr>
            <a:xfrm>
              <a:off x="6513664" y="2328816"/>
              <a:ext cx="4801723" cy="981966"/>
            </a:xfrm>
            <a:prstGeom prst="rect">
              <a:avLst/>
            </a:prstGeom>
          </p:spPr>
        </p:pic>
      </p:grpSp>
      <p:sp>
        <p:nvSpPr>
          <p:cNvPr id="8" name="Content Placeholder 1">
            <a:extLst>
              <a:ext uri="{FF2B5EF4-FFF2-40B4-BE49-F238E27FC236}">
                <a16:creationId xmlns:a16="http://schemas.microsoft.com/office/drawing/2014/main" id="{60227589-927E-FCF1-17EE-19B3DCDAC126}"/>
              </a:ext>
            </a:extLst>
          </p:cNvPr>
          <p:cNvSpPr txBox="1">
            <a:spLocks/>
          </p:cNvSpPr>
          <p:nvPr/>
        </p:nvSpPr>
        <p:spPr>
          <a:xfrm>
            <a:off x="806247" y="3782161"/>
            <a:ext cx="10406698" cy="2498565"/>
          </a:xfrm>
          <a:prstGeom prst="rect">
            <a:avLst/>
          </a:prstGeom>
          <a:ln w="28575"/>
        </p:spPr>
        <p:style>
          <a:lnRef idx="2">
            <a:schemeClr val="accent1"/>
          </a:lnRef>
          <a:fillRef idx="1">
            <a:schemeClr val="lt1"/>
          </a:fillRef>
          <a:effectRef idx="0">
            <a:schemeClr val="accent1"/>
          </a:effectRef>
          <a:fontRef idx="minor">
            <a:schemeClr val="dk1"/>
          </a:fontRef>
        </p:style>
        <p:txBody>
          <a:bodyPr vert="horz" lIns="91440" tIns="45720" rIns="91440" bIns="45720" numCol="2" rtlCol="0">
            <a:normAutofit/>
          </a:bodyPr>
          <a:lst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lang="en-US" sz="2400"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lang="en-US" sz="20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lang="en-US" sz="16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lang="en-US" sz="14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lang="en-US" sz="1400" kern="1200" noProof="0" dirty="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it-IT" sz="2000" b="1" dirty="0"/>
              <a:t>Key drivers</a:t>
            </a:r>
            <a:r>
              <a:rPr lang="it-IT" sz="2800" dirty="0"/>
              <a:t>:</a:t>
            </a:r>
          </a:p>
          <a:p>
            <a:pPr lvl="1"/>
            <a:r>
              <a:rPr lang="it-IT" dirty="0" err="1"/>
              <a:t>Geographical</a:t>
            </a:r>
            <a:r>
              <a:rPr lang="it-IT" dirty="0"/>
              <a:t> </a:t>
            </a:r>
            <a:r>
              <a:rPr lang="it-IT" dirty="0" err="1"/>
              <a:t>concentration</a:t>
            </a:r>
            <a:endParaRPr lang="it-IT" dirty="0"/>
          </a:p>
          <a:p>
            <a:pPr lvl="1"/>
            <a:r>
              <a:rPr lang="it-IT" dirty="0"/>
              <a:t>Import </a:t>
            </a:r>
            <a:r>
              <a:rPr lang="it-IT" dirty="0" err="1"/>
              <a:t>reliance</a:t>
            </a:r>
            <a:endParaRPr lang="it-IT" dirty="0"/>
          </a:p>
          <a:p>
            <a:pPr lvl="1"/>
            <a:r>
              <a:rPr lang="it-IT" dirty="0"/>
              <a:t>Countries governances</a:t>
            </a:r>
          </a:p>
          <a:p>
            <a:pPr lvl="1"/>
            <a:r>
              <a:rPr lang="it-IT" dirty="0" err="1"/>
              <a:t>Recycling</a:t>
            </a:r>
            <a:r>
              <a:rPr lang="it-IT" dirty="0"/>
              <a:t> rates</a:t>
            </a:r>
          </a:p>
          <a:p>
            <a:pPr lvl="1"/>
            <a:r>
              <a:rPr lang="it-IT" dirty="0" err="1"/>
              <a:t>Substitutability</a:t>
            </a:r>
            <a:endParaRPr lang="it-IT" dirty="0"/>
          </a:p>
          <a:p>
            <a:pPr lvl="1"/>
            <a:r>
              <a:rPr lang="it-IT" dirty="0"/>
              <a:t>Trade </a:t>
            </a:r>
            <a:r>
              <a:rPr lang="it-IT" dirty="0" err="1"/>
              <a:t>disputes</a:t>
            </a:r>
            <a:r>
              <a:rPr lang="it-IT" dirty="0"/>
              <a:t> (</a:t>
            </a:r>
            <a:r>
              <a:rPr lang="it-IT" dirty="0" err="1"/>
              <a:t>tariffs</a:t>
            </a:r>
            <a:r>
              <a:rPr lang="it-IT" dirty="0"/>
              <a:t>, export </a:t>
            </a:r>
          </a:p>
          <a:p>
            <a:pPr lvl="1"/>
            <a:endParaRPr lang="it-IT" dirty="0"/>
          </a:p>
          <a:p>
            <a:pPr marL="342000" lvl="1" indent="0">
              <a:buNone/>
            </a:pPr>
            <a:r>
              <a:rPr lang="it-IT" dirty="0" err="1"/>
              <a:t>restrictions</a:t>
            </a:r>
            <a:r>
              <a:rPr lang="it-IT" dirty="0"/>
              <a:t>, </a:t>
            </a:r>
            <a:r>
              <a:rPr lang="it-IT" dirty="0" err="1"/>
              <a:t>quotas</a:t>
            </a:r>
            <a:r>
              <a:rPr lang="it-IT" dirty="0"/>
              <a:t>, licensing controls</a:t>
            </a:r>
          </a:p>
          <a:p>
            <a:pPr lvl="1"/>
            <a:r>
              <a:rPr lang="it-IT" dirty="0" err="1"/>
              <a:t>Stockpiling</a:t>
            </a:r>
            <a:endParaRPr lang="it-IT" dirty="0"/>
          </a:p>
          <a:p>
            <a:pPr lvl="1"/>
            <a:r>
              <a:rPr lang="it-IT" dirty="0" err="1"/>
              <a:t>Nationalization</a:t>
            </a:r>
            <a:r>
              <a:rPr lang="it-IT" dirty="0"/>
              <a:t> of </a:t>
            </a:r>
            <a:r>
              <a:rPr lang="it-IT" dirty="0" err="1"/>
              <a:t>refining</a:t>
            </a:r>
            <a:r>
              <a:rPr lang="it-IT" dirty="0"/>
              <a:t> facilities</a:t>
            </a:r>
          </a:p>
          <a:p>
            <a:pPr lvl="1"/>
            <a:r>
              <a:rPr lang="it-IT" dirty="0"/>
              <a:t>Market </a:t>
            </a:r>
            <a:r>
              <a:rPr lang="it-IT" dirty="0" err="1"/>
              <a:t>flooding</a:t>
            </a:r>
            <a:r>
              <a:rPr lang="it-IT" dirty="0"/>
              <a:t> </a:t>
            </a:r>
          </a:p>
          <a:p>
            <a:pPr lvl="1"/>
            <a:endParaRPr lang="it-IT" dirty="0"/>
          </a:p>
          <a:p>
            <a:pPr lvl="1"/>
            <a:endParaRPr lang="it-IT" dirty="0"/>
          </a:p>
        </p:txBody>
      </p:sp>
      <p:pic>
        <p:nvPicPr>
          <p:cNvPr id="9" name="Picture 8">
            <a:extLst>
              <a:ext uri="{FF2B5EF4-FFF2-40B4-BE49-F238E27FC236}">
                <a16:creationId xmlns:a16="http://schemas.microsoft.com/office/drawing/2014/main" id="{6DFB019B-3325-EDFB-12FA-AD8727DD84B2}"/>
              </a:ext>
            </a:extLst>
          </p:cNvPr>
          <p:cNvPicPr>
            <a:picLocks noChangeAspect="1"/>
          </p:cNvPicPr>
          <p:nvPr/>
        </p:nvPicPr>
        <p:blipFill>
          <a:blip r:embed="rId5"/>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1564345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A60051-C435-4D6D-82DA-0B82FE3D53D8}"/>
              </a:ext>
            </a:extLst>
          </p:cNvPr>
          <p:cNvSpPr>
            <a:spLocks noGrp="1"/>
          </p:cNvSpPr>
          <p:nvPr>
            <p:ph idx="13"/>
          </p:nvPr>
        </p:nvSpPr>
        <p:spPr/>
        <p:txBody>
          <a:bodyPr/>
          <a:lstStyle/>
          <a:p>
            <a:r>
              <a:rPr lang="en-US" sz="2400" dirty="0">
                <a:solidFill>
                  <a:schemeClr val="accent1"/>
                </a:solidFill>
              </a:rPr>
              <a:t>Criticality assessment: IRTC and EU framework, EU CRM (2023)</a:t>
            </a:r>
            <a:endParaRPr lang="en-US" sz="2400" dirty="0"/>
          </a:p>
          <a:p>
            <a:endParaRPr lang="en-US" dirty="0"/>
          </a:p>
        </p:txBody>
      </p:sp>
      <p:sp>
        <p:nvSpPr>
          <p:cNvPr id="3" name="Title 2">
            <a:extLst>
              <a:ext uri="{FF2B5EF4-FFF2-40B4-BE49-F238E27FC236}">
                <a16:creationId xmlns:a16="http://schemas.microsoft.com/office/drawing/2014/main" id="{F79CE1B8-4745-8034-6FB2-0D681F441220}"/>
              </a:ext>
            </a:extLst>
          </p:cNvPr>
          <p:cNvSpPr>
            <a:spLocks noGrp="1"/>
          </p:cNvSpPr>
          <p:nvPr>
            <p:ph type="title"/>
          </p:nvPr>
        </p:nvSpPr>
        <p:spPr/>
        <p:txBody>
          <a:bodyPr/>
          <a:lstStyle/>
          <a:p>
            <a:r>
              <a:rPr lang="en-US" dirty="0"/>
              <a:t>Global and EU_CRM framework – Criticality: EU_SR</a:t>
            </a:r>
          </a:p>
        </p:txBody>
      </p:sp>
      <p:pic>
        <p:nvPicPr>
          <p:cNvPr id="4" name="Picture 3">
            <a:extLst>
              <a:ext uri="{FF2B5EF4-FFF2-40B4-BE49-F238E27FC236}">
                <a16:creationId xmlns:a16="http://schemas.microsoft.com/office/drawing/2014/main" id="{79340ACB-20AD-21CE-A697-7717B1FB4D4E}"/>
              </a:ext>
            </a:extLst>
          </p:cNvPr>
          <p:cNvPicPr>
            <a:picLocks noChangeAspect="1"/>
          </p:cNvPicPr>
          <p:nvPr/>
        </p:nvPicPr>
        <p:blipFill>
          <a:blip r:embed="rId2"/>
          <a:stretch>
            <a:fillRect/>
          </a:stretch>
        </p:blipFill>
        <p:spPr>
          <a:xfrm>
            <a:off x="546445" y="3963769"/>
            <a:ext cx="4475715" cy="539538"/>
          </a:xfrm>
          <a:prstGeom prst="rect">
            <a:avLst/>
          </a:prstGeom>
          <a:ln w="28575">
            <a:solidFill>
              <a:schemeClr val="accent6"/>
            </a:solidFill>
          </a:ln>
        </p:spPr>
      </p:pic>
      <p:pic>
        <p:nvPicPr>
          <p:cNvPr id="5" name="Picture 4">
            <a:extLst>
              <a:ext uri="{FF2B5EF4-FFF2-40B4-BE49-F238E27FC236}">
                <a16:creationId xmlns:a16="http://schemas.microsoft.com/office/drawing/2014/main" id="{E1B6FFD2-3EC8-EACB-1847-4F6734C7E2DE}"/>
              </a:ext>
            </a:extLst>
          </p:cNvPr>
          <p:cNvPicPr>
            <a:picLocks noChangeAspect="1"/>
          </p:cNvPicPr>
          <p:nvPr/>
        </p:nvPicPr>
        <p:blipFill>
          <a:blip r:embed="rId3"/>
          <a:stretch>
            <a:fillRect/>
          </a:stretch>
        </p:blipFill>
        <p:spPr>
          <a:xfrm>
            <a:off x="137170" y="4624875"/>
            <a:ext cx="6171064" cy="981965"/>
          </a:xfrm>
          <a:prstGeom prst="rect">
            <a:avLst/>
          </a:prstGeom>
        </p:spPr>
      </p:pic>
      <p:pic>
        <p:nvPicPr>
          <p:cNvPr id="6" name="Picture 5">
            <a:extLst>
              <a:ext uri="{FF2B5EF4-FFF2-40B4-BE49-F238E27FC236}">
                <a16:creationId xmlns:a16="http://schemas.microsoft.com/office/drawing/2014/main" id="{61C0FB6C-BBB4-B098-F6FA-C07B00BA24B2}"/>
              </a:ext>
            </a:extLst>
          </p:cNvPr>
          <p:cNvPicPr>
            <a:picLocks noChangeAspect="1"/>
          </p:cNvPicPr>
          <p:nvPr/>
        </p:nvPicPr>
        <p:blipFill>
          <a:blip r:embed="rId4"/>
          <a:stretch>
            <a:fillRect/>
          </a:stretch>
        </p:blipFill>
        <p:spPr>
          <a:xfrm>
            <a:off x="454007" y="2148561"/>
            <a:ext cx="5054201" cy="539538"/>
          </a:xfrm>
          <a:prstGeom prst="rect">
            <a:avLst/>
          </a:prstGeom>
          <a:ln w="28575">
            <a:solidFill>
              <a:schemeClr val="accent6"/>
            </a:solidFill>
          </a:ln>
        </p:spPr>
      </p:pic>
      <p:pic>
        <p:nvPicPr>
          <p:cNvPr id="7" name="Picture 6">
            <a:extLst>
              <a:ext uri="{FF2B5EF4-FFF2-40B4-BE49-F238E27FC236}">
                <a16:creationId xmlns:a16="http://schemas.microsoft.com/office/drawing/2014/main" id="{B8EA8699-9D1A-9F10-AE80-608FB067CE19}"/>
              </a:ext>
            </a:extLst>
          </p:cNvPr>
          <p:cNvPicPr>
            <a:picLocks noChangeAspect="1"/>
          </p:cNvPicPr>
          <p:nvPr/>
        </p:nvPicPr>
        <p:blipFill>
          <a:blip r:embed="rId5"/>
          <a:stretch>
            <a:fillRect/>
          </a:stretch>
        </p:blipFill>
        <p:spPr>
          <a:xfrm>
            <a:off x="5708048" y="1672717"/>
            <a:ext cx="6201352" cy="2153713"/>
          </a:xfrm>
          <a:prstGeom prst="rect">
            <a:avLst/>
          </a:prstGeom>
        </p:spPr>
      </p:pic>
      <p:pic>
        <p:nvPicPr>
          <p:cNvPr id="8" name="Picture 7">
            <a:extLst>
              <a:ext uri="{FF2B5EF4-FFF2-40B4-BE49-F238E27FC236}">
                <a16:creationId xmlns:a16="http://schemas.microsoft.com/office/drawing/2014/main" id="{A8259BC6-1D32-D3F8-9F66-49C404BD861C}"/>
              </a:ext>
            </a:extLst>
          </p:cNvPr>
          <p:cNvPicPr>
            <a:picLocks noChangeAspect="1"/>
          </p:cNvPicPr>
          <p:nvPr/>
        </p:nvPicPr>
        <p:blipFill>
          <a:blip r:embed="rId6"/>
          <a:stretch>
            <a:fillRect/>
          </a:stretch>
        </p:blipFill>
        <p:spPr>
          <a:xfrm>
            <a:off x="6420265" y="3930647"/>
            <a:ext cx="3421503" cy="411954"/>
          </a:xfrm>
          <a:prstGeom prst="rect">
            <a:avLst/>
          </a:prstGeom>
          <a:ln w="28575">
            <a:solidFill>
              <a:schemeClr val="accent6"/>
            </a:solidFill>
          </a:ln>
        </p:spPr>
      </p:pic>
      <p:pic>
        <p:nvPicPr>
          <p:cNvPr id="9" name="Picture 8">
            <a:extLst>
              <a:ext uri="{FF2B5EF4-FFF2-40B4-BE49-F238E27FC236}">
                <a16:creationId xmlns:a16="http://schemas.microsoft.com/office/drawing/2014/main" id="{D53AA6CC-3298-7EF2-7AF7-D1ADDA36430C}"/>
              </a:ext>
            </a:extLst>
          </p:cNvPr>
          <p:cNvPicPr>
            <a:picLocks noChangeAspect="1"/>
          </p:cNvPicPr>
          <p:nvPr/>
        </p:nvPicPr>
        <p:blipFill>
          <a:blip r:embed="rId7"/>
          <a:stretch>
            <a:fillRect/>
          </a:stretch>
        </p:blipFill>
        <p:spPr>
          <a:xfrm>
            <a:off x="6048221" y="4649187"/>
            <a:ext cx="6099032" cy="1437510"/>
          </a:xfrm>
          <a:prstGeom prst="rect">
            <a:avLst/>
          </a:prstGeom>
        </p:spPr>
      </p:pic>
      <p:pic>
        <p:nvPicPr>
          <p:cNvPr id="10" name="Picture 9">
            <a:extLst>
              <a:ext uri="{FF2B5EF4-FFF2-40B4-BE49-F238E27FC236}">
                <a16:creationId xmlns:a16="http://schemas.microsoft.com/office/drawing/2014/main" id="{F9E7DE85-7FC0-C9B5-C04B-4855C5EBB440}"/>
              </a:ext>
            </a:extLst>
          </p:cNvPr>
          <p:cNvPicPr>
            <a:picLocks noChangeAspect="1"/>
          </p:cNvPicPr>
          <p:nvPr/>
        </p:nvPicPr>
        <p:blipFill>
          <a:blip r:embed="rId8"/>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3133741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68440C-5E53-8857-4BEE-51D29B86FCEE}"/>
              </a:ext>
            </a:extLst>
          </p:cNvPr>
          <p:cNvSpPr>
            <a:spLocks noGrp="1"/>
          </p:cNvSpPr>
          <p:nvPr>
            <p:ph type="title"/>
          </p:nvPr>
        </p:nvSpPr>
        <p:spPr/>
        <p:txBody>
          <a:bodyPr/>
          <a:lstStyle/>
          <a:p>
            <a:r>
              <a:rPr lang="en-US" dirty="0"/>
              <a:t>Global and EU_CRM framework – Criticality: EU_SR</a:t>
            </a:r>
          </a:p>
        </p:txBody>
      </p:sp>
      <p:pic>
        <p:nvPicPr>
          <p:cNvPr id="1026" name="Picture 2">
            <a:extLst>
              <a:ext uri="{FF2B5EF4-FFF2-40B4-BE49-F238E27FC236}">
                <a16:creationId xmlns:a16="http://schemas.microsoft.com/office/drawing/2014/main" id="{33C2BF93-BE57-4E09-8F9C-8E8150C98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6182" y="1022017"/>
            <a:ext cx="6810860" cy="526794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7E6F3B4-4FEF-4285-4634-748C67B0953D}"/>
              </a:ext>
            </a:extLst>
          </p:cNvPr>
          <p:cNvPicPr>
            <a:picLocks noChangeAspect="1"/>
          </p:cNvPicPr>
          <p:nvPr/>
        </p:nvPicPr>
        <p:blipFill>
          <a:blip r:embed="rId3"/>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3254226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06CF0D-C9CD-0F92-C185-95431939F8DE}"/>
              </a:ext>
            </a:extLst>
          </p:cNvPr>
          <p:cNvSpPr>
            <a:spLocks noGrp="1"/>
          </p:cNvSpPr>
          <p:nvPr>
            <p:ph idx="13"/>
          </p:nvPr>
        </p:nvSpPr>
        <p:spPr/>
        <p:txBody>
          <a:bodyPr/>
          <a:lstStyle/>
          <a:p>
            <a:r>
              <a:rPr lang="en-US" dirty="0"/>
              <a:t>EU_SR and other key parameters (HHI, IR, WGI, SI, EOL</a:t>
            </a:r>
            <a:r>
              <a:rPr lang="en-US" sz="1400" dirty="0"/>
              <a:t>RIR</a:t>
            </a:r>
            <a:r>
              <a:rPr lang="en-US" dirty="0"/>
              <a:t>) are a constitutive database for this analysis, because they allow to bring the assessment into a EU risk framework, going deeper market volatility and extreme volatility phenomena</a:t>
            </a:r>
          </a:p>
          <a:p>
            <a:r>
              <a:rPr lang="en-US" dirty="0"/>
              <a:t>A note to remember is the one brought by IRTC: </a:t>
            </a:r>
            <a:r>
              <a:rPr lang="en-US" dirty="0">
                <a:solidFill>
                  <a:schemeClr val="accent1"/>
                </a:solidFill>
              </a:rPr>
              <a:t>adapt indicator selection/aggregation to the specific scope and run sensitivities</a:t>
            </a:r>
          </a:p>
          <a:p>
            <a:endParaRPr lang="en-US" dirty="0">
              <a:solidFill>
                <a:schemeClr val="accent1"/>
              </a:solidFill>
            </a:endParaRPr>
          </a:p>
        </p:txBody>
      </p:sp>
      <p:sp>
        <p:nvSpPr>
          <p:cNvPr id="3" name="Title 2">
            <a:extLst>
              <a:ext uri="{FF2B5EF4-FFF2-40B4-BE49-F238E27FC236}">
                <a16:creationId xmlns:a16="http://schemas.microsoft.com/office/drawing/2014/main" id="{D0597E79-5596-29C2-20D1-F7AEF6F60F47}"/>
              </a:ext>
            </a:extLst>
          </p:cNvPr>
          <p:cNvSpPr>
            <a:spLocks noGrp="1"/>
          </p:cNvSpPr>
          <p:nvPr>
            <p:ph type="title"/>
          </p:nvPr>
        </p:nvSpPr>
        <p:spPr/>
        <p:txBody>
          <a:bodyPr/>
          <a:lstStyle/>
          <a:p>
            <a:r>
              <a:rPr lang="en-US" dirty="0"/>
              <a:t>Global and EU_CRM framework – Criticality: EU_SR</a:t>
            </a:r>
          </a:p>
        </p:txBody>
      </p:sp>
      <p:pic>
        <p:nvPicPr>
          <p:cNvPr id="4" name="Picture 3">
            <a:extLst>
              <a:ext uri="{FF2B5EF4-FFF2-40B4-BE49-F238E27FC236}">
                <a16:creationId xmlns:a16="http://schemas.microsoft.com/office/drawing/2014/main" id="{E4EA8634-29D3-7AF0-B067-178CDBBF6A57}"/>
              </a:ext>
            </a:extLst>
          </p:cNvPr>
          <p:cNvPicPr>
            <a:picLocks noChangeAspect="1"/>
          </p:cNvPicPr>
          <p:nvPr/>
        </p:nvPicPr>
        <p:blipFill>
          <a:blip r:embed="rId2"/>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791319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DF563D-ABF5-E1B8-54C7-204640599902}"/>
              </a:ext>
            </a:extLst>
          </p:cNvPr>
          <p:cNvSpPr>
            <a:spLocks noGrp="1"/>
          </p:cNvSpPr>
          <p:nvPr>
            <p:ph type="title"/>
          </p:nvPr>
        </p:nvSpPr>
        <p:spPr/>
        <p:txBody>
          <a:bodyPr>
            <a:normAutofit/>
          </a:bodyPr>
          <a:lstStyle/>
          <a:p>
            <a:r>
              <a:rPr lang="en-US" dirty="0"/>
              <a:t>CRMs market analysis </a:t>
            </a:r>
            <a:r>
              <a:rPr lang="en-US" dirty="0">
                <a:sym typeface="Wingdings" panose="05000000000000000000" pitchFamily="2" charset="2"/>
              </a:rPr>
              <a:t> Price disruption scenarios</a:t>
            </a:r>
            <a:endParaRPr lang="en-US" dirty="0"/>
          </a:p>
        </p:txBody>
      </p:sp>
      <p:grpSp>
        <p:nvGrpSpPr>
          <p:cNvPr id="53" name="Group 52">
            <a:extLst>
              <a:ext uri="{FF2B5EF4-FFF2-40B4-BE49-F238E27FC236}">
                <a16:creationId xmlns:a16="http://schemas.microsoft.com/office/drawing/2014/main" id="{7DEACBDD-B4E7-2B83-11D3-C92092A53A62}"/>
              </a:ext>
            </a:extLst>
          </p:cNvPr>
          <p:cNvGrpSpPr/>
          <p:nvPr/>
        </p:nvGrpSpPr>
        <p:grpSpPr>
          <a:xfrm>
            <a:off x="1460877" y="1944066"/>
            <a:ext cx="9270245" cy="3435760"/>
            <a:chOff x="1112497" y="2230394"/>
            <a:chExt cx="9270245" cy="3435760"/>
          </a:xfrm>
        </p:grpSpPr>
        <p:grpSp>
          <p:nvGrpSpPr>
            <p:cNvPr id="4" name="Group 3">
              <a:extLst>
                <a:ext uri="{FF2B5EF4-FFF2-40B4-BE49-F238E27FC236}">
                  <a16:creationId xmlns:a16="http://schemas.microsoft.com/office/drawing/2014/main" id="{1029D399-A439-1BAC-AE8D-A4C5458EA4E2}"/>
                </a:ext>
              </a:extLst>
            </p:cNvPr>
            <p:cNvGrpSpPr/>
            <p:nvPr/>
          </p:nvGrpSpPr>
          <p:grpSpPr>
            <a:xfrm>
              <a:off x="4306929" y="2371198"/>
              <a:ext cx="3578142" cy="1057802"/>
              <a:chOff x="5954970" y="1939866"/>
              <a:chExt cx="3578142" cy="1057802"/>
            </a:xfrm>
          </p:grpSpPr>
          <p:sp>
            <p:nvSpPr>
              <p:cNvPr id="5" name="Arrow: Right 4">
                <a:extLst>
                  <a:ext uri="{FF2B5EF4-FFF2-40B4-BE49-F238E27FC236}">
                    <a16:creationId xmlns:a16="http://schemas.microsoft.com/office/drawing/2014/main" id="{D6C392A4-3A4C-50CC-D23B-CEE564C0A7DB}"/>
                  </a:ext>
                </a:extLst>
              </p:cNvPr>
              <p:cNvSpPr/>
              <p:nvPr/>
            </p:nvSpPr>
            <p:spPr>
              <a:xfrm>
                <a:off x="8048384" y="2385731"/>
                <a:ext cx="1484728" cy="164061"/>
              </a:xfrm>
              <a:prstGeom prst="rightArrow">
                <a:avLst/>
              </a:prstGeom>
              <a:solidFill>
                <a:srgbClr val="C00000"/>
              </a:solid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2A368A4C-616F-F88F-9F77-95C50E4DE928}"/>
                  </a:ext>
                </a:extLst>
              </p:cNvPr>
              <p:cNvGrpSpPr/>
              <p:nvPr/>
            </p:nvGrpSpPr>
            <p:grpSpPr>
              <a:xfrm>
                <a:off x="5954970" y="1939866"/>
                <a:ext cx="2295585" cy="1057802"/>
                <a:chOff x="5943251" y="2119247"/>
                <a:chExt cx="2295585" cy="1057802"/>
              </a:xfrm>
            </p:grpSpPr>
            <p:grpSp>
              <p:nvGrpSpPr>
                <p:cNvPr id="7" name="Group 6">
                  <a:extLst>
                    <a:ext uri="{FF2B5EF4-FFF2-40B4-BE49-F238E27FC236}">
                      <a16:creationId xmlns:a16="http://schemas.microsoft.com/office/drawing/2014/main" id="{64F972D8-04EA-01E4-AD5F-59FB499936EF}"/>
                    </a:ext>
                  </a:extLst>
                </p:cNvPr>
                <p:cNvGrpSpPr/>
                <p:nvPr/>
              </p:nvGrpSpPr>
              <p:grpSpPr>
                <a:xfrm>
                  <a:off x="5943251" y="2119247"/>
                  <a:ext cx="2295585" cy="1057802"/>
                  <a:chOff x="5943251" y="2119247"/>
                  <a:chExt cx="2295585" cy="1057802"/>
                </a:xfrm>
              </p:grpSpPr>
              <p:sp>
                <p:nvSpPr>
                  <p:cNvPr id="9" name="Rectangle: Rounded Corners 8">
                    <a:extLst>
                      <a:ext uri="{FF2B5EF4-FFF2-40B4-BE49-F238E27FC236}">
                        <a16:creationId xmlns:a16="http://schemas.microsoft.com/office/drawing/2014/main" id="{8F736AD2-A33E-CBC2-060B-799E88ECF1D1}"/>
                      </a:ext>
                    </a:extLst>
                  </p:cNvPr>
                  <p:cNvSpPr/>
                  <p:nvPr/>
                </p:nvSpPr>
                <p:spPr>
                  <a:xfrm>
                    <a:off x="5943251" y="2119247"/>
                    <a:ext cx="2277113" cy="1057802"/>
                  </a:xfrm>
                  <a:prstGeom prst="roundRect">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3BF240C-2D1F-02D7-45C2-5B1A702C3C60}"/>
                      </a:ext>
                    </a:extLst>
                  </p:cNvPr>
                  <p:cNvSpPr txBox="1"/>
                  <p:nvPr/>
                </p:nvSpPr>
                <p:spPr>
                  <a:xfrm>
                    <a:off x="6254046" y="2164754"/>
                    <a:ext cx="1782619" cy="369332"/>
                  </a:xfrm>
                  <a:prstGeom prst="rect">
                    <a:avLst/>
                  </a:prstGeom>
                  <a:noFill/>
                </p:spPr>
                <p:txBody>
                  <a:bodyPr wrap="square" rtlCol="0">
                    <a:spAutoFit/>
                  </a:bodyPr>
                  <a:lstStyle/>
                  <a:p>
                    <a:pPr algn="ctr"/>
                    <a:r>
                      <a:rPr lang="en-US" b="1" dirty="0">
                        <a:solidFill>
                          <a:srgbClr val="C00000"/>
                        </a:solidFill>
                      </a:rPr>
                      <a:t>CLUSTERING</a:t>
                    </a:r>
                  </a:p>
                </p:txBody>
              </p:sp>
              <p:pic>
                <p:nvPicPr>
                  <p:cNvPr id="11" name="Picture 10">
                    <a:extLst>
                      <a:ext uri="{FF2B5EF4-FFF2-40B4-BE49-F238E27FC236}">
                        <a16:creationId xmlns:a16="http://schemas.microsoft.com/office/drawing/2014/main" id="{73F915AD-C266-8EDC-F4DC-639249E89D87}"/>
                      </a:ext>
                    </a:extLst>
                  </p:cNvPr>
                  <p:cNvPicPr>
                    <a:picLocks noChangeAspect="1"/>
                  </p:cNvPicPr>
                  <p:nvPr/>
                </p:nvPicPr>
                <p:blipFill>
                  <a:blip r:embed="rId2"/>
                  <a:stretch>
                    <a:fillRect/>
                  </a:stretch>
                </p:blipFill>
                <p:spPr>
                  <a:xfrm>
                    <a:off x="5977746" y="2188553"/>
                    <a:ext cx="395279" cy="395279"/>
                  </a:xfrm>
                  <a:prstGeom prst="rect">
                    <a:avLst/>
                  </a:prstGeom>
                </p:spPr>
              </p:pic>
              <p:pic>
                <p:nvPicPr>
                  <p:cNvPr id="12" name="Picture 11">
                    <a:extLst>
                      <a:ext uri="{FF2B5EF4-FFF2-40B4-BE49-F238E27FC236}">
                        <a16:creationId xmlns:a16="http://schemas.microsoft.com/office/drawing/2014/main" id="{5AF94FF6-39AA-8615-480C-1447752AE595}"/>
                      </a:ext>
                    </a:extLst>
                  </p:cNvPr>
                  <p:cNvPicPr>
                    <a:picLocks noChangeAspect="1"/>
                  </p:cNvPicPr>
                  <p:nvPr/>
                </p:nvPicPr>
                <p:blipFill>
                  <a:blip r:embed="rId3"/>
                  <a:stretch>
                    <a:fillRect/>
                  </a:stretch>
                </p:blipFill>
                <p:spPr>
                  <a:xfrm>
                    <a:off x="7869259" y="2208895"/>
                    <a:ext cx="369577" cy="373844"/>
                  </a:xfrm>
                  <a:prstGeom prst="rect">
                    <a:avLst/>
                  </a:prstGeom>
                </p:spPr>
              </p:pic>
            </p:grpSp>
            <p:sp>
              <p:nvSpPr>
                <p:cNvPr id="8" name="TextBox 7">
                  <a:extLst>
                    <a:ext uri="{FF2B5EF4-FFF2-40B4-BE49-F238E27FC236}">
                      <a16:creationId xmlns:a16="http://schemas.microsoft.com/office/drawing/2014/main" id="{3663F685-7373-19C1-6641-40F131F9F4A1}"/>
                    </a:ext>
                  </a:extLst>
                </p:cNvPr>
                <p:cNvSpPr txBox="1"/>
                <p:nvPr/>
              </p:nvSpPr>
              <p:spPr>
                <a:xfrm>
                  <a:off x="6373025" y="2501468"/>
                  <a:ext cx="1632121" cy="646331"/>
                </a:xfrm>
                <a:prstGeom prst="rect">
                  <a:avLst/>
                </a:prstGeom>
                <a:noFill/>
              </p:spPr>
              <p:txBody>
                <a:bodyPr wrap="square" rtlCol="0">
                  <a:spAutoFit/>
                </a:bodyPr>
                <a:lstStyle/>
                <a:p>
                  <a:r>
                    <a:rPr lang="en-US" sz="1200" dirty="0"/>
                    <a:t>On annual real prices</a:t>
                  </a:r>
                </a:p>
                <a:p>
                  <a:r>
                    <a:rPr lang="en-US" sz="1200" dirty="0"/>
                    <a:t>On rolling </a:t>
                  </a:r>
                  <a:r>
                    <a:rPr lang="el-GR" sz="1200" dirty="0"/>
                    <a:t>Δ</a:t>
                  </a:r>
                  <a:r>
                    <a:rPr lang="it-IT" sz="1200" dirty="0"/>
                    <a:t>-windows</a:t>
                  </a:r>
                </a:p>
                <a:p>
                  <a:r>
                    <a:rPr lang="it-IT" sz="1200" dirty="0"/>
                    <a:t>Impact Scores</a:t>
                  </a:r>
                  <a:endParaRPr lang="en-US" sz="1200" dirty="0"/>
                </a:p>
              </p:txBody>
            </p:sp>
          </p:grpSp>
        </p:grpSp>
        <p:grpSp>
          <p:nvGrpSpPr>
            <p:cNvPr id="13" name="Group 12">
              <a:extLst>
                <a:ext uri="{FF2B5EF4-FFF2-40B4-BE49-F238E27FC236}">
                  <a16:creationId xmlns:a16="http://schemas.microsoft.com/office/drawing/2014/main" id="{9A1B7042-4BEF-A886-C3BD-F930E6DC7078}"/>
                </a:ext>
              </a:extLst>
            </p:cNvPr>
            <p:cNvGrpSpPr/>
            <p:nvPr/>
          </p:nvGrpSpPr>
          <p:grpSpPr>
            <a:xfrm>
              <a:off x="7786664" y="2327353"/>
              <a:ext cx="2596078" cy="1073287"/>
              <a:chOff x="8649047" y="1644638"/>
              <a:chExt cx="2596078" cy="1073287"/>
            </a:xfrm>
          </p:grpSpPr>
          <p:grpSp>
            <p:nvGrpSpPr>
              <p:cNvPr id="14" name="Group 13">
                <a:extLst>
                  <a:ext uri="{FF2B5EF4-FFF2-40B4-BE49-F238E27FC236}">
                    <a16:creationId xmlns:a16="http://schemas.microsoft.com/office/drawing/2014/main" id="{37DF71DC-0C49-01CF-5250-AD2A17341CAB}"/>
                  </a:ext>
                </a:extLst>
              </p:cNvPr>
              <p:cNvGrpSpPr/>
              <p:nvPr/>
            </p:nvGrpSpPr>
            <p:grpSpPr>
              <a:xfrm>
                <a:off x="8765229" y="1812110"/>
                <a:ext cx="2479896" cy="905815"/>
                <a:chOff x="8765229" y="1812110"/>
                <a:chExt cx="2479896" cy="905815"/>
              </a:xfrm>
            </p:grpSpPr>
            <p:sp>
              <p:nvSpPr>
                <p:cNvPr id="18" name="Rectangle 17">
                  <a:extLst>
                    <a:ext uri="{FF2B5EF4-FFF2-40B4-BE49-F238E27FC236}">
                      <a16:creationId xmlns:a16="http://schemas.microsoft.com/office/drawing/2014/main" id="{D0F98EC9-2286-B678-392D-9402022780CB}"/>
                    </a:ext>
                  </a:extLst>
                </p:cNvPr>
                <p:cNvSpPr/>
                <p:nvPr/>
              </p:nvSpPr>
              <p:spPr>
                <a:xfrm>
                  <a:off x="8765229" y="1812111"/>
                  <a:ext cx="2479896" cy="905814"/>
                </a:xfrm>
                <a:prstGeom prst="rect">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7653F00-9ED5-2BBD-1451-2DB612F37527}"/>
                    </a:ext>
                  </a:extLst>
                </p:cNvPr>
                <p:cNvSpPr txBox="1"/>
                <p:nvPr/>
              </p:nvSpPr>
              <p:spPr>
                <a:xfrm>
                  <a:off x="9034666" y="1812110"/>
                  <a:ext cx="2210459" cy="461665"/>
                </a:xfrm>
                <a:prstGeom prst="rect">
                  <a:avLst/>
                </a:prstGeom>
                <a:noFill/>
              </p:spPr>
              <p:txBody>
                <a:bodyPr wrap="square" rtlCol="0">
                  <a:spAutoFit/>
                </a:bodyPr>
                <a:lstStyle/>
                <a:p>
                  <a:pPr algn="ctr"/>
                  <a:r>
                    <a:rPr lang="en-US" sz="1200" b="1" dirty="0"/>
                    <a:t>Price disruption scenarios in EU framework</a:t>
                  </a:r>
                </a:p>
              </p:txBody>
            </p:sp>
            <p:sp>
              <p:nvSpPr>
                <p:cNvPr id="20" name="TextBox 19">
                  <a:extLst>
                    <a:ext uri="{FF2B5EF4-FFF2-40B4-BE49-F238E27FC236}">
                      <a16:creationId xmlns:a16="http://schemas.microsoft.com/office/drawing/2014/main" id="{57122233-1129-50A1-9E75-36D7FE06B07F}"/>
                    </a:ext>
                  </a:extLst>
                </p:cNvPr>
                <p:cNvSpPr txBox="1"/>
                <p:nvPr/>
              </p:nvSpPr>
              <p:spPr>
                <a:xfrm>
                  <a:off x="8765229" y="2256259"/>
                  <a:ext cx="1875124" cy="461665"/>
                </a:xfrm>
                <a:prstGeom prst="rect">
                  <a:avLst/>
                </a:prstGeom>
                <a:noFill/>
              </p:spPr>
              <p:txBody>
                <a:bodyPr wrap="square" rtlCol="0">
                  <a:spAutoFit/>
                </a:bodyPr>
                <a:lstStyle/>
                <a:p>
                  <a:pPr marL="171450" indent="-171450">
                    <a:buFont typeface="Arial" panose="020B0604020202020204" pitchFamily="34" charset="0"/>
                    <a:buChar char="•"/>
                  </a:pPr>
                  <a:r>
                    <a:rPr lang="en-US" sz="1200" dirty="0"/>
                    <a:t>Disruption</a:t>
                  </a:r>
                </a:p>
                <a:p>
                  <a:pPr marL="171450" indent="-171450">
                    <a:buFont typeface="Arial" panose="020B0604020202020204" pitchFamily="34" charset="0"/>
                    <a:buChar char="•"/>
                  </a:pPr>
                  <a:r>
                    <a:rPr lang="en-US" sz="1200" dirty="0"/>
                    <a:t>Mild increase (cycles)</a:t>
                  </a:r>
                </a:p>
              </p:txBody>
            </p:sp>
          </p:grpSp>
          <p:grpSp>
            <p:nvGrpSpPr>
              <p:cNvPr id="15" name="Group 14">
                <a:extLst>
                  <a:ext uri="{FF2B5EF4-FFF2-40B4-BE49-F238E27FC236}">
                    <a16:creationId xmlns:a16="http://schemas.microsoft.com/office/drawing/2014/main" id="{6DB873D9-9A79-8C45-3BA9-6AB8FF07610D}"/>
                  </a:ext>
                </a:extLst>
              </p:cNvPr>
              <p:cNvGrpSpPr/>
              <p:nvPr/>
            </p:nvGrpSpPr>
            <p:grpSpPr>
              <a:xfrm>
                <a:off x="8649047" y="1644638"/>
                <a:ext cx="477391" cy="382335"/>
                <a:chOff x="9650602" y="893613"/>
                <a:chExt cx="477391" cy="382335"/>
              </a:xfrm>
            </p:grpSpPr>
            <p:sp>
              <p:nvSpPr>
                <p:cNvPr id="16" name="Rectangle 15">
                  <a:extLst>
                    <a:ext uri="{FF2B5EF4-FFF2-40B4-BE49-F238E27FC236}">
                      <a16:creationId xmlns:a16="http://schemas.microsoft.com/office/drawing/2014/main" id="{45EC10FF-2F69-DC95-9238-0BEB74FE14D7}"/>
                    </a:ext>
                  </a:extLst>
                </p:cNvPr>
                <p:cNvSpPr/>
                <p:nvPr/>
              </p:nvSpPr>
              <p:spPr>
                <a:xfrm>
                  <a:off x="9650602" y="908085"/>
                  <a:ext cx="477391" cy="367090"/>
                </a:xfrm>
                <a:prstGeom prst="rect">
                  <a:avLst/>
                </a:prstGeom>
                <a:solidFill>
                  <a:schemeClr val="bg1"/>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385C77B-F1EC-8A1A-527E-2C322BA5E319}"/>
                    </a:ext>
                  </a:extLst>
                </p:cNvPr>
                <p:cNvPicPr>
                  <a:picLocks noChangeAspect="1"/>
                </p:cNvPicPr>
                <p:nvPr/>
              </p:nvPicPr>
              <p:blipFill>
                <a:blip r:embed="rId4"/>
                <a:stretch>
                  <a:fillRect/>
                </a:stretch>
              </p:blipFill>
              <p:spPr>
                <a:xfrm>
                  <a:off x="9698131" y="893613"/>
                  <a:ext cx="382335" cy="382335"/>
                </a:xfrm>
                <a:prstGeom prst="rect">
                  <a:avLst/>
                </a:prstGeom>
              </p:spPr>
            </p:pic>
          </p:grpSp>
        </p:grpSp>
        <p:grpSp>
          <p:nvGrpSpPr>
            <p:cNvPr id="21" name="Group 20">
              <a:extLst>
                <a:ext uri="{FF2B5EF4-FFF2-40B4-BE49-F238E27FC236}">
                  <a16:creationId xmlns:a16="http://schemas.microsoft.com/office/drawing/2014/main" id="{1B043647-5D1D-A56F-BD70-3888F626B9B0}"/>
                </a:ext>
              </a:extLst>
            </p:cNvPr>
            <p:cNvGrpSpPr/>
            <p:nvPr/>
          </p:nvGrpSpPr>
          <p:grpSpPr>
            <a:xfrm>
              <a:off x="6803413" y="2230394"/>
              <a:ext cx="1192102" cy="914128"/>
              <a:chOff x="8149777" y="1549807"/>
              <a:chExt cx="1192102" cy="914128"/>
            </a:xfrm>
          </p:grpSpPr>
          <p:sp>
            <p:nvSpPr>
              <p:cNvPr id="22" name="Oval 21">
                <a:extLst>
                  <a:ext uri="{FF2B5EF4-FFF2-40B4-BE49-F238E27FC236}">
                    <a16:creationId xmlns:a16="http://schemas.microsoft.com/office/drawing/2014/main" id="{FC944292-575F-20E7-BA5F-E9D4A3E3C898}"/>
                  </a:ext>
                </a:extLst>
              </p:cNvPr>
              <p:cNvSpPr/>
              <p:nvPr/>
            </p:nvSpPr>
            <p:spPr>
              <a:xfrm>
                <a:off x="8506110" y="1985303"/>
                <a:ext cx="493337" cy="478632"/>
              </a:xfrm>
              <a:prstGeom prst="ellipse">
                <a:avLst/>
              </a:prstGeom>
              <a:noFill/>
              <a:ln w="19050">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31725FB9-736C-C54C-4551-B5E0ED7FAF49}"/>
                  </a:ext>
                </a:extLst>
              </p:cNvPr>
              <p:cNvSpPr txBox="1"/>
              <p:nvPr/>
            </p:nvSpPr>
            <p:spPr>
              <a:xfrm>
                <a:off x="8149777" y="1549807"/>
                <a:ext cx="1192102" cy="461665"/>
              </a:xfrm>
              <a:prstGeom prst="rect">
                <a:avLst/>
              </a:prstGeom>
              <a:noFill/>
            </p:spPr>
            <p:txBody>
              <a:bodyPr wrap="square" rtlCol="0">
                <a:spAutoFit/>
              </a:bodyPr>
              <a:lstStyle/>
              <a:p>
                <a:pPr algn="ctr"/>
                <a:r>
                  <a:rPr lang="en-US" sz="1200" dirty="0">
                    <a:solidFill>
                      <a:schemeClr val="accent6"/>
                    </a:solidFill>
                  </a:rPr>
                  <a:t>SR-based multiplier</a:t>
                </a:r>
              </a:p>
            </p:txBody>
          </p:sp>
        </p:grpSp>
        <p:grpSp>
          <p:nvGrpSpPr>
            <p:cNvPr id="24" name="Group 23">
              <a:extLst>
                <a:ext uri="{FF2B5EF4-FFF2-40B4-BE49-F238E27FC236}">
                  <a16:creationId xmlns:a16="http://schemas.microsoft.com/office/drawing/2014/main" id="{46E16306-2FBF-775D-0BE4-46A47742C56E}"/>
                </a:ext>
              </a:extLst>
            </p:cNvPr>
            <p:cNvGrpSpPr/>
            <p:nvPr/>
          </p:nvGrpSpPr>
          <p:grpSpPr>
            <a:xfrm>
              <a:off x="1719118" y="2855828"/>
              <a:ext cx="2579719" cy="706926"/>
              <a:chOff x="2892203" y="1789561"/>
              <a:chExt cx="2579719" cy="706926"/>
            </a:xfrm>
          </p:grpSpPr>
          <p:sp>
            <p:nvSpPr>
              <p:cNvPr id="25" name="Arrow: Down 24">
                <a:extLst>
                  <a:ext uri="{FF2B5EF4-FFF2-40B4-BE49-F238E27FC236}">
                    <a16:creationId xmlns:a16="http://schemas.microsoft.com/office/drawing/2014/main" id="{092011FC-7E2C-BE3B-5315-3A998D0DB01C}"/>
                  </a:ext>
                </a:extLst>
              </p:cNvPr>
              <p:cNvSpPr/>
              <p:nvPr/>
            </p:nvSpPr>
            <p:spPr>
              <a:xfrm rot="16200000">
                <a:off x="5030846" y="1495894"/>
                <a:ext cx="133111" cy="749040"/>
              </a:xfrm>
              <a:prstGeom prst="downArrow">
                <a:avLst/>
              </a:prstGeom>
              <a:solidFill>
                <a:srgbClr val="4472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DD0135CA-00CB-FB33-156B-123489EB0535}"/>
                  </a:ext>
                </a:extLst>
              </p:cNvPr>
              <p:cNvGrpSpPr/>
              <p:nvPr/>
            </p:nvGrpSpPr>
            <p:grpSpPr>
              <a:xfrm>
                <a:off x="2892203" y="1789561"/>
                <a:ext cx="2398359" cy="706926"/>
                <a:chOff x="2797865" y="1624568"/>
                <a:chExt cx="2398359" cy="706926"/>
              </a:xfrm>
            </p:grpSpPr>
            <p:sp>
              <p:nvSpPr>
                <p:cNvPr id="27" name="Rectangle 26">
                  <a:extLst>
                    <a:ext uri="{FF2B5EF4-FFF2-40B4-BE49-F238E27FC236}">
                      <a16:creationId xmlns:a16="http://schemas.microsoft.com/office/drawing/2014/main" id="{1EC38A26-6E76-24A1-EBBA-7EACD61DCCF4}"/>
                    </a:ext>
                  </a:extLst>
                </p:cNvPr>
                <p:cNvSpPr/>
                <p:nvPr/>
              </p:nvSpPr>
              <p:spPr>
                <a:xfrm>
                  <a:off x="2797865" y="1624568"/>
                  <a:ext cx="2398359" cy="706926"/>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r>
                    <a:rPr lang="en-US" sz="1100" dirty="0"/>
                    <a:t>Hierarchical and k-means clustering</a:t>
                  </a:r>
                </a:p>
                <a:p>
                  <a:r>
                    <a:rPr lang="en-US" sz="1100" dirty="0"/>
                    <a:t>Normalization procedure</a:t>
                  </a:r>
                </a:p>
                <a:p>
                  <a:r>
                    <a:rPr lang="en-US" sz="1100" dirty="0"/>
                    <a:t>Quality check</a:t>
                  </a:r>
                </a:p>
                <a:p>
                  <a:r>
                    <a:rPr lang="en-US" sz="1100" dirty="0"/>
                    <a:t>Stability check</a:t>
                  </a:r>
                </a:p>
              </p:txBody>
            </p:sp>
            <p:pic>
              <p:nvPicPr>
                <p:cNvPr id="28" name="Picture 27">
                  <a:extLst>
                    <a:ext uri="{FF2B5EF4-FFF2-40B4-BE49-F238E27FC236}">
                      <a16:creationId xmlns:a16="http://schemas.microsoft.com/office/drawing/2014/main" id="{9FC881F2-A138-F483-DB59-C16D6A45566A}"/>
                    </a:ext>
                  </a:extLst>
                </p:cNvPr>
                <p:cNvPicPr>
                  <a:picLocks noChangeAspect="1"/>
                </p:cNvPicPr>
                <p:nvPr/>
              </p:nvPicPr>
              <p:blipFill>
                <a:blip r:embed="rId5"/>
                <a:stretch>
                  <a:fillRect/>
                </a:stretch>
              </p:blipFill>
              <p:spPr>
                <a:xfrm>
                  <a:off x="4747849" y="2005978"/>
                  <a:ext cx="294904" cy="285013"/>
                </a:xfrm>
                <a:prstGeom prst="rect">
                  <a:avLst/>
                </a:prstGeom>
              </p:spPr>
            </p:pic>
          </p:grpSp>
        </p:grpSp>
        <p:grpSp>
          <p:nvGrpSpPr>
            <p:cNvPr id="30" name="Group 29">
              <a:extLst>
                <a:ext uri="{FF2B5EF4-FFF2-40B4-BE49-F238E27FC236}">
                  <a16:creationId xmlns:a16="http://schemas.microsoft.com/office/drawing/2014/main" id="{AC17057C-F7FD-0A4C-4D90-08DA4E6A2366}"/>
                </a:ext>
              </a:extLst>
            </p:cNvPr>
            <p:cNvGrpSpPr/>
            <p:nvPr/>
          </p:nvGrpSpPr>
          <p:grpSpPr>
            <a:xfrm>
              <a:off x="1112497" y="2924338"/>
              <a:ext cx="6388864" cy="2741816"/>
              <a:chOff x="2438286" y="1739061"/>
              <a:chExt cx="6388864" cy="2741816"/>
            </a:xfrm>
          </p:grpSpPr>
          <p:grpSp>
            <p:nvGrpSpPr>
              <p:cNvPr id="31" name="Group 30">
                <a:extLst>
                  <a:ext uri="{FF2B5EF4-FFF2-40B4-BE49-F238E27FC236}">
                    <a16:creationId xmlns:a16="http://schemas.microsoft.com/office/drawing/2014/main" id="{503DABD8-D2CE-DDDC-7A10-41637E54D01D}"/>
                  </a:ext>
                </a:extLst>
              </p:cNvPr>
              <p:cNvGrpSpPr/>
              <p:nvPr/>
            </p:nvGrpSpPr>
            <p:grpSpPr>
              <a:xfrm>
                <a:off x="2438286" y="1739061"/>
                <a:ext cx="6388864" cy="2741816"/>
                <a:chOff x="2592388" y="1737944"/>
                <a:chExt cx="6388864" cy="2741816"/>
              </a:xfrm>
            </p:grpSpPr>
            <p:sp>
              <p:nvSpPr>
                <p:cNvPr id="33" name="Arrow: Bent-Up 32">
                  <a:extLst>
                    <a:ext uri="{FF2B5EF4-FFF2-40B4-BE49-F238E27FC236}">
                      <a16:creationId xmlns:a16="http://schemas.microsoft.com/office/drawing/2014/main" id="{0DD30462-98AB-953D-A100-A925EE10C047}"/>
                    </a:ext>
                  </a:extLst>
                </p:cNvPr>
                <p:cNvSpPr/>
                <p:nvPr/>
              </p:nvSpPr>
              <p:spPr>
                <a:xfrm>
                  <a:off x="5081051" y="1737944"/>
                  <a:ext cx="3900201" cy="1487493"/>
                </a:xfrm>
                <a:prstGeom prst="bentUpArrow">
                  <a:avLst>
                    <a:gd name="adj1" fmla="val 2481"/>
                    <a:gd name="adj2" fmla="val 5584"/>
                    <a:gd name="adj3" fmla="val 10021"/>
                  </a:avLst>
                </a:prstGeom>
                <a:solidFill>
                  <a:schemeClr val="accent6"/>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4" name="Group 33">
                  <a:extLst>
                    <a:ext uri="{FF2B5EF4-FFF2-40B4-BE49-F238E27FC236}">
                      <a16:creationId xmlns:a16="http://schemas.microsoft.com/office/drawing/2014/main" id="{95BF75F0-4022-0D6B-0D2E-0EFF28FFD60F}"/>
                    </a:ext>
                  </a:extLst>
                </p:cNvPr>
                <p:cNvGrpSpPr/>
                <p:nvPr/>
              </p:nvGrpSpPr>
              <p:grpSpPr>
                <a:xfrm>
                  <a:off x="2592388" y="2855386"/>
                  <a:ext cx="2869094" cy="1624374"/>
                  <a:chOff x="2730032" y="2855145"/>
                  <a:chExt cx="2869094" cy="1624374"/>
                </a:xfrm>
              </p:grpSpPr>
              <p:grpSp>
                <p:nvGrpSpPr>
                  <p:cNvPr id="38" name="Group 37">
                    <a:extLst>
                      <a:ext uri="{FF2B5EF4-FFF2-40B4-BE49-F238E27FC236}">
                        <a16:creationId xmlns:a16="http://schemas.microsoft.com/office/drawing/2014/main" id="{C155CE71-0FFB-569D-29D4-609DBD834B89}"/>
                      </a:ext>
                    </a:extLst>
                  </p:cNvPr>
                  <p:cNvGrpSpPr/>
                  <p:nvPr/>
                </p:nvGrpSpPr>
                <p:grpSpPr>
                  <a:xfrm>
                    <a:off x="2730032" y="2855145"/>
                    <a:ext cx="2869094" cy="1624374"/>
                    <a:chOff x="2730032" y="3086046"/>
                    <a:chExt cx="2869094" cy="1624374"/>
                  </a:xfrm>
                </p:grpSpPr>
                <p:grpSp>
                  <p:nvGrpSpPr>
                    <p:cNvPr id="39" name="Group 38">
                      <a:extLst>
                        <a:ext uri="{FF2B5EF4-FFF2-40B4-BE49-F238E27FC236}">
                          <a16:creationId xmlns:a16="http://schemas.microsoft.com/office/drawing/2014/main" id="{B7480228-AC8D-76F0-9194-09D4AD369BEF}"/>
                        </a:ext>
                      </a:extLst>
                    </p:cNvPr>
                    <p:cNvGrpSpPr/>
                    <p:nvPr/>
                  </p:nvGrpSpPr>
                  <p:grpSpPr>
                    <a:xfrm>
                      <a:off x="2730032" y="3086046"/>
                      <a:ext cx="2869094" cy="1624374"/>
                      <a:chOff x="2730032" y="3039713"/>
                      <a:chExt cx="2869094" cy="1624374"/>
                    </a:xfrm>
                  </p:grpSpPr>
                  <p:grpSp>
                    <p:nvGrpSpPr>
                      <p:cNvPr id="41" name="Group 40">
                        <a:extLst>
                          <a:ext uri="{FF2B5EF4-FFF2-40B4-BE49-F238E27FC236}">
                            <a16:creationId xmlns:a16="http://schemas.microsoft.com/office/drawing/2014/main" id="{311D09A4-F5E5-C4DF-4BAB-0AEA10D7D463}"/>
                          </a:ext>
                        </a:extLst>
                      </p:cNvPr>
                      <p:cNvGrpSpPr/>
                      <p:nvPr/>
                    </p:nvGrpSpPr>
                    <p:grpSpPr>
                      <a:xfrm>
                        <a:off x="2730032" y="3039713"/>
                        <a:ext cx="2869094" cy="1624374"/>
                        <a:chOff x="6823934" y="2514639"/>
                        <a:chExt cx="2345756" cy="1915806"/>
                      </a:xfrm>
                    </p:grpSpPr>
                    <p:grpSp>
                      <p:nvGrpSpPr>
                        <p:cNvPr id="43" name="Group 42">
                          <a:extLst>
                            <a:ext uri="{FF2B5EF4-FFF2-40B4-BE49-F238E27FC236}">
                              <a16:creationId xmlns:a16="http://schemas.microsoft.com/office/drawing/2014/main" id="{30E6A772-69D4-A568-B1BD-3E699C272722}"/>
                            </a:ext>
                          </a:extLst>
                        </p:cNvPr>
                        <p:cNvGrpSpPr/>
                        <p:nvPr/>
                      </p:nvGrpSpPr>
                      <p:grpSpPr>
                        <a:xfrm>
                          <a:off x="6823934" y="2514639"/>
                          <a:ext cx="2345756" cy="1915806"/>
                          <a:chOff x="6823934" y="2514639"/>
                          <a:chExt cx="2345756" cy="1915806"/>
                        </a:xfrm>
                      </p:grpSpPr>
                      <p:sp>
                        <p:nvSpPr>
                          <p:cNvPr id="47" name="Scroll: Vertical 46">
                            <a:extLst>
                              <a:ext uri="{FF2B5EF4-FFF2-40B4-BE49-F238E27FC236}">
                                <a16:creationId xmlns:a16="http://schemas.microsoft.com/office/drawing/2014/main" id="{C4DD135F-7BC3-FB48-5BB4-6F3521BA24F5}"/>
                              </a:ext>
                            </a:extLst>
                          </p:cNvPr>
                          <p:cNvSpPr/>
                          <p:nvPr/>
                        </p:nvSpPr>
                        <p:spPr>
                          <a:xfrm>
                            <a:off x="6823934" y="2514639"/>
                            <a:ext cx="2345756" cy="1915806"/>
                          </a:xfrm>
                          <a:prstGeom prst="verticalScroll">
                            <a:avLst/>
                          </a:prstGeom>
                          <a:solidFill>
                            <a:schemeClr val="accent6">
                              <a:lumMod val="40000"/>
                              <a:lumOff val="60000"/>
                            </a:schemeClr>
                          </a:solidFill>
                          <a:ln w="28575">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8" name="TextBox 47">
                            <a:extLst>
                              <a:ext uri="{FF2B5EF4-FFF2-40B4-BE49-F238E27FC236}">
                                <a16:creationId xmlns:a16="http://schemas.microsoft.com/office/drawing/2014/main" id="{4CE1B840-4768-B6A1-311D-C1A59F4F1045}"/>
                              </a:ext>
                            </a:extLst>
                          </p:cNvPr>
                          <p:cNvSpPr txBox="1"/>
                          <p:nvPr/>
                        </p:nvSpPr>
                        <p:spPr>
                          <a:xfrm>
                            <a:off x="7056167" y="2807668"/>
                            <a:ext cx="2113521" cy="307777"/>
                          </a:xfrm>
                          <a:prstGeom prst="rect">
                            <a:avLst/>
                          </a:prstGeom>
                          <a:noFill/>
                        </p:spPr>
                        <p:txBody>
                          <a:bodyPr wrap="square" rtlCol="0">
                            <a:spAutoFit/>
                          </a:bodyPr>
                          <a:lstStyle/>
                          <a:p>
                            <a:pPr algn="ctr"/>
                            <a:r>
                              <a:rPr lang="en-US" sz="1400" b="1" dirty="0"/>
                              <a:t>EU_CRM framework</a:t>
                            </a:r>
                          </a:p>
                        </p:txBody>
                      </p:sp>
                    </p:grpSp>
                    <p:sp>
                      <p:nvSpPr>
                        <p:cNvPr id="44" name="TextBox 43">
                          <a:extLst>
                            <a:ext uri="{FF2B5EF4-FFF2-40B4-BE49-F238E27FC236}">
                              <a16:creationId xmlns:a16="http://schemas.microsoft.com/office/drawing/2014/main" id="{CFD7A739-A6B9-5573-7A88-2C5499A5A5DA}"/>
                            </a:ext>
                          </a:extLst>
                        </p:cNvPr>
                        <p:cNvSpPr txBox="1"/>
                        <p:nvPr/>
                      </p:nvSpPr>
                      <p:spPr>
                        <a:xfrm>
                          <a:off x="7378468" y="3093474"/>
                          <a:ext cx="1629178" cy="544493"/>
                        </a:xfrm>
                        <a:prstGeom prst="rect">
                          <a:avLst/>
                        </a:prstGeom>
                        <a:noFill/>
                      </p:spPr>
                      <p:txBody>
                        <a:bodyPr wrap="square" rtlCol="0">
                          <a:spAutoFit/>
                        </a:bodyPr>
                        <a:lstStyle/>
                        <a:p>
                          <a:r>
                            <a:rPr lang="en-US" sz="1200" dirty="0"/>
                            <a:t>Methodology</a:t>
                          </a:r>
                        </a:p>
                        <a:p>
                          <a:r>
                            <a:rPr lang="en-US" sz="1200" dirty="0"/>
                            <a:t>Projects (RMIS, SCRREEN)</a:t>
                          </a:r>
                        </a:p>
                      </p:txBody>
                    </p:sp>
                    <p:pic>
                      <p:nvPicPr>
                        <p:cNvPr id="45" name="Picture 44">
                          <a:extLst>
                            <a:ext uri="{FF2B5EF4-FFF2-40B4-BE49-F238E27FC236}">
                              <a16:creationId xmlns:a16="http://schemas.microsoft.com/office/drawing/2014/main" id="{C4D2A1E8-117C-E486-FCE1-4E55657A1440}"/>
                            </a:ext>
                          </a:extLst>
                        </p:cNvPr>
                        <p:cNvPicPr>
                          <a:picLocks noChangeAspect="1"/>
                        </p:cNvPicPr>
                        <p:nvPr/>
                      </p:nvPicPr>
                      <p:blipFill>
                        <a:blip r:embed="rId6"/>
                        <a:stretch>
                          <a:fillRect/>
                        </a:stretch>
                      </p:blipFill>
                      <p:spPr>
                        <a:xfrm>
                          <a:off x="7069174" y="3687081"/>
                          <a:ext cx="265742" cy="345510"/>
                        </a:xfrm>
                        <a:prstGeom prst="rect">
                          <a:avLst/>
                        </a:prstGeom>
                      </p:spPr>
                    </p:pic>
                    <p:sp>
                      <p:nvSpPr>
                        <p:cNvPr id="46" name="Rectangle: Rounded Corners 45">
                          <a:extLst>
                            <a:ext uri="{FF2B5EF4-FFF2-40B4-BE49-F238E27FC236}">
                              <a16:creationId xmlns:a16="http://schemas.microsoft.com/office/drawing/2014/main" id="{8B283A04-5C4A-9999-4AEF-46A256630E1A}"/>
                            </a:ext>
                          </a:extLst>
                        </p:cNvPr>
                        <p:cNvSpPr/>
                        <p:nvPr/>
                      </p:nvSpPr>
                      <p:spPr>
                        <a:xfrm>
                          <a:off x="7361048" y="3646501"/>
                          <a:ext cx="1565868" cy="656476"/>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100" dirty="0">
                              <a:solidFill>
                                <a:schemeClr val="tx1"/>
                              </a:solidFill>
                            </a:rPr>
                            <a:t>Supply Risk</a:t>
                          </a:r>
                        </a:p>
                        <a:p>
                          <a:pPr marL="171450" indent="-171450">
                            <a:buFont typeface="Arial" panose="020B0604020202020204" pitchFamily="34" charset="0"/>
                            <a:buChar char="•"/>
                          </a:pPr>
                          <a:r>
                            <a:rPr lang="en-US" sz="1100" dirty="0">
                              <a:solidFill>
                                <a:schemeClr val="tx1"/>
                              </a:solidFill>
                            </a:rPr>
                            <a:t>Economic Importance</a:t>
                          </a:r>
                        </a:p>
                        <a:p>
                          <a:pPr marL="171450" indent="-171450">
                            <a:buFont typeface="Arial" panose="020B0604020202020204" pitchFamily="34" charset="0"/>
                            <a:buChar char="•"/>
                          </a:pPr>
                          <a:r>
                            <a:rPr lang="en-US" sz="1100" dirty="0">
                              <a:solidFill>
                                <a:schemeClr val="tx1"/>
                              </a:solidFill>
                            </a:rPr>
                            <a:t>HHI, SI, IR, EOL</a:t>
                          </a:r>
                          <a:r>
                            <a:rPr lang="en-US" sz="600" dirty="0">
                              <a:solidFill>
                                <a:schemeClr val="tx1"/>
                              </a:solidFill>
                            </a:rPr>
                            <a:t>RIR</a:t>
                          </a:r>
                          <a:endParaRPr lang="en-US" sz="1100" dirty="0">
                            <a:solidFill>
                              <a:schemeClr val="tx1"/>
                            </a:solidFill>
                          </a:endParaRPr>
                        </a:p>
                      </p:txBody>
                    </p:sp>
                  </p:grpSp>
                  <p:pic>
                    <p:nvPicPr>
                      <p:cNvPr id="42" name="Picture 41">
                        <a:extLst>
                          <a:ext uri="{FF2B5EF4-FFF2-40B4-BE49-F238E27FC236}">
                            <a16:creationId xmlns:a16="http://schemas.microsoft.com/office/drawing/2014/main" id="{A04BF375-0780-46D7-4E2E-389F865F8A8D}"/>
                          </a:ext>
                        </a:extLst>
                      </p:cNvPr>
                      <p:cNvPicPr>
                        <a:picLocks noChangeAspect="1"/>
                      </p:cNvPicPr>
                      <p:nvPr/>
                    </p:nvPicPr>
                    <p:blipFill>
                      <a:blip r:embed="rId7"/>
                      <a:stretch>
                        <a:fillRect/>
                      </a:stretch>
                    </p:blipFill>
                    <p:spPr>
                      <a:xfrm>
                        <a:off x="3060663" y="3316447"/>
                        <a:ext cx="260085" cy="260085"/>
                      </a:xfrm>
                      <a:prstGeom prst="rect">
                        <a:avLst/>
                      </a:prstGeom>
                    </p:spPr>
                  </p:pic>
                </p:grpSp>
                <p:pic>
                  <p:nvPicPr>
                    <p:cNvPr id="40" name="Picture 39" descr="A red triangle with a white exclamation mark on a yellow rectangular object&#10;&#10;Description automatically generated">
                      <a:extLst>
                        <a:ext uri="{FF2B5EF4-FFF2-40B4-BE49-F238E27FC236}">
                          <a16:creationId xmlns:a16="http://schemas.microsoft.com/office/drawing/2014/main" id="{9A07B839-894F-0574-78DC-C3CCAD88435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97515" y="4032734"/>
                      <a:ext cx="278807" cy="278807"/>
                    </a:xfrm>
                    <a:prstGeom prst="rect">
                      <a:avLst/>
                    </a:prstGeom>
                  </p:spPr>
                </p:pic>
              </p:grpSp>
              <p:pic>
                <p:nvPicPr>
                  <p:cNvPr id="36" name="Picture 35">
                    <a:extLst>
                      <a:ext uri="{FF2B5EF4-FFF2-40B4-BE49-F238E27FC236}">
                        <a16:creationId xmlns:a16="http://schemas.microsoft.com/office/drawing/2014/main" id="{459EC891-4240-2B04-1ADD-E9E2E8342ABB}"/>
                      </a:ext>
                    </a:extLst>
                  </p:cNvPr>
                  <p:cNvPicPr>
                    <a:picLocks noChangeAspect="1"/>
                  </p:cNvPicPr>
                  <p:nvPr/>
                </p:nvPicPr>
                <p:blipFill>
                  <a:blip r:embed="rId5"/>
                  <a:stretch>
                    <a:fillRect/>
                  </a:stretch>
                </p:blipFill>
                <p:spPr>
                  <a:xfrm>
                    <a:off x="3034935" y="3450242"/>
                    <a:ext cx="293875" cy="284019"/>
                  </a:xfrm>
                  <a:prstGeom prst="rect">
                    <a:avLst/>
                  </a:prstGeom>
                </p:spPr>
              </p:pic>
            </p:grpSp>
          </p:grpSp>
          <p:sp>
            <p:nvSpPr>
              <p:cNvPr id="32" name="Arrow: Down 31">
                <a:extLst>
                  <a:ext uri="{FF2B5EF4-FFF2-40B4-BE49-F238E27FC236}">
                    <a16:creationId xmlns:a16="http://schemas.microsoft.com/office/drawing/2014/main" id="{A13A99EE-9F54-6039-37F4-C745265C1FE2}"/>
                  </a:ext>
                </a:extLst>
              </p:cNvPr>
              <p:cNvSpPr/>
              <p:nvPr/>
            </p:nvSpPr>
            <p:spPr>
              <a:xfrm rot="5400000" flipH="1">
                <a:off x="8281012" y="1634972"/>
                <a:ext cx="125640" cy="838294"/>
              </a:xfrm>
              <a:prstGeom prst="downArrow">
                <a:avLst/>
              </a:prstGeom>
              <a:solidFill>
                <a:srgbClr val="70AD47"/>
              </a:solidFill>
              <a:ln>
                <a:solidFill>
                  <a:srgbClr val="70AD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2" name="Straight Arrow Connector 51">
              <a:extLst>
                <a:ext uri="{FF2B5EF4-FFF2-40B4-BE49-F238E27FC236}">
                  <a16:creationId xmlns:a16="http://schemas.microsoft.com/office/drawing/2014/main" id="{4F580473-D1EA-C75A-FDC3-BB3BB1D95044}"/>
                </a:ext>
              </a:extLst>
            </p:cNvPr>
            <p:cNvCxnSpPr/>
            <p:nvPr/>
          </p:nvCxnSpPr>
          <p:spPr>
            <a:xfrm>
              <a:off x="1228436" y="2665890"/>
              <a:ext cx="307040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2570915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6E8009-34F7-3A88-4923-EC6F62ABFCCE}"/>
              </a:ext>
            </a:extLst>
          </p:cNvPr>
          <p:cNvSpPr>
            <a:spLocks noGrp="1"/>
          </p:cNvSpPr>
          <p:nvPr>
            <p:ph idx="13"/>
          </p:nvPr>
        </p:nvSpPr>
        <p:spPr/>
        <p:txBody>
          <a:bodyPr>
            <a:normAutofit/>
          </a:bodyPr>
          <a:lstStyle/>
          <a:p>
            <a:pPr marL="0" indent="0">
              <a:buNone/>
            </a:pPr>
            <a:r>
              <a:rPr lang="en-US" sz="2800" dirty="0"/>
              <a:t>Source: “</a:t>
            </a:r>
            <a:r>
              <a:rPr lang="it-IT" sz="2800" dirty="0"/>
              <a:t>Gestione Energetica ed Automazione negli Edifici (GEAE)»,  A.A. 2024/2025</a:t>
            </a:r>
          </a:p>
          <a:p>
            <a:r>
              <a:rPr lang="it-IT" sz="2800" dirty="0" err="1"/>
              <a:t>Data.xlxs</a:t>
            </a:r>
            <a:r>
              <a:rPr lang="it-IT" sz="2800" dirty="0"/>
              <a:t> file </a:t>
            </a:r>
            <a:r>
              <a:rPr lang="it-IT" sz="2800" dirty="0" err="1"/>
              <a:t>contains</a:t>
            </a:r>
            <a:r>
              <a:rPr lang="it-IT" sz="2800" dirty="0"/>
              <a:t> </a:t>
            </a:r>
            <a:r>
              <a:rPr lang="it-IT" sz="2800" dirty="0" err="1"/>
              <a:t>all</a:t>
            </a:r>
            <a:r>
              <a:rPr lang="it-IT" sz="2800" dirty="0"/>
              <a:t> the </a:t>
            </a:r>
            <a:r>
              <a:rPr lang="it-IT" sz="2800" dirty="0" err="1"/>
              <a:t>sheets</a:t>
            </a:r>
            <a:r>
              <a:rPr lang="it-IT" sz="2800" dirty="0"/>
              <a:t> with the </a:t>
            </a:r>
            <a:r>
              <a:rPr lang="it-IT" sz="2800" dirty="0" err="1"/>
              <a:t>raw</a:t>
            </a:r>
            <a:r>
              <a:rPr lang="it-IT" sz="2800" dirty="0"/>
              <a:t> data (</a:t>
            </a:r>
            <a:r>
              <a:rPr lang="it-IT" sz="2800" dirty="0" err="1"/>
              <a:t>actual</a:t>
            </a:r>
            <a:r>
              <a:rPr lang="it-IT" sz="2800" dirty="0"/>
              <a:t> prices, </a:t>
            </a:r>
            <a:r>
              <a:rPr lang="it-IT" sz="2800" dirty="0" err="1"/>
              <a:t>rolling</a:t>
            </a:r>
            <a:r>
              <a:rPr lang="it-IT" sz="2800" dirty="0"/>
              <a:t>-window trends for the </a:t>
            </a:r>
            <a:r>
              <a:rPr lang="it-IT" sz="2800" dirty="0" err="1"/>
              <a:t>different</a:t>
            </a:r>
            <a:r>
              <a:rPr lang="it-IT" sz="2800" dirty="0"/>
              <a:t> time </a:t>
            </a:r>
            <a:r>
              <a:rPr lang="it-IT" sz="2800" dirty="0" err="1"/>
              <a:t>spans</a:t>
            </a:r>
            <a:r>
              <a:rPr lang="it-IT" sz="2800" dirty="0"/>
              <a:t>) </a:t>
            </a:r>
            <a:r>
              <a:rPr lang="it-IT" sz="2800" dirty="0" err="1"/>
              <a:t>listed</a:t>
            </a:r>
            <a:r>
              <a:rPr lang="it-IT" sz="2800" dirty="0"/>
              <a:t> for </a:t>
            </a:r>
            <a:r>
              <a:rPr lang="it-IT" sz="2800" dirty="0" err="1"/>
              <a:t>each</a:t>
            </a:r>
            <a:r>
              <a:rPr lang="it-IT" sz="2800" dirty="0"/>
              <a:t> CRM</a:t>
            </a:r>
          </a:p>
          <a:p>
            <a:pPr lvl="1"/>
            <a:r>
              <a:rPr lang="it-IT" sz="2400" dirty="0"/>
              <a:t>Log-</a:t>
            </a:r>
            <a:r>
              <a:rPr lang="it-IT" sz="2400" dirty="0" err="1"/>
              <a:t>return</a:t>
            </a:r>
            <a:r>
              <a:rPr lang="it-IT" sz="2400" dirty="0"/>
              <a:t> (DERA </a:t>
            </a:r>
            <a:r>
              <a:rPr lang="it-IT" sz="2400" dirty="0" err="1"/>
              <a:t>approach</a:t>
            </a:r>
            <a:r>
              <a:rPr lang="it-IT" sz="2400" dirty="0"/>
              <a:t>) </a:t>
            </a:r>
            <a:r>
              <a:rPr lang="it-IT" sz="2400" dirty="0" err="1"/>
              <a:t>isn’t</a:t>
            </a:r>
            <a:r>
              <a:rPr lang="it-IT" sz="2400" dirty="0"/>
              <a:t> </a:t>
            </a:r>
            <a:r>
              <a:rPr lang="it-IT" sz="2400" dirty="0" err="1"/>
              <a:t>included</a:t>
            </a:r>
            <a:r>
              <a:rPr lang="it-IT" sz="2400" dirty="0"/>
              <a:t> </a:t>
            </a:r>
            <a:r>
              <a:rPr lang="it-IT" sz="2400" dirty="0" err="1"/>
              <a:t>here</a:t>
            </a:r>
            <a:endParaRPr lang="it-IT" sz="2400" dirty="0"/>
          </a:p>
          <a:p>
            <a:r>
              <a:rPr lang="it-IT" sz="2800" dirty="0"/>
              <a:t>Data scaling/</a:t>
            </a:r>
            <a:r>
              <a:rPr lang="it-IT" sz="2800" dirty="0" err="1"/>
              <a:t>normalization</a:t>
            </a:r>
            <a:r>
              <a:rPr lang="it-IT" sz="2800" dirty="0"/>
              <a:t>:</a:t>
            </a:r>
          </a:p>
          <a:p>
            <a:pPr lvl="1"/>
            <a:r>
              <a:rPr lang="it-IT" sz="2400" dirty="0" err="1"/>
              <a:t>This</a:t>
            </a:r>
            <a:r>
              <a:rPr lang="it-IT" sz="2400" dirty="0"/>
              <a:t> </a:t>
            </a:r>
            <a:r>
              <a:rPr lang="it-IT" sz="2400" dirty="0" err="1"/>
              <a:t>is</a:t>
            </a:r>
            <a:r>
              <a:rPr lang="it-IT" sz="2400" dirty="0"/>
              <a:t> a point of </a:t>
            </a:r>
            <a:r>
              <a:rPr lang="it-IT" sz="2400" dirty="0" err="1"/>
              <a:t>interest</a:t>
            </a:r>
            <a:r>
              <a:rPr lang="it-IT" sz="2400" dirty="0"/>
              <a:t> for the </a:t>
            </a:r>
            <a:r>
              <a:rPr lang="it-IT" sz="2400" dirty="0" err="1"/>
              <a:t>analysis</a:t>
            </a:r>
            <a:endParaRPr lang="it-IT" sz="2400" dirty="0"/>
          </a:p>
          <a:p>
            <a:pPr lvl="1"/>
            <a:r>
              <a:rPr lang="it-IT" sz="2400" dirty="0" err="1"/>
              <a:t>Having</a:t>
            </a:r>
            <a:r>
              <a:rPr lang="it-IT" sz="2400" dirty="0"/>
              <a:t> </a:t>
            </a:r>
            <a:r>
              <a:rPr lang="it-IT" sz="2400" dirty="0" err="1"/>
              <a:t>different</a:t>
            </a:r>
            <a:r>
              <a:rPr lang="it-IT" sz="2400" dirty="0"/>
              <a:t> </a:t>
            </a:r>
            <a:r>
              <a:rPr lang="it-IT" sz="2400" dirty="0" err="1"/>
              <a:t>kind</a:t>
            </a:r>
            <a:r>
              <a:rPr lang="it-IT" sz="2400" dirty="0"/>
              <a:t> of </a:t>
            </a:r>
            <a:r>
              <a:rPr lang="it-IT" sz="2400" dirty="0" err="1"/>
              <a:t>raw</a:t>
            </a:r>
            <a:r>
              <a:rPr lang="it-IT" sz="2400" dirty="0"/>
              <a:t> data (</a:t>
            </a:r>
            <a:r>
              <a:rPr lang="it-IT" sz="2400" dirty="0" err="1"/>
              <a:t>actual</a:t>
            </a:r>
            <a:r>
              <a:rPr lang="it-IT" sz="2400" dirty="0"/>
              <a:t> prices, % trends) </a:t>
            </a:r>
            <a:r>
              <a:rPr lang="it-IT" sz="2400" dirty="0" err="1"/>
              <a:t>these</a:t>
            </a:r>
            <a:r>
              <a:rPr lang="it-IT" sz="2400" dirty="0"/>
              <a:t> data </a:t>
            </a:r>
            <a:r>
              <a:rPr lang="it-IT" sz="2400" dirty="0" err="1"/>
              <a:t>could</a:t>
            </a:r>
            <a:r>
              <a:rPr lang="it-IT" sz="2400" dirty="0"/>
              <a:t> be </a:t>
            </a:r>
            <a:r>
              <a:rPr lang="it-IT" sz="2400" dirty="0" err="1"/>
              <a:t>subjected</a:t>
            </a:r>
            <a:r>
              <a:rPr lang="it-IT" sz="2400" dirty="0"/>
              <a:t> to </a:t>
            </a:r>
            <a:r>
              <a:rPr lang="it-IT" sz="2400" dirty="0" err="1"/>
              <a:t>different</a:t>
            </a:r>
            <a:r>
              <a:rPr lang="it-IT" sz="2400" dirty="0"/>
              <a:t> </a:t>
            </a:r>
            <a:r>
              <a:rPr lang="it-IT" sz="2400" dirty="0" err="1"/>
              <a:t>types</a:t>
            </a:r>
            <a:r>
              <a:rPr lang="it-IT" sz="2400" dirty="0"/>
              <a:t> of </a:t>
            </a:r>
            <a:r>
              <a:rPr lang="it-IT" sz="2400" dirty="0" err="1"/>
              <a:t>normalization</a:t>
            </a:r>
            <a:r>
              <a:rPr lang="it-IT" sz="2400" dirty="0"/>
              <a:t> (or </a:t>
            </a:r>
            <a:r>
              <a:rPr lang="it-IT" sz="2400" dirty="0" err="1"/>
              <a:t>its</a:t>
            </a:r>
            <a:r>
              <a:rPr lang="it-IT" sz="2400" dirty="0"/>
              <a:t> </a:t>
            </a:r>
            <a:r>
              <a:rPr lang="it-IT" sz="2400" dirty="0" err="1"/>
              <a:t>absence</a:t>
            </a:r>
            <a:r>
              <a:rPr lang="it-IT" sz="2400" dirty="0"/>
              <a:t>)</a:t>
            </a:r>
          </a:p>
          <a:p>
            <a:r>
              <a:rPr lang="it-IT" sz="2800" dirty="0"/>
              <a:t>Post-processing </a:t>
            </a:r>
            <a:r>
              <a:rPr lang="it-IT" sz="2800" dirty="0" err="1"/>
              <a:t>module</a:t>
            </a:r>
            <a:r>
              <a:rPr lang="it-IT" sz="2800" dirty="0"/>
              <a:t> </a:t>
            </a:r>
            <a:endParaRPr lang="en-US" sz="2800" dirty="0"/>
          </a:p>
          <a:p>
            <a:pPr marL="342000" lvl="1" indent="0">
              <a:buNone/>
            </a:pPr>
            <a:endParaRPr lang="en-US" sz="2800" dirty="0"/>
          </a:p>
        </p:txBody>
      </p:sp>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p:txBody>
          <a:bodyPr/>
          <a:lstStyle/>
          <a:p>
            <a:pPr>
              <a:lnSpc>
                <a:spcPct val="100000"/>
              </a:lnSpc>
            </a:pPr>
            <a:r>
              <a:rPr lang="en-US" sz="2800" dirty="0"/>
              <a:t>Hierarchical Clustering procedure</a:t>
            </a:r>
          </a:p>
        </p:txBody>
      </p:sp>
      <p:pic>
        <p:nvPicPr>
          <p:cNvPr id="4" name="Picture 3">
            <a:extLst>
              <a:ext uri="{FF2B5EF4-FFF2-40B4-BE49-F238E27FC236}">
                <a16:creationId xmlns:a16="http://schemas.microsoft.com/office/drawing/2014/main" id="{CDC24BDA-1461-335E-61DF-9C060729276F}"/>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39516804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6E8009-34F7-3A88-4923-EC6F62ABFCCE}"/>
              </a:ext>
            </a:extLst>
          </p:cNvPr>
          <p:cNvSpPr>
            <a:spLocks noGrp="1"/>
          </p:cNvSpPr>
          <p:nvPr>
            <p:ph idx="13"/>
          </p:nvPr>
        </p:nvSpPr>
        <p:spPr/>
        <p:txBody>
          <a:bodyPr>
            <a:normAutofit fontScale="77500" lnSpcReduction="20000"/>
          </a:bodyPr>
          <a:lstStyle/>
          <a:p>
            <a:pPr marL="0" indent="0">
              <a:buNone/>
            </a:pPr>
            <a:r>
              <a:rPr lang="en-US" sz="1600" dirty="0"/>
              <a:t>Different types of normalization studied:</a:t>
            </a:r>
          </a:p>
          <a:p>
            <a:pPr marL="0" indent="0">
              <a:buNone/>
            </a:pPr>
            <a:r>
              <a:rPr lang="en-US" sz="1600" dirty="0">
                <a:solidFill>
                  <a:srgbClr val="FF0000"/>
                </a:solidFill>
              </a:rPr>
              <a:t>Max normalization</a:t>
            </a:r>
            <a:r>
              <a:rPr lang="en-US" sz="1600" dirty="0"/>
              <a:t>:</a:t>
            </a:r>
          </a:p>
          <a:p>
            <a:r>
              <a:rPr lang="en-US" sz="1800" dirty="0"/>
              <a:t>Pros: </a:t>
            </a:r>
          </a:p>
          <a:p>
            <a:pPr lvl="1"/>
            <a:r>
              <a:rPr lang="en-US" sz="1700" dirty="0"/>
              <a:t>Particularly useful when you want to preserve the zero-center of the data.</a:t>
            </a:r>
          </a:p>
          <a:p>
            <a:pPr lvl="1"/>
            <a:r>
              <a:rPr lang="en-US" sz="1700" dirty="0"/>
              <a:t>Simple to implement, effective for data with outliers, and keeps the original sign of the data.</a:t>
            </a:r>
          </a:p>
          <a:p>
            <a:r>
              <a:rPr lang="en-US" sz="1800" dirty="0"/>
              <a:t>Cons:  </a:t>
            </a:r>
          </a:p>
          <a:p>
            <a:pPr lvl="1"/>
            <a:r>
              <a:rPr lang="en-US" sz="1700" dirty="0"/>
              <a:t>It doesn't scale all features to a uniform range like Min-Max scaling, which can be a drawback for some algorithms.</a:t>
            </a:r>
          </a:p>
          <a:p>
            <a:pPr marL="0" indent="0">
              <a:buNone/>
            </a:pPr>
            <a:r>
              <a:rPr lang="en-US" sz="1600" dirty="0">
                <a:solidFill>
                  <a:srgbClr val="00B050"/>
                </a:solidFill>
              </a:rPr>
              <a:t>Min-Max-normalization</a:t>
            </a:r>
            <a:r>
              <a:rPr lang="en-US" sz="1600" dirty="0"/>
              <a:t>:</a:t>
            </a:r>
          </a:p>
          <a:p>
            <a:r>
              <a:rPr lang="en-US" sz="1800" dirty="0"/>
              <a:t>Pros: </a:t>
            </a:r>
          </a:p>
          <a:p>
            <a:pPr lvl="1"/>
            <a:r>
              <a:rPr lang="en-US" sz="1700" dirty="0"/>
              <a:t>It ensures that all features contribute equally to the distance calculation by compressing all values into the same specified (uniform) range </a:t>
            </a:r>
            <a:r>
              <a:rPr lang="en-US" sz="1700" dirty="0">
                <a:sym typeface="Wingdings" panose="05000000000000000000" pitchFamily="2" charset="2"/>
              </a:rPr>
              <a:t> common for preparing data for machine learning models</a:t>
            </a:r>
            <a:endParaRPr lang="en-US" sz="1700" dirty="0"/>
          </a:p>
          <a:p>
            <a:r>
              <a:rPr lang="en-US" sz="1800" dirty="0"/>
              <a:t>Cons:</a:t>
            </a:r>
          </a:p>
          <a:p>
            <a:pPr lvl="1"/>
            <a:r>
              <a:rPr lang="en-US" sz="1700" dirty="0"/>
              <a:t>It is highly susceptible to the presence of outliers. A single extreme outlier can compress the majority of the data into a very small range</a:t>
            </a:r>
          </a:p>
          <a:p>
            <a:pPr marL="0" indent="0">
              <a:buNone/>
            </a:pPr>
            <a:r>
              <a:rPr lang="en-US" sz="1600" dirty="0">
                <a:solidFill>
                  <a:srgbClr val="0070C0"/>
                </a:solidFill>
              </a:rPr>
              <a:t>Z-score normalization</a:t>
            </a:r>
            <a:r>
              <a:rPr lang="en-US" sz="1600" dirty="0"/>
              <a:t>:</a:t>
            </a:r>
          </a:p>
          <a:p>
            <a:r>
              <a:rPr lang="en-US" sz="1800" dirty="0"/>
              <a:t>Pros: </a:t>
            </a:r>
          </a:p>
          <a:p>
            <a:pPr lvl="1"/>
            <a:r>
              <a:rPr lang="en-US" sz="1700" dirty="0"/>
              <a:t>It is not affected by outliers and is the preferred method for algorithms that assume a normal distribution</a:t>
            </a:r>
          </a:p>
          <a:p>
            <a:r>
              <a:rPr lang="en-US" sz="1800" dirty="0"/>
              <a:t>Cons:</a:t>
            </a:r>
          </a:p>
          <a:p>
            <a:pPr lvl="1"/>
            <a:r>
              <a:rPr lang="en-US" sz="1700" dirty="0"/>
              <a:t>It assumes a normal distribution of the data</a:t>
            </a:r>
          </a:p>
          <a:p>
            <a:pPr marL="0" indent="0">
              <a:buNone/>
            </a:pPr>
            <a:r>
              <a:rPr lang="en-US" sz="1600" dirty="0"/>
              <a:t>No normalization</a:t>
            </a:r>
          </a:p>
          <a:p>
            <a:r>
              <a:rPr lang="en-US" sz="1800" dirty="0"/>
              <a:t>Pros: </a:t>
            </a:r>
          </a:p>
          <a:p>
            <a:pPr lvl="1"/>
            <a:r>
              <a:rPr lang="en-US" sz="1700" dirty="0"/>
              <a:t>Useful if the original scale of data is the most meaningful or is already a scaled range of data</a:t>
            </a:r>
          </a:p>
          <a:p>
            <a:r>
              <a:rPr lang="en-US" sz="1800" dirty="0"/>
              <a:t>Cons: </a:t>
            </a:r>
          </a:p>
          <a:p>
            <a:pPr lvl="1"/>
            <a:r>
              <a:rPr lang="en-US" sz="1700" dirty="0"/>
              <a:t>Features with a larger range will dominate the distance calculations</a:t>
            </a:r>
            <a:endParaRPr lang="en-US" sz="1600" dirty="0"/>
          </a:p>
          <a:p>
            <a:pPr marL="342000" lvl="1" indent="0">
              <a:buNone/>
            </a:pPr>
            <a:endParaRPr lang="en-US" sz="1200" dirty="0"/>
          </a:p>
        </p:txBody>
      </p:sp>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a:xfrm>
            <a:off x="-1" y="5745"/>
            <a:ext cx="9531927" cy="981965"/>
          </a:xfrm>
        </p:spPr>
        <p:txBody>
          <a:bodyPr>
            <a:normAutofit/>
          </a:bodyPr>
          <a:lstStyle/>
          <a:p>
            <a:pPr>
              <a:lnSpc>
                <a:spcPct val="100000"/>
              </a:lnSpc>
            </a:pPr>
            <a:r>
              <a:rPr lang="en-US" sz="2800" dirty="0"/>
              <a:t>Hierarchical Clustering procedure – Data normalization</a:t>
            </a:r>
          </a:p>
        </p:txBody>
      </p:sp>
      <p:pic>
        <p:nvPicPr>
          <p:cNvPr id="5" name="Picture 4">
            <a:extLst>
              <a:ext uri="{FF2B5EF4-FFF2-40B4-BE49-F238E27FC236}">
                <a16:creationId xmlns:a16="http://schemas.microsoft.com/office/drawing/2014/main" id="{B69A5C4C-8F04-8696-3090-3B11EEADCADD}"/>
              </a:ext>
            </a:extLst>
          </p:cNvPr>
          <p:cNvPicPr>
            <a:picLocks noChangeAspect="1"/>
          </p:cNvPicPr>
          <p:nvPr/>
        </p:nvPicPr>
        <p:blipFill>
          <a:blip r:embed="rId2"/>
          <a:stretch>
            <a:fillRect/>
          </a:stretch>
        </p:blipFill>
        <p:spPr>
          <a:xfrm>
            <a:off x="9301848" y="1709958"/>
            <a:ext cx="2180068" cy="726689"/>
          </a:xfrm>
          <a:prstGeom prst="rect">
            <a:avLst/>
          </a:prstGeom>
          <a:ln w="28575">
            <a:solidFill>
              <a:srgbClr val="FF2B2B"/>
            </a:solidFill>
          </a:ln>
        </p:spPr>
      </p:pic>
      <p:pic>
        <p:nvPicPr>
          <p:cNvPr id="7" name="Picture 6">
            <a:extLst>
              <a:ext uri="{FF2B5EF4-FFF2-40B4-BE49-F238E27FC236}">
                <a16:creationId xmlns:a16="http://schemas.microsoft.com/office/drawing/2014/main" id="{8F690EC2-C1C0-26DB-EBAE-3FEC174994D5}"/>
              </a:ext>
            </a:extLst>
          </p:cNvPr>
          <p:cNvPicPr>
            <a:picLocks noChangeAspect="1"/>
          </p:cNvPicPr>
          <p:nvPr/>
        </p:nvPicPr>
        <p:blipFill>
          <a:blip r:embed="rId3"/>
          <a:stretch>
            <a:fillRect/>
          </a:stretch>
        </p:blipFill>
        <p:spPr>
          <a:xfrm>
            <a:off x="9301848" y="4241070"/>
            <a:ext cx="2379320" cy="726689"/>
          </a:xfrm>
          <a:prstGeom prst="rect">
            <a:avLst/>
          </a:prstGeom>
          <a:ln w="28575">
            <a:solidFill>
              <a:srgbClr val="00B050"/>
            </a:solidFill>
          </a:ln>
        </p:spPr>
      </p:pic>
      <p:pic>
        <p:nvPicPr>
          <p:cNvPr id="9" name="Picture 8">
            <a:extLst>
              <a:ext uri="{FF2B5EF4-FFF2-40B4-BE49-F238E27FC236}">
                <a16:creationId xmlns:a16="http://schemas.microsoft.com/office/drawing/2014/main" id="{7AB1F917-22A6-7D4D-2664-CE5F63CE93F6}"/>
              </a:ext>
            </a:extLst>
          </p:cNvPr>
          <p:cNvPicPr>
            <a:picLocks noChangeAspect="1"/>
          </p:cNvPicPr>
          <p:nvPr/>
        </p:nvPicPr>
        <p:blipFill>
          <a:blip r:embed="rId4"/>
          <a:stretch>
            <a:fillRect/>
          </a:stretch>
        </p:blipFill>
        <p:spPr>
          <a:xfrm>
            <a:off x="9301848" y="5148042"/>
            <a:ext cx="2379320" cy="750002"/>
          </a:xfrm>
          <a:prstGeom prst="rect">
            <a:avLst/>
          </a:prstGeom>
          <a:ln w="28575">
            <a:solidFill>
              <a:srgbClr val="0C77C3"/>
            </a:solidFill>
          </a:ln>
        </p:spPr>
      </p:pic>
      <p:pic>
        <p:nvPicPr>
          <p:cNvPr id="4" name="Picture 3">
            <a:extLst>
              <a:ext uri="{FF2B5EF4-FFF2-40B4-BE49-F238E27FC236}">
                <a16:creationId xmlns:a16="http://schemas.microsoft.com/office/drawing/2014/main" id="{73961154-0AC9-316E-373B-81F847A7A123}"/>
              </a:ext>
            </a:extLst>
          </p:cNvPr>
          <p:cNvPicPr>
            <a:picLocks noChangeAspect="1"/>
          </p:cNvPicPr>
          <p:nvPr/>
        </p:nvPicPr>
        <p:blipFill>
          <a:blip r:embed="rId5"/>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26130954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a:xfrm>
            <a:off x="-1" y="5745"/>
            <a:ext cx="9531927" cy="981965"/>
          </a:xfrm>
        </p:spPr>
        <p:txBody>
          <a:bodyPr>
            <a:normAutofit/>
          </a:bodyPr>
          <a:lstStyle/>
          <a:p>
            <a:pPr>
              <a:lnSpc>
                <a:spcPct val="100000"/>
              </a:lnSpc>
            </a:pPr>
            <a:r>
              <a:rPr lang="en-US" sz="2800" dirty="0"/>
              <a:t>Hierarchical Clustering procedure – Data normalization</a:t>
            </a:r>
          </a:p>
        </p:txBody>
      </p:sp>
      <p:pic>
        <p:nvPicPr>
          <p:cNvPr id="10" name="Picture 9">
            <a:extLst>
              <a:ext uri="{FF2B5EF4-FFF2-40B4-BE49-F238E27FC236}">
                <a16:creationId xmlns:a16="http://schemas.microsoft.com/office/drawing/2014/main" id="{F3E23C5A-0F32-F23E-D159-8B40FB42DD58}"/>
              </a:ext>
            </a:extLst>
          </p:cNvPr>
          <p:cNvPicPr>
            <a:picLocks noChangeAspect="1"/>
          </p:cNvPicPr>
          <p:nvPr/>
        </p:nvPicPr>
        <p:blipFill>
          <a:blip r:embed="rId2"/>
          <a:stretch>
            <a:fillRect/>
          </a:stretch>
        </p:blipFill>
        <p:spPr>
          <a:xfrm>
            <a:off x="1330037" y="1074889"/>
            <a:ext cx="9531926" cy="5369651"/>
          </a:xfrm>
          <a:prstGeom prst="rect">
            <a:avLst/>
          </a:prstGeom>
        </p:spPr>
      </p:pic>
      <p:pic>
        <p:nvPicPr>
          <p:cNvPr id="2" name="Picture 1">
            <a:extLst>
              <a:ext uri="{FF2B5EF4-FFF2-40B4-BE49-F238E27FC236}">
                <a16:creationId xmlns:a16="http://schemas.microsoft.com/office/drawing/2014/main" id="{B9EDF8AE-4B01-9130-E1C9-DC2FEB26B982}"/>
              </a:ext>
            </a:extLst>
          </p:cNvPr>
          <p:cNvPicPr>
            <a:picLocks noChangeAspect="1"/>
          </p:cNvPicPr>
          <p:nvPr/>
        </p:nvPicPr>
        <p:blipFill>
          <a:blip r:embed="rId3"/>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20241722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ACF71F-768B-BE8F-6E9D-93C60B610C48}"/>
              </a:ext>
            </a:extLst>
          </p:cNvPr>
          <p:cNvSpPr>
            <a:spLocks noGrp="1"/>
          </p:cNvSpPr>
          <p:nvPr>
            <p:ph idx="13"/>
          </p:nvPr>
        </p:nvSpPr>
        <p:spPr/>
        <p:txBody>
          <a:bodyPr/>
          <a:lstStyle/>
          <a:p>
            <a:r>
              <a:rPr lang="en-US" dirty="0"/>
              <a:t>No normalization: Not significant </a:t>
            </a:r>
          </a:p>
          <a:p>
            <a:pPr lvl="1"/>
            <a:r>
              <a:rPr lang="en-US" dirty="0"/>
              <a:t>Ward and k-means minimize Euclidean distortion. Without scaling, features with </a:t>
            </a:r>
            <a:r>
              <a:rPr lang="en-US" b="1" dirty="0"/>
              <a:t>large variance/units</a:t>
            </a:r>
            <a:r>
              <a:rPr lang="en-US" dirty="0"/>
              <a:t> dominate the geometry.</a:t>
            </a:r>
          </a:p>
          <a:p>
            <a:pPr lvl="1"/>
            <a:r>
              <a:rPr lang="en-US" dirty="0"/>
              <a:t>A higher Silhouette under “none” often reflects </a:t>
            </a:r>
            <a:r>
              <a:rPr lang="en-US" b="1" dirty="0"/>
              <a:t>scale dominance</a:t>
            </a:r>
            <a:r>
              <a:rPr lang="en-US" dirty="0"/>
              <a:t> rather than a truer regime structure</a:t>
            </a:r>
          </a:p>
          <a:p>
            <a:r>
              <a:rPr lang="it-IT" dirty="0">
                <a:solidFill>
                  <a:schemeClr val="accent1"/>
                </a:solidFill>
              </a:rPr>
              <a:t>Z-score</a:t>
            </a:r>
            <a:r>
              <a:rPr lang="it-IT" dirty="0"/>
              <a:t>: </a:t>
            </a:r>
            <a:r>
              <a:rPr lang="it-IT" dirty="0" err="1">
                <a:solidFill>
                  <a:schemeClr val="accent1"/>
                </a:solidFill>
              </a:rPr>
              <a:t>standardization</a:t>
            </a:r>
            <a:endParaRPr lang="en-US" dirty="0">
              <a:solidFill>
                <a:schemeClr val="accent1"/>
              </a:solidFill>
            </a:endParaRPr>
          </a:p>
          <a:p>
            <a:pPr lvl="1"/>
            <a:r>
              <a:rPr lang="en-US" dirty="0"/>
              <a:t>Centers and scales each material to mean 0, </a:t>
            </a:r>
            <a:r>
              <a:rPr lang="en-US" dirty="0" err="1"/>
              <a:t>sd</a:t>
            </a:r>
            <a:r>
              <a:rPr lang="en-US" dirty="0"/>
              <a:t> 1</a:t>
            </a:r>
          </a:p>
          <a:p>
            <a:pPr lvl="1"/>
            <a:r>
              <a:rPr lang="en-US" dirty="0"/>
              <a:t>Preserves </a:t>
            </a:r>
            <a:r>
              <a:rPr lang="en-US" b="1" dirty="0"/>
              <a:t>relative anomalies in σ-units</a:t>
            </a:r>
          </a:p>
          <a:p>
            <a:r>
              <a:rPr lang="it-IT" dirty="0">
                <a:solidFill>
                  <a:schemeClr val="accent6"/>
                </a:solidFill>
              </a:rPr>
              <a:t>Min-max [0,1]</a:t>
            </a:r>
            <a:r>
              <a:rPr lang="en-US" b="1" dirty="0"/>
              <a:t>:</a:t>
            </a:r>
          </a:p>
          <a:p>
            <a:pPr lvl="1"/>
            <a:r>
              <a:rPr lang="en-US" dirty="0"/>
              <a:t>Preserves </a:t>
            </a:r>
            <a:r>
              <a:rPr lang="en-US" i="1" dirty="0"/>
              <a:t>shape</a:t>
            </a:r>
            <a:r>
              <a:rPr lang="en-US" dirty="0"/>
              <a:t> and </a:t>
            </a:r>
            <a:r>
              <a:rPr lang="en-US" i="1" dirty="0"/>
              <a:t>rank</a:t>
            </a:r>
            <a:r>
              <a:rPr lang="en-US" dirty="0"/>
              <a:t> of each series; keeps all materials on the </a:t>
            </a:r>
            <a:r>
              <a:rPr lang="en-US" b="1" dirty="0"/>
              <a:t>same numeric range</a:t>
            </a:r>
          </a:p>
          <a:p>
            <a:pPr lvl="1"/>
            <a:r>
              <a:rPr lang="en-US" dirty="0"/>
              <a:t>More robust for </a:t>
            </a:r>
            <a:r>
              <a:rPr lang="en-US" b="1" dirty="0"/>
              <a:t>bounded/% change</a:t>
            </a:r>
            <a:r>
              <a:rPr lang="en-US" dirty="0"/>
              <a:t> panels and when you don’t want z-score to over-emphasize short, choppy series</a:t>
            </a:r>
            <a:endParaRPr lang="en-US" b="1" dirty="0"/>
          </a:p>
          <a:p>
            <a:pPr lvl="1"/>
            <a:r>
              <a:rPr lang="en-US" dirty="0"/>
              <a:t>Makes charts directly comparable in “percent of range” space</a:t>
            </a:r>
          </a:p>
        </p:txBody>
      </p:sp>
      <p:sp>
        <p:nvSpPr>
          <p:cNvPr id="3" name="Title 2">
            <a:extLst>
              <a:ext uri="{FF2B5EF4-FFF2-40B4-BE49-F238E27FC236}">
                <a16:creationId xmlns:a16="http://schemas.microsoft.com/office/drawing/2014/main" id="{38BF79D0-A353-9C8A-8187-083B8E15E681}"/>
              </a:ext>
            </a:extLst>
          </p:cNvPr>
          <p:cNvSpPr>
            <a:spLocks noGrp="1"/>
          </p:cNvSpPr>
          <p:nvPr>
            <p:ph type="title"/>
          </p:nvPr>
        </p:nvSpPr>
        <p:spPr/>
        <p:txBody>
          <a:bodyPr/>
          <a:lstStyle/>
          <a:p>
            <a:r>
              <a:rPr lang="en-US" sz="2800" dirty="0"/>
              <a:t>Hierarchical Clustering procedure – Data normalization</a:t>
            </a:r>
            <a:endParaRPr lang="en-US" dirty="0"/>
          </a:p>
        </p:txBody>
      </p:sp>
      <p:pic>
        <p:nvPicPr>
          <p:cNvPr id="4" name="Picture 3">
            <a:extLst>
              <a:ext uri="{FF2B5EF4-FFF2-40B4-BE49-F238E27FC236}">
                <a16:creationId xmlns:a16="http://schemas.microsoft.com/office/drawing/2014/main" id="{6BF8E82B-CD6B-BFA0-AB27-587F09F9D2C4}"/>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2761807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A49D20-B787-8F95-B038-FC47F3224652}"/>
              </a:ext>
            </a:extLst>
          </p:cNvPr>
          <p:cNvSpPr>
            <a:spLocks noGrp="1"/>
          </p:cNvSpPr>
          <p:nvPr>
            <p:ph idx="13"/>
          </p:nvPr>
        </p:nvSpPr>
        <p:spPr/>
        <p:txBody>
          <a:bodyPr/>
          <a:lstStyle/>
          <a:p>
            <a:pPr marL="0" indent="0">
              <a:buNone/>
            </a:pPr>
            <a:r>
              <a:rPr lang="en-US" dirty="0"/>
              <a:t>Z-score vs min-max:</a:t>
            </a:r>
          </a:p>
          <a:p>
            <a:r>
              <a:rPr lang="en-US" dirty="0">
                <a:solidFill>
                  <a:schemeClr val="accent1"/>
                </a:solidFill>
              </a:rPr>
              <a:t>Z-score</a:t>
            </a:r>
            <a:r>
              <a:rPr lang="en-US" dirty="0"/>
              <a:t>:</a:t>
            </a:r>
          </a:p>
          <a:p>
            <a:pPr lvl="1"/>
            <a:r>
              <a:rPr lang="en-US" dirty="0"/>
              <a:t>When you will interpret regime strength in σ units </a:t>
            </a:r>
          </a:p>
          <a:p>
            <a:pPr lvl="1"/>
            <a:r>
              <a:rPr lang="en-US" dirty="0"/>
              <a:t>When outliers are not extreme</a:t>
            </a:r>
          </a:p>
          <a:p>
            <a:r>
              <a:rPr lang="en-US" dirty="0">
                <a:solidFill>
                  <a:schemeClr val="accent6"/>
                </a:solidFill>
              </a:rPr>
              <a:t>Min-max</a:t>
            </a:r>
            <a:r>
              <a:rPr lang="en-US" dirty="0"/>
              <a:t>:</a:t>
            </a:r>
          </a:p>
          <a:p>
            <a:pPr lvl="1"/>
            <a:r>
              <a:rPr lang="en-US" dirty="0"/>
              <a:t>When distributions are skewed or bounded; when you want to keep monotone relationships intact</a:t>
            </a:r>
          </a:p>
          <a:p>
            <a:pPr lvl="1"/>
            <a:r>
              <a:rPr lang="en-US" dirty="0"/>
              <a:t>When you expect multi-material co-movement to reflect </a:t>
            </a:r>
            <a:r>
              <a:rPr lang="en-US" b="1" dirty="0"/>
              <a:t>relative positions within each series’ range</a:t>
            </a:r>
            <a:endParaRPr lang="en-US" dirty="0"/>
          </a:p>
          <a:p>
            <a:pPr lvl="2"/>
            <a:endParaRPr lang="en-US" dirty="0"/>
          </a:p>
        </p:txBody>
      </p:sp>
      <p:sp>
        <p:nvSpPr>
          <p:cNvPr id="3" name="Title 2">
            <a:extLst>
              <a:ext uri="{FF2B5EF4-FFF2-40B4-BE49-F238E27FC236}">
                <a16:creationId xmlns:a16="http://schemas.microsoft.com/office/drawing/2014/main" id="{56139371-BB37-E259-D685-A9887A7EA025}"/>
              </a:ext>
            </a:extLst>
          </p:cNvPr>
          <p:cNvSpPr>
            <a:spLocks noGrp="1"/>
          </p:cNvSpPr>
          <p:nvPr>
            <p:ph type="title"/>
          </p:nvPr>
        </p:nvSpPr>
        <p:spPr/>
        <p:txBody>
          <a:bodyPr/>
          <a:lstStyle/>
          <a:p>
            <a:r>
              <a:rPr lang="en-US" sz="2800" dirty="0"/>
              <a:t>Hierarchical Clustering procedure – Data normalization</a:t>
            </a:r>
            <a:endParaRPr lang="en-US" dirty="0"/>
          </a:p>
        </p:txBody>
      </p:sp>
      <p:pic>
        <p:nvPicPr>
          <p:cNvPr id="4" name="Picture 3">
            <a:extLst>
              <a:ext uri="{FF2B5EF4-FFF2-40B4-BE49-F238E27FC236}">
                <a16:creationId xmlns:a16="http://schemas.microsoft.com/office/drawing/2014/main" id="{B137D39E-11CB-E167-547F-CD3DBD4F0533}"/>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37433932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6E8009-34F7-3A88-4923-EC6F62ABFCCE}"/>
              </a:ext>
            </a:extLst>
          </p:cNvPr>
          <p:cNvSpPr>
            <a:spLocks noGrp="1"/>
          </p:cNvSpPr>
          <p:nvPr>
            <p:ph idx="13"/>
          </p:nvPr>
        </p:nvSpPr>
        <p:spPr/>
        <p:txBody>
          <a:bodyPr>
            <a:normAutofit lnSpcReduction="10000"/>
          </a:bodyPr>
          <a:lstStyle/>
          <a:p>
            <a:r>
              <a:rPr lang="it-IT" sz="3200" dirty="0" err="1"/>
              <a:t>Hierarchical</a:t>
            </a:r>
            <a:r>
              <a:rPr lang="it-IT" sz="3200" dirty="0"/>
              <a:t> clustering and </a:t>
            </a:r>
            <a:r>
              <a:rPr lang="it-IT" sz="3200" dirty="0" err="1"/>
              <a:t>dendogram</a:t>
            </a:r>
            <a:r>
              <a:rPr lang="it-IT" sz="3200" dirty="0"/>
              <a:t> </a:t>
            </a:r>
            <a:r>
              <a:rPr lang="it-IT" sz="3200" dirty="0" err="1"/>
              <a:t>visualization</a:t>
            </a:r>
            <a:r>
              <a:rPr lang="it-IT" sz="3200" dirty="0"/>
              <a:t>:</a:t>
            </a:r>
          </a:p>
          <a:p>
            <a:pPr lvl="1"/>
            <a:r>
              <a:rPr lang="it-IT" sz="2800" dirty="0"/>
              <a:t>Computing </a:t>
            </a:r>
            <a:r>
              <a:rPr lang="it-IT" sz="2800" dirty="0" err="1"/>
              <a:t>distance</a:t>
            </a:r>
            <a:r>
              <a:rPr lang="it-IT" sz="2800" dirty="0"/>
              <a:t> </a:t>
            </a:r>
            <a:r>
              <a:rPr lang="it-IT" sz="2800" dirty="0" err="1"/>
              <a:t>matrix</a:t>
            </a:r>
            <a:r>
              <a:rPr lang="it-IT" sz="2800" dirty="0"/>
              <a:t> </a:t>
            </a:r>
            <a:r>
              <a:rPr lang="it-IT" sz="2800" dirty="0" err="1"/>
              <a:t>as</a:t>
            </a:r>
            <a:r>
              <a:rPr lang="it-IT" sz="2800" dirty="0"/>
              <a:t> </a:t>
            </a:r>
            <a:r>
              <a:rPr lang="it-IT" sz="2800" dirty="0" err="1"/>
              <a:t>euclidean</a:t>
            </a:r>
            <a:r>
              <a:rPr lang="it-IT" sz="2800" dirty="0"/>
              <a:t> </a:t>
            </a:r>
            <a:r>
              <a:rPr lang="it-IT" sz="2800" dirty="0" err="1"/>
              <a:t>distances</a:t>
            </a:r>
            <a:endParaRPr lang="it-IT" sz="2800" dirty="0"/>
          </a:p>
          <a:p>
            <a:pPr lvl="1"/>
            <a:r>
              <a:rPr lang="en-US" sz="2800" dirty="0"/>
              <a:t>Hierarchical(Agglomerative) clustering and </a:t>
            </a:r>
            <a:r>
              <a:rPr lang="en-US" sz="2800" dirty="0" err="1"/>
              <a:t>dengrogram</a:t>
            </a:r>
            <a:r>
              <a:rPr lang="en-US" sz="2800" dirty="0"/>
              <a:t> visualization</a:t>
            </a:r>
          </a:p>
          <a:p>
            <a:pPr lvl="2"/>
            <a:r>
              <a:rPr lang="en-US" sz="2400" dirty="0"/>
              <a:t>Hierarchical clustering of pairwise distances through the </a:t>
            </a:r>
            <a:r>
              <a:rPr lang="en-US" sz="2400" b="1" dirty="0"/>
              <a:t>“ward” linkage method</a:t>
            </a:r>
          </a:p>
          <a:p>
            <a:pPr lvl="3"/>
            <a:r>
              <a:rPr lang="en-US" sz="2000" b="1" dirty="0"/>
              <a:t>Agglomerative</a:t>
            </a:r>
            <a:r>
              <a:rPr lang="en-US" sz="2000" dirty="0"/>
              <a:t> algorithms start with the objects as singletons (clusters with one object) and at each step merge the closest pair of clusters according to a proximity measure</a:t>
            </a:r>
          </a:p>
          <a:p>
            <a:pPr lvl="3"/>
            <a:r>
              <a:rPr lang="en-US" sz="2000" dirty="0"/>
              <a:t>The Ward linkage method is based on the concept of </a:t>
            </a:r>
            <a:r>
              <a:rPr lang="en-US" sz="2000" b="1" dirty="0"/>
              <a:t>minimizing variance</a:t>
            </a:r>
            <a:r>
              <a:rPr lang="en-US" sz="2000" dirty="0"/>
              <a:t>. At each step, it identifies the pair of clusters that, when merged, will result in the smallest possible increase in the total within-cluster variance. In other words, it looks for the two clusters that are "most similar" in a way that preserves the tightness of the resulting new cluster.</a:t>
            </a:r>
          </a:p>
          <a:p>
            <a:pPr lvl="2"/>
            <a:r>
              <a:rPr lang="en-US" sz="2400" dirty="0"/>
              <a:t>Visual representation of the clustering</a:t>
            </a:r>
          </a:p>
          <a:p>
            <a:pPr lvl="1"/>
            <a:endParaRPr lang="it-IT" sz="2400" dirty="0"/>
          </a:p>
          <a:p>
            <a:pPr lvl="1"/>
            <a:endParaRPr lang="it-IT" sz="2400" dirty="0"/>
          </a:p>
          <a:p>
            <a:pPr lvl="1"/>
            <a:endParaRPr lang="en-US" sz="2800" dirty="0"/>
          </a:p>
          <a:p>
            <a:pPr marL="342000" lvl="1" indent="0">
              <a:buNone/>
            </a:pPr>
            <a:endParaRPr lang="en-US" sz="2800" dirty="0"/>
          </a:p>
        </p:txBody>
      </p:sp>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p:txBody>
          <a:bodyPr/>
          <a:lstStyle/>
          <a:p>
            <a:pPr>
              <a:lnSpc>
                <a:spcPct val="100000"/>
              </a:lnSpc>
            </a:pPr>
            <a:r>
              <a:rPr lang="en-US" sz="2800" dirty="0"/>
              <a:t>Hierarchical Clustering procedure - steps</a:t>
            </a:r>
          </a:p>
        </p:txBody>
      </p:sp>
      <p:pic>
        <p:nvPicPr>
          <p:cNvPr id="4" name="Picture 3">
            <a:extLst>
              <a:ext uri="{FF2B5EF4-FFF2-40B4-BE49-F238E27FC236}">
                <a16:creationId xmlns:a16="http://schemas.microsoft.com/office/drawing/2014/main" id="{DA94B67D-1E2A-924B-8D64-CF5A2678D756}"/>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10252278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6E8009-34F7-3A88-4923-EC6F62ABFCCE}"/>
              </a:ext>
            </a:extLst>
          </p:cNvPr>
          <p:cNvSpPr>
            <a:spLocks noGrp="1"/>
          </p:cNvSpPr>
          <p:nvPr>
            <p:ph idx="13"/>
          </p:nvPr>
        </p:nvSpPr>
        <p:spPr/>
        <p:txBody>
          <a:bodyPr>
            <a:normAutofit/>
          </a:bodyPr>
          <a:lstStyle/>
          <a:p>
            <a:r>
              <a:rPr lang="en-US" sz="2800" dirty="0"/>
              <a:t>Determining optimal number of clusters through the Silhouette score:</a:t>
            </a:r>
          </a:p>
          <a:p>
            <a:pPr lvl="1"/>
            <a:r>
              <a:rPr lang="en-US" sz="2400" i="1" dirty="0">
                <a:solidFill>
                  <a:srgbClr val="0070C0"/>
                </a:solidFill>
              </a:rPr>
              <a:t>A good cluster analysis should lead to the identification of sub dataset that are </a:t>
            </a:r>
            <a:r>
              <a:rPr lang="en-US" sz="2400" i="1" dirty="0" err="1">
                <a:solidFill>
                  <a:srgbClr val="0070C0"/>
                </a:solidFill>
              </a:rPr>
              <a:t>characterised</a:t>
            </a:r>
            <a:r>
              <a:rPr lang="en-US" sz="2400" i="1" dirty="0">
                <a:solidFill>
                  <a:srgbClr val="0070C0"/>
                </a:solidFill>
              </a:rPr>
              <a:t> by high intra-class and low inter-class similarity</a:t>
            </a:r>
          </a:p>
          <a:p>
            <a:pPr lvl="1"/>
            <a:r>
              <a:rPr lang="en-US" sz="2400" dirty="0"/>
              <a:t>Silhouette Score: This metric measures how similar a data point is to its own cluster compared to other clusters:</a:t>
            </a:r>
          </a:p>
          <a:p>
            <a:pPr lvl="2"/>
            <a:r>
              <a:rPr lang="en-US" sz="2000" dirty="0"/>
              <a:t>A score close to +1 means data points are well-clustered and far from neighboring clusters. This is ideal</a:t>
            </a:r>
          </a:p>
          <a:p>
            <a:pPr lvl="2"/>
            <a:r>
              <a:rPr lang="en-US" sz="2000" dirty="0"/>
              <a:t>A score near 0 indicates overlapping clusters</a:t>
            </a:r>
          </a:p>
          <a:p>
            <a:pPr lvl="2"/>
            <a:r>
              <a:rPr lang="en-US" sz="2000" dirty="0"/>
              <a:t>A score close to -1 suggests data points have been assigned to the wrong clusters</a:t>
            </a:r>
          </a:p>
          <a:p>
            <a:pPr lvl="1"/>
            <a:r>
              <a:rPr lang="en-US" sz="2400" dirty="0">
                <a:sym typeface="Wingdings" panose="05000000000000000000" pitchFamily="2" charset="2"/>
              </a:rPr>
              <a:t> It’s preferable to find the </a:t>
            </a:r>
            <a:r>
              <a:rPr lang="en-US" sz="2400" b="1" dirty="0">
                <a:sym typeface="Wingdings" panose="05000000000000000000" pitchFamily="2" charset="2"/>
              </a:rPr>
              <a:t>number of clusters that maximizes the silhouette score</a:t>
            </a:r>
          </a:p>
          <a:p>
            <a:pPr lvl="2"/>
            <a:r>
              <a:rPr lang="en-US" sz="2000" b="1" dirty="0">
                <a:sym typeface="Wingdings" panose="05000000000000000000" pitchFamily="2" charset="2"/>
              </a:rPr>
              <a:t>Here the Silhouette score is applied to determine the optimal number of clusters, </a:t>
            </a:r>
            <a:r>
              <a:rPr lang="en-US" sz="2000" dirty="0">
                <a:sym typeface="Wingdings" panose="05000000000000000000" pitchFamily="2" charset="2"/>
              </a:rPr>
              <a:t>between 2 and 10 clusters (can be modified)</a:t>
            </a:r>
          </a:p>
          <a:p>
            <a:pPr lvl="1"/>
            <a:endParaRPr lang="it-IT" sz="2400" dirty="0"/>
          </a:p>
          <a:p>
            <a:pPr lvl="1"/>
            <a:endParaRPr lang="it-IT" sz="2400" dirty="0"/>
          </a:p>
          <a:p>
            <a:pPr lvl="1"/>
            <a:endParaRPr lang="en-US" sz="2800" dirty="0"/>
          </a:p>
          <a:p>
            <a:pPr marL="342000" lvl="1" indent="0">
              <a:buNone/>
            </a:pPr>
            <a:endParaRPr lang="en-US" sz="2800" dirty="0"/>
          </a:p>
        </p:txBody>
      </p:sp>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p:txBody>
          <a:bodyPr/>
          <a:lstStyle/>
          <a:p>
            <a:pPr>
              <a:lnSpc>
                <a:spcPct val="100000"/>
              </a:lnSpc>
            </a:pPr>
            <a:r>
              <a:rPr lang="en-US" sz="2800" dirty="0"/>
              <a:t>Hierarchical Clustering procedure – Quality indices</a:t>
            </a:r>
          </a:p>
        </p:txBody>
      </p:sp>
      <p:pic>
        <p:nvPicPr>
          <p:cNvPr id="4" name="Picture 3">
            <a:extLst>
              <a:ext uri="{FF2B5EF4-FFF2-40B4-BE49-F238E27FC236}">
                <a16:creationId xmlns:a16="http://schemas.microsoft.com/office/drawing/2014/main" id="{3EF14623-3B0A-630A-88C7-8CCA5CD0188E}"/>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3985513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2204DD-BE1E-D6C2-ECCF-39A7BE8F7E50}"/>
              </a:ext>
            </a:extLst>
          </p:cNvPr>
          <p:cNvSpPr>
            <a:spLocks noGrp="1"/>
          </p:cNvSpPr>
          <p:nvPr>
            <p:ph idx="13"/>
          </p:nvPr>
        </p:nvSpPr>
        <p:spPr/>
        <p:txBody>
          <a:bodyPr/>
          <a:lstStyle/>
          <a:p>
            <a:r>
              <a:rPr lang="en-US" sz="2800" dirty="0">
                <a:sym typeface="Wingdings" panose="05000000000000000000" pitchFamily="2" charset="2"/>
              </a:rPr>
              <a:t>Also the Davies-Bouldin Index is here computed (but not selected as the main criteria for number of clusters selection)</a:t>
            </a:r>
          </a:p>
          <a:p>
            <a:pPr lvl="1"/>
            <a:r>
              <a:rPr lang="en-US" sz="2400" dirty="0">
                <a:sym typeface="Wingdings" panose="05000000000000000000" pitchFamily="2" charset="2"/>
              </a:rPr>
              <a:t>This metric measures the ratio of within-cluster scatter to between-cluster separation</a:t>
            </a:r>
          </a:p>
          <a:p>
            <a:pPr lvl="1"/>
            <a:r>
              <a:rPr lang="en-US" sz="2400" dirty="0">
                <a:sym typeface="Wingdings" panose="05000000000000000000" pitchFamily="2" charset="2"/>
              </a:rPr>
              <a:t>The selected number of clusters should minimize the Davies-Boulding Index</a:t>
            </a:r>
          </a:p>
          <a:p>
            <a:r>
              <a:rPr lang="en-US" sz="2800" dirty="0">
                <a:sym typeface="Wingdings" panose="05000000000000000000" pitchFamily="2" charset="2"/>
              </a:rPr>
              <a:t>Similarly, the </a:t>
            </a:r>
            <a:r>
              <a:rPr lang="en-US" sz="2800" dirty="0" err="1">
                <a:sym typeface="Wingdings" panose="05000000000000000000" pitchFamily="2" charset="2"/>
              </a:rPr>
              <a:t>Calinski-Harabasz</a:t>
            </a:r>
            <a:r>
              <a:rPr lang="en-US" sz="2800" dirty="0">
                <a:sym typeface="Wingdings" panose="05000000000000000000" pitchFamily="2" charset="2"/>
              </a:rPr>
              <a:t> index was included </a:t>
            </a:r>
            <a:endParaRPr lang="en-US" sz="2800" dirty="0"/>
          </a:p>
          <a:p>
            <a:endParaRPr lang="en-US" dirty="0"/>
          </a:p>
        </p:txBody>
      </p:sp>
      <p:sp>
        <p:nvSpPr>
          <p:cNvPr id="3" name="Title 2">
            <a:extLst>
              <a:ext uri="{FF2B5EF4-FFF2-40B4-BE49-F238E27FC236}">
                <a16:creationId xmlns:a16="http://schemas.microsoft.com/office/drawing/2014/main" id="{B4C54161-754E-5F90-62F8-E3F0E70ECFA7}"/>
              </a:ext>
            </a:extLst>
          </p:cNvPr>
          <p:cNvSpPr>
            <a:spLocks noGrp="1"/>
          </p:cNvSpPr>
          <p:nvPr>
            <p:ph type="title"/>
          </p:nvPr>
        </p:nvSpPr>
        <p:spPr/>
        <p:txBody>
          <a:bodyPr/>
          <a:lstStyle/>
          <a:p>
            <a:r>
              <a:rPr lang="en-US" sz="2800" dirty="0"/>
              <a:t>Hierarchical Clustering procedure – Quality indices</a:t>
            </a:r>
            <a:endParaRPr lang="en-US" dirty="0"/>
          </a:p>
        </p:txBody>
      </p:sp>
      <p:pic>
        <p:nvPicPr>
          <p:cNvPr id="4" name="Picture 3">
            <a:extLst>
              <a:ext uri="{FF2B5EF4-FFF2-40B4-BE49-F238E27FC236}">
                <a16:creationId xmlns:a16="http://schemas.microsoft.com/office/drawing/2014/main" id="{A01AC324-870E-7D7F-05C0-A9DEE66DE650}"/>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3761035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C758AB-D64D-1031-B851-A80E518AA153}"/>
              </a:ext>
            </a:extLst>
          </p:cNvPr>
          <p:cNvSpPr>
            <a:spLocks noGrp="1"/>
          </p:cNvSpPr>
          <p:nvPr>
            <p:ph idx="13"/>
          </p:nvPr>
        </p:nvSpPr>
        <p:spPr>
          <a:xfrm>
            <a:off x="653846" y="1204547"/>
            <a:ext cx="11020917" cy="5064369"/>
          </a:xfrm>
        </p:spPr>
        <p:txBody>
          <a:bodyPr>
            <a:normAutofit lnSpcReduction="10000"/>
          </a:bodyPr>
          <a:lstStyle/>
          <a:p>
            <a:pPr marL="0" indent="0">
              <a:buNone/>
            </a:pPr>
            <a:r>
              <a:rPr lang="en-US" dirty="0">
                <a:solidFill>
                  <a:schemeClr val="accent1"/>
                </a:solidFill>
              </a:rPr>
              <a:t>Stability check are included, through the bootstrap procedure</a:t>
            </a:r>
          </a:p>
          <a:p>
            <a:r>
              <a:rPr lang="en-US" b="1" dirty="0"/>
              <a:t>Cluster stability</a:t>
            </a:r>
            <a:r>
              <a:rPr lang="en-US" dirty="0"/>
              <a:t> is the </a:t>
            </a:r>
            <a:r>
              <a:rPr lang="en-US" b="1" dirty="0"/>
              <a:t>average probability</a:t>
            </a:r>
            <a:r>
              <a:rPr lang="en-US" dirty="0"/>
              <a:t> that members of cluster c stay together under perturbations.</a:t>
            </a:r>
          </a:p>
          <a:p>
            <a:endParaRPr lang="en-US" dirty="0"/>
          </a:p>
          <a:p>
            <a:endParaRPr lang="en-US" dirty="0"/>
          </a:p>
          <a:p>
            <a:pPr lvl="1"/>
            <a:r>
              <a:rPr lang="en-US" dirty="0"/>
              <a:t>Build a </a:t>
            </a:r>
            <a:r>
              <a:rPr lang="en-US" b="1" dirty="0"/>
              <a:t>co-assignment matrix</a:t>
            </a:r>
            <a:r>
              <a:rPr lang="en-US" dirty="0"/>
              <a:t> P by re-fitting the clustering many times on perturbed data (bootstrap over features/years). Each entry </a:t>
            </a:r>
            <a:r>
              <a:rPr lang="en-US" dirty="0" err="1"/>
              <a:t>Pij</a:t>
            </a:r>
            <a:r>
              <a:rPr lang="en-US" dirty="0"/>
              <a:t> is the frequency with which years </a:t>
            </a:r>
            <a:r>
              <a:rPr lang="en-US" dirty="0" err="1"/>
              <a:t>i</a:t>
            </a:r>
            <a:r>
              <a:rPr lang="en-US" dirty="0"/>
              <a:t> and j land in the same cluster across bootstraps</a:t>
            </a:r>
          </a:p>
          <a:p>
            <a:pPr lvl="1"/>
            <a:r>
              <a:rPr lang="en-US" b="1" dirty="0"/>
              <a:t>Year consistency</a:t>
            </a:r>
            <a:r>
              <a:rPr lang="en-US" dirty="0"/>
              <a:t> is each year’s average </a:t>
            </a:r>
            <a:r>
              <a:rPr lang="en-US" dirty="0" err="1"/>
              <a:t>Pij</a:t>
            </a:r>
            <a:r>
              <a:rPr lang="en-US" dirty="0"/>
              <a:t>​ with its cluster-mates—useful to spot borderline years.</a:t>
            </a:r>
          </a:p>
          <a:p>
            <a:pPr lvl="1"/>
            <a:r>
              <a:rPr lang="en-US" b="1" dirty="0"/>
              <a:t>ARI</a:t>
            </a:r>
            <a:r>
              <a:rPr lang="en-US" dirty="0"/>
              <a:t> is the adjusted Rand index between the baseline labels and each bootstrap; It’s summarized as a distribution (mean/SD). It’s a </a:t>
            </a:r>
            <a:r>
              <a:rPr lang="en-US" b="1" dirty="0"/>
              <a:t>global</a:t>
            </a:r>
            <a:r>
              <a:rPr lang="en-US" dirty="0"/>
              <a:t> agreement score</a:t>
            </a:r>
          </a:p>
          <a:p>
            <a:pPr>
              <a:buFont typeface="Wingdings" panose="05000000000000000000" pitchFamily="2" charset="2"/>
              <a:buChar char="à"/>
            </a:pPr>
            <a:r>
              <a:rPr lang="en-US" dirty="0" err="1"/>
              <a:t>Stabilityc</a:t>
            </a:r>
            <a:r>
              <a:rPr lang="en-US" dirty="0"/>
              <a:t> ∈ [0,1] behaves like a </a:t>
            </a:r>
            <a:r>
              <a:rPr lang="en-US" b="1" dirty="0"/>
              <a:t>belief</a:t>
            </a:r>
            <a:r>
              <a:rPr lang="en-US" dirty="0"/>
              <a:t> that cluster c is not an artifact of noise or of one exact set of features.</a:t>
            </a:r>
          </a:p>
          <a:p>
            <a:pPr>
              <a:buFont typeface="Wingdings" panose="05000000000000000000" pitchFamily="2" charset="2"/>
              <a:buChar char="à"/>
            </a:pPr>
            <a:r>
              <a:rPr lang="en-US" dirty="0">
                <a:solidFill>
                  <a:schemeClr val="accent1"/>
                </a:solidFill>
              </a:rPr>
              <a:t>Good stability if Sc&gt;0,7</a:t>
            </a:r>
          </a:p>
          <a:p>
            <a:endParaRPr lang="en-US" dirty="0"/>
          </a:p>
        </p:txBody>
      </p:sp>
      <p:sp>
        <p:nvSpPr>
          <p:cNvPr id="3" name="Title 2">
            <a:extLst>
              <a:ext uri="{FF2B5EF4-FFF2-40B4-BE49-F238E27FC236}">
                <a16:creationId xmlns:a16="http://schemas.microsoft.com/office/drawing/2014/main" id="{B6435B43-FCF5-89A0-CFAD-6CAC23A20575}"/>
              </a:ext>
            </a:extLst>
          </p:cNvPr>
          <p:cNvSpPr>
            <a:spLocks noGrp="1"/>
          </p:cNvSpPr>
          <p:nvPr>
            <p:ph type="title"/>
          </p:nvPr>
        </p:nvSpPr>
        <p:spPr/>
        <p:txBody>
          <a:bodyPr/>
          <a:lstStyle/>
          <a:p>
            <a:r>
              <a:rPr lang="en-US" sz="2800" dirty="0"/>
              <a:t>Hierarchical Clustering procedure – Stability check</a:t>
            </a:r>
            <a:endParaRPr lang="en-US" dirty="0"/>
          </a:p>
        </p:txBody>
      </p:sp>
      <p:pic>
        <p:nvPicPr>
          <p:cNvPr id="5" name="Picture 4">
            <a:extLst>
              <a:ext uri="{FF2B5EF4-FFF2-40B4-BE49-F238E27FC236}">
                <a16:creationId xmlns:a16="http://schemas.microsoft.com/office/drawing/2014/main" id="{0A8D158B-7A0E-F878-57CE-7CDF869800EB}"/>
              </a:ext>
            </a:extLst>
          </p:cNvPr>
          <p:cNvPicPr>
            <a:picLocks noChangeAspect="1"/>
          </p:cNvPicPr>
          <p:nvPr/>
        </p:nvPicPr>
        <p:blipFill>
          <a:blip r:embed="rId2"/>
          <a:stretch>
            <a:fillRect/>
          </a:stretch>
        </p:blipFill>
        <p:spPr>
          <a:xfrm>
            <a:off x="4655224" y="2278935"/>
            <a:ext cx="2621507" cy="571550"/>
          </a:xfrm>
          <a:prstGeom prst="rect">
            <a:avLst/>
          </a:prstGeom>
        </p:spPr>
      </p:pic>
      <p:pic>
        <p:nvPicPr>
          <p:cNvPr id="4" name="Picture 3">
            <a:extLst>
              <a:ext uri="{FF2B5EF4-FFF2-40B4-BE49-F238E27FC236}">
                <a16:creationId xmlns:a16="http://schemas.microsoft.com/office/drawing/2014/main" id="{5C78DC7B-21C2-41B7-148B-48A6A36301B7}"/>
              </a:ext>
            </a:extLst>
          </p:cNvPr>
          <p:cNvPicPr>
            <a:picLocks noChangeAspect="1"/>
          </p:cNvPicPr>
          <p:nvPr/>
        </p:nvPicPr>
        <p:blipFill>
          <a:blip r:embed="rId3"/>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2667668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6E8009-34F7-3A88-4923-EC6F62ABFCCE}"/>
              </a:ext>
            </a:extLst>
          </p:cNvPr>
          <p:cNvSpPr>
            <a:spLocks noGrp="1"/>
          </p:cNvSpPr>
          <p:nvPr>
            <p:ph idx="13"/>
          </p:nvPr>
        </p:nvSpPr>
        <p:spPr/>
        <p:txBody>
          <a:bodyPr>
            <a:normAutofit lnSpcReduction="10000"/>
          </a:bodyPr>
          <a:lstStyle/>
          <a:p>
            <a:r>
              <a:rPr lang="en-US" sz="2800" dirty="0"/>
              <a:t>Calculating cluster centroids for each CRM:</a:t>
            </a:r>
          </a:p>
          <a:p>
            <a:pPr lvl="1"/>
            <a:r>
              <a:rPr lang="en-US" sz="2400" dirty="0"/>
              <a:t>Actually the </a:t>
            </a:r>
            <a:r>
              <a:rPr lang="en-US" sz="2400" b="1" dirty="0"/>
              <a:t>centroid</a:t>
            </a:r>
            <a:r>
              <a:rPr lang="en-US" sz="2400" dirty="0"/>
              <a:t> is the average between the raw data of that CRM for those years included in that cluster</a:t>
            </a:r>
          </a:p>
          <a:p>
            <a:pPr lvl="1"/>
            <a:r>
              <a:rPr lang="en-US" sz="2400" dirty="0"/>
              <a:t>For our purpose, the centroid value of the CRM in a cluster is compared with the historical mean value:</a:t>
            </a:r>
          </a:p>
          <a:p>
            <a:pPr lvl="2"/>
            <a:r>
              <a:rPr lang="en-US" sz="2000" dirty="0"/>
              <a:t>The results file contains a sheet named “charts”, where for each cluster there’s a chart that compares the centroids data with the mean historical data for all the materials</a:t>
            </a:r>
          </a:p>
          <a:p>
            <a:pPr lvl="2"/>
            <a:r>
              <a:rPr lang="en-US" sz="2000" dirty="0"/>
              <a:t>Another chart representation outputs the </a:t>
            </a:r>
            <a:r>
              <a:rPr lang="en-US" sz="2000" b="1" dirty="0"/>
              <a:t>“shifts”, </a:t>
            </a:r>
            <a:r>
              <a:rPr lang="en-US" sz="2000" dirty="0"/>
              <a:t>which are the z-scores of the centroids with respect to the historical means</a:t>
            </a:r>
            <a:endParaRPr lang="en-US" sz="2000" b="1" dirty="0"/>
          </a:p>
          <a:p>
            <a:pPr lvl="2"/>
            <a:endParaRPr lang="en-US" sz="2000" dirty="0"/>
          </a:p>
          <a:p>
            <a:endParaRPr lang="en-US" sz="2800" dirty="0"/>
          </a:p>
          <a:p>
            <a:r>
              <a:rPr lang="en-US" sz="2800" dirty="0"/>
              <a:t>The code is within the folder:</a:t>
            </a:r>
          </a:p>
          <a:p>
            <a:pPr marL="0" indent="0">
              <a:buNone/>
            </a:pPr>
            <a:r>
              <a:rPr lang="en-US" sz="2800" dirty="0"/>
              <a:t>Literature\CRM probabilities\Volatility\Clustering\Hierarchical</a:t>
            </a:r>
          </a:p>
          <a:p>
            <a:pPr lvl="1"/>
            <a:r>
              <a:rPr lang="en-US" sz="2400" dirty="0"/>
              <a:t>hierarchical.py</a:t>
            </a:r>
          </a:p>
          <a:p>
            <a:pPr marL="0" indent="0">
              <a:buNone/>
            </a:pPr>
            <a:endParaRPr lang="en-US" sz="2800" dirty="0"/>
          </a:p>
          <a:p>
            <a:pPr lvl="1"/>
            <a:endParaRPr lang="it-IT" sz="2400" dirty="0"/>
          </a:p>
          <a:p>
            <a:pPr lvl="1"/>
            <a:endParaRPr lang="it-IT" sz="2400" dirty="0"/>
          </a:p>
          <a:p>
            <a:pPr lvl="1"/>
            <a:endParaRPr lang="en-US" sz="2800" dirty="0"/>
          </a:p>
          <a:p>
            <a:pPr marL="342000" lvl="1" indent="0">
              <a:buNone/>
            </a:pPr>
            <a:endParaRPr lang="en-US" sz="2800" dirty="0"/>
          </a:p>
        </p:txBody>
      </p:sp>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p:txBody>
          <a:bodyPr/>
          <a:lstStyle/>
          <a:p>
            <a:pPr>
              <a:lnSpc>
                <a:spcPct val="100000"/>
              </a:lnSpc>
            </a:pPr>
            <a:r>
              <a:rPr lang="en-US" sz="2800" dirty="0"/>
              <a:t>Hierarchical Clustering procedure</a:t>
            </a:r>
          </a:p>
        </p:txBody>
      </p:sp>
      <p:pic>
        <p:nvPicPr>
          <p:cNvPr id="4" name="Picture 3">
            <a:extLst>
              <a:ext uri="{FF2B5EF4-FFF2-40B4-BE49-F238E27FC236}">
                <a16:creationId xmlns:a16="http://schemas.microsoft.com/office/drawing/2014/main" id="{84CE9346-1D22-E272-ED18-F40D53357204}"/>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55519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F1346F-A4E2-541B-2D84-D86B3FE01F66}"/>
              </a:ext>
            </a:extLst>
          </p:cNvPr>
          <p:cNvSpPr>
            <a:spLocks noGrp="1"/>
          </p:cNvSpPr>
          <p:nvPr>
            <p:ph idx="13"/>
          </p:nvPr>
        </p:nvSpPr>
        <p:spPr/>
        <p:txBody>
          <a:bodyPr/>
          <a:lstStyle/>
          <a:p>
            <a:pPr marL="0" indent="0">
              <a:buNone/>
            </a:pPr>
            <a:r>
              <a:rPr lang="en-US" dirty="0"/>
              <a:t>The same as hierarchical for:</a:t>
            </a:r>
          </a:p>
          <a:p>
            <a:pPr lvl="1"/>
            <a:r>
              <a:rPr lang="en-US" dirty="0"/>
              <a:t>Normalization procedures</a:t>
            </a:r>
          </a:p>
          <a:p>
            <a:pPr lvl="1"/>
            <a:r>
              <a:rPr lang="en-US" dirty="0"/>
              <a:t>Quality indices</a:t>
            </a:r>
          </a:p>
          <a:p>
            <a:pPr lvl="1"/>
            <a:r>
              <a:rPr lang="en-US" dirty="0"/>
              <a:t>Stability checks</a:t>
            </a:r>
          </a:p>
          <a:p>
            <a:pPr marL="0" indent="0">
              <a:buNone/>
            </a:pPr>
            <a:r>
              <a:rPr lang="en-US" dirty="0"/>
              <a:t>Different methodology from hierarchical:</a:t>
            </a:r>
          </a:p>
          <a:p>
            <a:pPr lvl="1"/>
            <a:r>
              <a:rPr lang="en-US" dirty="0"/>
              <a:t>Ward (hierarchical) favors </a:t>
            </a:r>
            <a:r>
              <a:rPr lang="en-US" b="1" dirty="0"/>
              <a:t>compact, globular</a:t>
            </a:r>
            <a:r>
              <a:rPr lang="en-US" dirty="0"/>
              <a:t> clusters from an agglomerative merge tree</a:t>
            </a:r>
          </a:p>
          <a:p>
            <a:pPr lvl="1"/>
            <a:r>
              <a:rPr lang="en-US" dirty="0"/>
              <a:t>k-means directly optimizes </a:t>
            </a:r>
            <a:r>
              <a:rPr lang="en-US" b="1" dirty="0"/>
              <a:t>within-cluster variance</a:t>
            </a:r>
            <a:r>
              <a:rPr lang="en-US" dirty="0"/>
              <a:t> via centroid updates</a:t>
            </a:r>
          </a:p>
          <a:p>
            <a:pPr lvl="1"/>
            <a:endParaRPr lang="en-US" dirty="0"/>
          </a:p>
          <a:p>
            <a:pPr marL="0" indent="0">
              <a:buNone/>
            </a:pPr>
            <a:endParaRPr lang="en-US" dirty="0"/>
          </a:p>
          <a:p>
            <a:pPr marL="0" indent="0">
              <a:buNone/>
            </a:pPr>
            <a:r>
              <a:rPr lang="en-US" dirty="0">
                <a:sym typeface="Wingdings" panose="05000000000000000000" pitchFamily="2" charset="2"/>
              </a:rPr>
              <a:t> Comparison among results, quality and stability indices</a:t>
            </a:r>
            <a:endParaRPr lang="en-US" dirty="0"/>
          </a:p>
          <a:p>
            <a:pPr marL="0" indent="0">
              <a:buNone/>
            </a:pPr>
            <a:endParaRPr lang="en-US" dirty="0"/>
          </a:p>
          <a:p>
            <a:endParaRPr lang="en-US" dirty="0"/>
          </a:p>
        </p:txBody>
      </p:sp>
      <p:sp>
        <p:nvSpPr>
          <p:cNvPr id="3" name="Title 2">
            <a:extLst>
              <a:ext uri="{FF2B5EF4-FFF2-40B4-BE49-F238E27FC236}">
                <a16:creationId xmlns:a16="http://schemas.microsoft.com/office/drawing/2014/main" id="{8D029550-D1C9-B78F-EC02-7C887DF40056}"/>
              </a:ext>
            </a:extLst>
          </p:cNvPr>
          <p:cNvSpPr>
            <a:spLocks noGrp="1"/>
          </p:cNvSpPr>
          <p:nvPr>
            <p:ph type="title"/>
          </p:nvPr>
        </p:nvSpPr>
        <p:spPr/>
        <p:txBody>
          <a:bodyPr/>
          <a:lstStyle/>
          <a:p>
            <a:r>
              <a:rPr lang="en-US" dirty="0"/>
              <a:t>K-means clustering as robustness check</a:t>
            </a:r>
          </a:p>
        </p:txBody>
      </p:sp>
      <p:pic>
        <p:nvPicPr>
          <p:cNvPr id="4" name="Picture 3">
            <a:extLst>
              <a:ext uri="{FF2B5EF4-FFF2-40B4-BE49-F238E27FC236}">
                <a16:creationId xmlns:a16="http://schemas.microsoft.com/office/drawing/2014/main" id="{83C84C41-7C8C-DAA4-4018-480377DADFD1}"/>
              </a:ext>
            </a:extLst>
          </p:cNvPr>
          <p:cNvPicPr>
            <a:picLocks noChangeAspect="1"/>
          </p:cNvPicPr>
          <p:nvPr/>
        </p:nvPicPr>
        <p:blipFill>
          <a:blip r:embed="rId2"/>
          <a:stretch>
            <a:fillRect/>
          </a:stretch>
        </p:blipFill>
        <p:spPr>
          <a:xfrm>
            <a:off x="11086358" y="689666"/>
            <a:ext cx="527913" cy="514881"/>
          </a:xfrm>
          <a:prstGeom prst="rect">
            <a:avLst/>
          </a:prstGeom>
        </p:spPr>
      </p:pic>
      <p:pic>
        <p:nvPicPr>
          <p:cNvPr id="6" name="Picture 5">
            <a:extLst>
              <a:ext uri="{FF2B5EF4-FFF2-40B4-BE49-F238E27FC236}">
                <a16:creationId xmlns:a16="http://schemas.microsoft.com/office/drawing/2014/main" id="{204C1A8A-CB37-1704-AEEF-ED391E79FFB9}"/>
              </a:ext>
            </a:extLst>
          </p:cNvPr>
          <p:cNvPicPr>
            <a:picLocks noChangeAspect="1"/>
          </p:cNvPicPr>
          <p:nvPr/>
        </p:nvPicPr>
        <p:blipFill>
          <a:blip r:embed="rId3"/>
          <a:stretch>
            <a:fillRect/>
          </a:stretch>
        </p:blipFill>
        <p:spPr>
          <a:xfrm>
            <a:off x="5120555" y="4010864"/>
            <a:ext cx="1950889" cy="609653"/>
          </a:xfrm>
          <a:prstGeom prst="rect">
            <a:avLst/>
          </a:prstGeom>
        </p:spPr>
      </p:pic>
    </p:spTree>
    <p:extLst>
      <p:ext uri="{BB962C8B-B14F-4D97-AF65-F5344CB8AC3E}">
        <p14:creationId xmlns:p14="http://schemas.microsoft.com/office/powerpoint/2010/main" val="31650626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6E8009-34F7-3A88-4923-EC6F62ABFCCE}"/>
              </a:ext>
            </a:extLst>
          </p:cNvPr>
          <p:cNvSpPr>
            <a:spLocks noGrp="1"/>
          </p:cNvSpPr>
          <p:nvPr>
            <p:ph idx="13"/>
          </p:nvPr>
        </p:nvSpPr>
        <p:spPr/>
        <p:txBody>
          <a:bodyPr>
            <a:normAutofit/>
          </a:bodyPr>
          <a:lstStyle/>
          <a:p>
            <a:r>
              <a:rPr lang="en-US" sz="2800" dirty="0" err="1"/>
              <a:t>Data.xlxs</a:t>
            </a:r>
            <a:r>
              <a:rPr lang="en-US" sz="2800" dirty="0"/>
              <a:t> file includes the following sheets:</a:t>
            </a:r>
          </a:p>
          <a:p>
            <a:pPr lvl="1"/>
            <a:r>
              <a:rPr lang="en-US" sz="2400" dirty="0"/>
              <a:t>Actual prices for each CRM from 1964 to 2020</a:t>
            </a:r>
          </a:p>
          <a:p>
            <a:pPr lvl="1"/>
            <a:r>
              <a:rPr lang="en-US" sz="2400" dirty="0"/>
              <a:t>Annual variations for each CRM from 1965 to 2019</a:t>
            </a:r>
          </a:p>
          <a:p>
            <a:pPr lvl="1"/>
            <a:r>
              <a:rPr lang="en-US" sz="2400" dirty="0"/>
              <a:t>[2,…,10] years rolling-window trends for each CRM from 1965 to 2020</a:t>
            </a:r>
          </a:p>
          <a:p>
            <a:pPr lvl="1"/>
            <a:r>
              <a:rPr lang="en-US" sz="2400" dirty="0"/>
              <a:t>Oil prices were included as a proxy reference</a:t>
            </a:r>
          </a:p>
          <a:p>
            <a:r>
              <a:rPr lang="en-US" sz="2800" dirty="0"/>
              <a:t>For each sheet is provided a respective folder, divided into min-max and z-score normalization</a:t>
            </a:r>
          </a:p>
          <a:p>
            <a:pPr lvl="1"/>
            <a:endParaRPr lang="en-US" sz="2400" dirty="0"/>
          </a:p>
          <a:p>
            <a:pPr lvl="1"/>
            <a:endParaRPr lang="it-IT" sz="2400" dirty="0"/>
          </a:p>
          <a:p>
            <a:pPr lvl="1"/>
            <a:endParaRPr lang="it-IT" sz="2400" dirty="0"/>
          </a:p>
          <a:p>
            <a:pPr lvl="1"/>
            <a:endParaRPr lang="en-US" sz="2800" dirty="0"/>
          </a:p>
          <a:p>
            <a:pPr marL="342000" lvl="1" indent="0">
              <a:buNone/>
            </a:pPr>
            <a:endParaRPr lang="en-US" sz="2800" dirty="0"/>
          </a:p>
        </p:txBody>
      </p:sp>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p:txBody>
          <a:bodyPr>
            <a:normAutofit/>
          </a:bodyPr>
          <a:lstStyle/>
          <a:p>
            <a:pPr>
              <a:lnSpc>
                <a:spcPct val="100000"/>
              </a:lnSpc>
            </a:pPr>
            <a:r>
              <a:rPr lang="en-US" dirty="0"/>
              <a:t>CRMs market analysis </a:t>
            </a:r>
            <a:r>
              <a:rPr lang="en-US" dirty="0">
                <a:sym typeface="Wingdings" panose="05000000000000000000" pitchFamily="2" charset="2"/>
              </a:rPr>
              <a:t> Price disruption scenarios</a:t>
            </a:r>
            <a:endParaRPr lang="en-US" sz="2800" dirty="0"/>
          </a:p>
        </p:txBody>
      </p:sp>
      <p:pic>
        <p:nvPicPr>
          <p:cNvPr id="4" name="Picture 3">
            <a:extLst>
              <a:ext uri="{FF2B5EF4-FFF2-40B4-BE49-F238E27FC236}">
                <a16:creationId xmlns:a16="http://schemas.microsoft.com/office/drawing/2014/main" id="{EFCDDDCB-0667-2770-31EA-35FACE7BA3BC}"/>
              </a:ext>
            </a:extLst>
          </p:cNvPr>
          <p:cNvPicPr>
            <a:picLocks noChangeAspect="1"/>
          </p:cNvPicPr>
          <p:nvPr/>
        </p:nvPicPr>
        <p:blipFill>
          <a:blip r:embed="rId2"/>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41390479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6E8009-34F7-3A88-4923-EC6F62ABFCCE}"/>
              </a:ext>
            </a:extLst>
          </p:cNvPr>
          <p:cNvSpPr>
            <a:spLocks noGrp="1"/>
          </p:cNvSpPr>
          <p:nvPr>
            <p:ph idx="13"/>
          </p:nvPr>
        </p:nvSpPr>
        <p:spPr/>
        <p:txBody>
          <a:bodyPr>
            <a:normAutofit/>
          </a:bodyPr>
          <a:lstStyle/>
          <a:p>
            <a:r>
              <a:rPr lang="en-US" sz="3600" dirty="0"/>
              <a:t>Questions:</a:t>
            </a:r>
          </a:p>
          <a:p>
            <a:pPr lvl="1"/>
            <a:r>
              <a:rPr lang="en-US" sz="3200" dirty="0"/>
              <a:t>Which is the best normalization method?</a:t>
            </a:r>
          </a:p>
          <a:p>
            <a:pPr lvl="2"/>
            <a:r>
              <a:rPr lang="en-US" sz="2800" dirty="0"/>
              <a:t>It depends from the raw data </a:t>
            </a:r>
            <a:r>
              <a:rPr lang="en-US" sz="2800" dirty="0" err="1"/>
              <a:t>featurings</a:t>
            </a:r>
            <a:r>
              <a:rPr lang="en-US" sz="2800" dirty="0"/>
              <a:t>:</a:t>
            </a:r>
          </a:p>
          <a:p>
            <a:pPr lvl="3"/>
            <a:r>
              <a:rPr lang="en-US" sz="2400" dirty="0"/>
              <a:t>Actual prices might require normalization to better catch the similarities, min-max normalization seems to be the best one to catch the similarity, but can lead to misleading interpretations due to the presence of outliers (if the peaks are considerable as outliers)</a:t>
            </a:r>
          </a:p>
          <a:p>
            <a:pPr lvl="3"/>
            <a:r>
              <a:rPr lang="en-US" sz="2400" dirty="0"/>
              <a:t>Annual and [2, …,10] years trends are relative data, maybe not requiring any normalization. For these raw data, z-score normalization seems to be misleading due to the fact that the distribution of the data (as seen from GEV analysis) isn’t normal</a:t>
            </a:r>
          </a:p>
          <a:p>
            <a:pPr lvl="3"/>
            <a:r>
              <a:rPr lang="en-US" sz="2400" dirty="0"/>
              <a:t>It’s also true that Z-score actually applies a “semi-wrong” assumption on all the time-frames, so the whole effect is almost null</a:t>
            </a:r>
          </a:p>
          <a:p>
            <a:pPr marL="0" indent="0">
              <a:buNone/>
            </a:pPr>
            <a:endParaRPr lang="it-IT" sz="3200" dirty="0"/>
          </a:p>
          <a:p>
            <a:pPr lvl="1"/>
            <a:endParaRPr lang="it-IT" sz="3200" dirty="0"/>
          </a:p>
          <a:p>
            <a:pPr lvl="1"/>
            <a:endParaRPr lang="en-US" sz="3600" dirty="0"/>
          </a:p>
          <a:p>
            <a:pPr marL="342000" lvl="1" indent="0">
              <a:buNone/>
            </a:pPr>
            <a:endParaRPr lang="en-US" sz="3600" dirty="0"/>
          </a:p>
        </p:txBody>
      </p:sp>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p:txBody>
          <a:bodyPr>
            <a:normAutofit/>
          </a:bodyPr>
          <a:lstStyle/>
          <a:p>
            <a:pPr>
              <a:lnSpc>
                <a:spcPct val="100000"/>
              </a:lnSpc>
            </a:pPr>
            <a:r>
              <a:rPr lang="en-US" dirty="0"/>
              <a:t>CRMs market analysis </a:t>
            </a:r>
            <a:r>
              <a:rPr lang="en-US" dirty="0">
                <a:sym typeface="Wingdings" panose="05000000000000000000" pitchFamily="2" charset="2"/>
              </a:rPr>
              <a:t> Price disruption scenarios</a:t>
            </a:r>
            <a:endParaRPr lang="en-US" sz="2800" dirty="0"/>
          </a:p>
        </p:txBody>
      </p:sp>
      <p:pic>
        <p:nvPicPr>
          <p:cNvPr id="4" name="Picture 3">
            <a:extLst>
              <a:ext uri="{FF2B5EF4-FFF2-40B4-BE49-F238E27FC236}">
                <a16:creationId xmlns:a16="http://schemas.microsoft.com/office/drawing/2014/main" id="{13288CC5-3D36-133A-2454-D259DBA98896}"/>
              </a:ext>
            </a:extLst>
          </p:cNvPr>
          <p:cNvPicPr>
            <a:picLocks noChangeAspect="1"/>
          </p:cNvPicPr>
          <p:nvPr/>
        </p:nvPicPr>
        <p:blipFill>
          <a:blip r:embed="rId2"/>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32436546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p:txBody>
          <a:bodyPr>
            <a:normAutofit/>
          </a:bodyPr>
          <a:lstStyle/>
          <a:p>
            <a:pPr>
              <a:lnSpc>
                <a:spcPct val="100000"/>
              </a:lnSpc>
            </a:pPr>
            <a:r>
              <a:rPr lang="en-US" dirty="0"/>
              <a:t>CRMs market analysis </a:t>
            </a:r>
            <a:r>
              <a:rPr lang="en-US" dirty="0">
                <a:sym typeface="Wingdings" panose="05000000000000000000" pitchFamily="2" charset="2"/>
              </a:rPr>
              <a:t> Price disruption scenarios</a:t>
            </a:r>
            <a:endParaRPr lang="en-US" sz="2800" dirty="0"/>
          </a:p>
        </p:txBody>
      </p:sp>
      <p:sp>
        <p:nvSpPr>
          <p:cNvPr id="9" name="TextBox 8">
            <a:extLst>
              <a:ext uri="{FF2B5EF4-FFF2-40B4-BE49-F238E27FC236}">
                <a16:creationId xmlns:a16="http://schemas.microsoft.com/office/drawing/2014/main" id="{340BFF68-B1AE-0664-37A3-4A85F55EC0C7}"/>
              </a:ext>
            </a:extLst>
          </p:cNvPr>
          <p:cNvSpPr txBox="1"/>
          <p:nvPr/>
        </p:nvSpPr>
        <p:spPr>
          <a:xfrm>
            <a:off x="286327" y="1012141"/>
            <a:ext cx="11619345" cy="370416"/>
          </a:xfrm>
          <a:prstGeom prst="rect">
            <a:avLst/>
          </a:prstGeom>
          <a:noFill/>
        </p:spPr>
        <p:txBody>
          <a:bodyPr wrap="square" rtlCol="0">
            <a:spAutoFit/>
          </a:bodyPr>
          <a:lstStyle/>
          <a:p>
            <a:r>
              <a:rPr lang="en-US" dirty="0"/>
              <a:t>i.e. 5 years rolling-window with min-max normalization</a:t>
            </a:r>
          </a:p>
        </p:txBody>
      </p:sp>
      <p:pic>
        <p:nvPicPr>
          <p:cNvPr id="4" name="Picture 3" descr="A screenshot of a computer&#10;&#10;AI-generated content may be incorrect.">
            <a:extLst>
              <a:ext uri="{FF2B5EF4-FFF2-40B4-BE49-F238E27FC236}">
                <a16:creationId xmlns:a16="http://schemas.microsoft.com/office/drawing/2014/main" id="{E0B0B25E-566B-BC5C-F354-7D83D1CEE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109" y="2363122"/>
            <a:ext cx="11831780" cy="4064000"/>
          </a:xfrm>
          <a:prstGeom prst="rect">
            <a:avLst/>
          </a:prstGeom>
        </p:spPr>
      </p:pic>
      <p:pic>
        <p:nvPicPr>
          <p:cNvPr id="5" name="Picture 4">
            <a:extLst>
              <a:ext uri="{FF2B5EF4-FFF2-40B4-BE49-F238E27FC236}">
                <a16:creationId xmlns:a16="http://schemas.microsoft.com/office/drawing/2014/main" id="{B8DFB8A6-87BD-F206-7116-3165B0B74993}"/>
              </a:ext>
            </a:extLst>
          </p:cNvPr>
          <p:cNvPicPr>
            <a:picLocks noChangeAspect="1"/>
          </p:cNvPicPr>
          <p:nvPr/>
        </p:nvPicPr>
        <p:blipFill>
          <a:blip r:embed="rId3"/>
          <a:stretch>
            <a:fillRect/>
          </a:stretch>
        </p:blipFill>
        <p:spPr>
          <a:xfrm>
            <a:off x="8682412" y="1449072"/>
            <a:ext cx="3223260" cy="944880"/>
          </a:xfrm>
          <a:prstGeom prst="rect">
            <a:avLst/>
          </a:prstGeom>
        </p:spPr>
      </p:pic>
    </p:spTree>
    <p:extLst>
      <p:ext uri="{BB962C8B-B14F-4D97-AF65-F5344CB8AC3E}">
        <p14:creationId xmlns:p14="http://schemas.microsoft.com/office/powerpoint/2010/main" val="6093003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p:txBody>
          <a:bodyPr>
            <a:normAutofit/>
          </a:bodyPr>
          <a:lstStyle/>
          <a:p>
            <a:pPr>
              <a:lnSpc>
                <a:spcPct val="100000"/>
              </a:lnSpc>
            </a:pPr>
            <a:r>
              <a:rPr lang="en-US" dirty="0"/>
              <a:t>CRMs market analysis </a:t>
            </a:r>
            <a:r>
              <a:rPr lang="en-US" dirty="0">
                <a:sym typeface="Wingdings" panose="05000000000000000000" pitchFamily="2" charset="2"/>
              </a:rPr>
              <a:t> Price disruption scenarios</a:t>
            </a:r>
            <a:endParaRPr lang="en-US" sz="2800" dirty="0"/>
          </a:p>
        </p:txBody>
      </p:sp>
      <p:pic>
        <p:nvPicPr>
          <p:cNvPr id="11" name="Picture 10">
            <a:extLst>
              <a:ext uri="{FF2B5EF4-FFF2-40B4-BE49-F238E27FC236}">
                <a16:creationId xmlns:a16="http://schemas.microsoft.com/office/drawing/2014/main" id="{3131DED9-7760-289B-00C5-2F74D6E2BECC}"/>
              </a:ext>
            </a:extLst>
          </p:cNvPr>
          <p:cNvPicPr>
            <a:picLocks noChangeAspect="1"/>
          </p:cNvPicPr>
          <p:nvPr/>
        </p:nvPicPr>
        <p:blipFill>
          <a:blip r:embed="rId2"/>
          <a:stretch>
            <a:fillRect/>
          </a:stretch>
        </p:blipFill>
        <p:spPr>
          <a:xfrm>
            <a:off x="897298" y="1123877"/>
            <a:ext cx="1937165" cy="5209890"/>
          </a:xfrm>
          <a:prstGeom prst="rect">
            <a:avLst/>
          </a:prstGeom>
        </p:spPr>
      </p:pic>
      <p:grpSp>
        <p:nvGrpSpPr>
          <p:cNvPr id="29" name="Group 28">
            <a:extLst>
              <a:ext uri="{FF2B5EF4-FFF2-40B4-BE49-F238E27FC236}">
                <a16:creationId xmlns:a16="http://schemas.microsoft.com/office/drawing/2014/main" id="{A0AE6A1C-34D2-D84B-7176-EACD60CF55FF}"/>
              </a:ext>
            </a:extLst>
          </p:cNvPr>
          <p:cNvGrpSpPr/>
          <p:nvPr/>
        </p:nvGrpSpPr>
        <p:grpSpPr>
          <a:xfrm>
            <a:off x="3090872" y="987710"/>
            <a:ext cx="8903704" cy="5489707"/>
            <a:chOff x="3155524" y="987710"/>
            <a:chExt cx="8903704" cy="5489707"/>
          </a:xfrm>
        </p:grpSpPr>
        <p:grpSp>
          <p:nvGrpSpPr>
            <p:cNvPr id="27" name="Group 26">
              <a:extLst>
                <a:ext uri="{FF2B5EF4-FFF2-40B4-BE49-F238E27FC236}">
                  <a16:creationId xmlns:a16="http://schemas.microsoft.com/office/drawing/2014/main" id="{F5D69A1D-1347-A284-1E9A-C898BBD5A583}"/>
                </a:ext>
              </a:extLst>
            </p:cNvPr>
            <p:cNvGrpSpPr/>
            <p:nvPr/>
          </p:nvGrpSpPr>
          <p:grpSpPr>
            <a:xfrm>
              <a:off x="3155524" y="987710"/>
              <a:ext cx="8903704" cy="5489707"/>
              <a:chOff x="3155524" y="987710"/>
              <a:chExt cx="8903704" cy="5489707"/>
            </a:xfrm>
          </p:grpSpPr>
          <p:grpSp>
            <p:nvGrpSpPr>
              <p:cNvPr id="26" name="Group 25">
                <a:extLst>
                  <a:ext uri="{FF2B5EF4-FFF2-40B4-BE49-F238E27FC236}">
                    <a16:creationId xmlns:a16="http://schemas.microsoft.com/office/drawing/2014/main" id="{D6257602-72D0-B92A-E97A-89884B3CC407}"/>
                  </a:ext>
                </a:extLst>
              </p:cNvPr>
              <p:cNvGrpSpPr/>
              <p:nvPr/>
            </p:nvGrpSpPr>
            <p:grpSpPr>
              <a:xfrm>
                <a:off x="3155524" y="987710"/>
                <a:ext cx="8903704" cy="5489707"/>
                <a:chOff x="3155524" y="987710"/>
                <a:chExt cx="8903704" cy="5489707"/>
              </a:xfrm>
            </p:grpSpPr>
            <p:grpSp>
              <p:nvGrpSpPr>
                <p:cNvPr id="16" name="Group 15">
                  <a:extLst>
                    <a:ext uri="{FF2B5EF4-FFF2-40B4-BE49-F238E27FC236}">
                      <a16:creationId xmlns:a16="http://schemas.microsoft.com/office/drawing/2014/main" id="{67D250BD-7E59-527D-7039-4C82634992E4}"/>
                    </a:ext>
                  </a:extLst>
                </p:cNvPr>
                <p:cNvGrpSpPr/>
                <p:nvPr/>
              </p:nvGrpSpPr>
              <p:grpSpPr>
                <a:xfrm>
                  <a:off x="3155524" y="987710"/>
                  <a:ext cx="8903704" cy="5489707"/>
                  <a:chOff x="3155524" y="987710"/>
                  <a:chExt cx="8903704" cy="5489707"/>
                </a:xfrm>
              </p:grpSpPr>
              <p:grpSp>
                <p:nvGrpSpPr>
                  <p:cNvPr id="14" name="Group 13">
                    <a:extLst>
                      <a:ext uri="{FF2B5EF4-FFF2-40B4-BE49-F238E27FC236}">
                        <a16:creationId xmlns:a16="http://schemas.microsoft.com/office/drawing/2014/main" id="{24231BB2-F0AF-47B6-787B-87DE4332437B}"/>
                      </a:ext>
                    </a:extLst>
                  </p:cNvPr>
                  <p:cNvGrpSpPr/>
                  <p:nvPr/>
                </p:nvGrpSpPr>
                <p:grpSpPr>
                  <a:xfrm>
                    <a:off x="3155524" y="987710"/>
                    <a:ext cx="8903704" cy="5489707"/>
                    <a:chOff x="3155524" y="987710"/>
                    <a:chExt cx="8903704" cy="5489707"/>
                  </a:xfrm>
                </p:grpSpPr>
                <p:pic>
                  <p:nvPicPr>
                    <p:cNvPr id="2" name="Picture 1">
                      <a:extLst>
                        <a:ext uri="{FF2B5EF4-FFF2-40B4-BE49-F238E27FC236}">
                          <a16:creationId xmlns:a16="http://schemas.microsoft.com/office/drawing/2014/main" id="{D4FD574F-CB50-6914-CFE9-93293005D615}"/>
                        </a:ext>
                      </a:extLst>
                    </p:cNvPr>
                    <p:cNvPicPr>
                      <a:picLocks noChangeAspect="1"/>
                    </p:cNvPicPr>
                    <p:nvPr/>
                  </p:nvPicPr>
                  <p:blipFill>
                    <a:blip r:embed="rId3"/>
                    <a:stretch>
                      <a:fillRect/>
                    </a:stretch>
                  </p:blipFill>
                  <p:spPr>
                    <a:xfrm>
                      <a:off x="3155524" y="990877"/>
                      <a:ext cx="4443555" cy="2738090"/>
                    </a:xfrm>
                    <a:prstGeom prst="rect">
                      <a:avLst/>
                    </a:prstGeom>
                  </p:spPr>
                </p:pic>
                <p:pic>
                  <p:nvPicPr>
                    <p:cNvPr id="4" name="Picture 3">
                      <a:extLst>
                        <a:ext uri="{FF2B5EF4-FFF2-40B4-BE49-F238E27FC236}">
                          <a16:creationId xmlns:a16="http://schemas.microsoft.com/office/drawing/2014/main" id="{93E3264A-D660-2FFF-D310-F18857399B9E}"/>
                        </a:ext>
                      </a:extLst>
                    </p:cNvPr>
                    <p:cNvPicPr>
                      <a:picLocks noChangeAspect="1"/>
                    </p:cNvPicPr>
                    <p:nvPr/>
                  </p:nvPicPr>
                  <p:blipFill>
                    <a:blip r:embed="rId4"/>
                    <a:stretch>
                      <a:fillRect/>
                    </a:stretch>
                  </p:blipFill>
                  <p:spPr>
                    <a:xfrm>
                      <a:off x="7606090" y="987710"/>
                      <a:ext cx="4453138" cy="2741112"/>
                    </a:xfrm>
                    <a:prstGeom prst="rect">
                      <a:avLst/>
                    </a:prstGeom>
                  </p:spPr>
                </p:pic>
                <p:pic>
                  <p:nvPicPr>
                    <p:cNvPr id="13" name="Picture 12">
                      <a:extLst>
                        <a:ext uri="{FF2B5EF4-FFF2-40B4-BE49-F238E27FC236}">
                          <a16:creationId xmlns:a16="http://schemas.microsoft.com/office/drawing/2014/main" id="{0569CAFC-6D72-4381-4B21-E4D75F955D3C}"/>
                        </a:ext>
                      </a:extLst>
                    </p:cNvPr>
                    <p:cNvPicPr>
                      <a:picLocks noChangeAspect="1"/>
                    </p:cNvPicPr>
                    <p:nvPr/>
                  </p:nvPicPr>
                  <p:blipFill>
                    <a:blip r:embed="rId5"/>
                    <a:stretch>
                      <a:fillRect/>
                    </a:stretch>
                  </p:blipFill>
                  <p:spPr>
                    <a:xfrm>
                      <a:off x="3155524" y="3731989"/>
                      <a:ext cx="4460149" cy="2745428"/>
                    </a:xfrm>
                    <a:prstGeom prst="rect">
                      <a:avLst/>
                    </a:prstGeom>
                  </p:spPr>
                </p:pic>
              </p:grpSp>
              <p:pic>
                <p:nvPicPr>
                  <p:cNvPr id="15" name="Picture 14">
                    <a:extLst>
                      <a:ext uri="{FF2B5EF4-FFF2-40B4-BE49-F238E27FC236}">
                        <a16:creationId xmlns:a16="http://schemas.microsoft.com/office/drawing/2014/main" id="{BFCDF971-C217-4383-BDCE-4381E32E23B1}"/>
                      </a:ext>
                    </a:extLst>
                  </p:cNvPr>
                  <p:cNvPicPr>
                    <a:picLocks noChangeAspect="1"/>
                  </p:cNvPicPr>
                  <p:nvPr/>
                </p:nvPicPr>
                <p:blipFill>
                  <a:blip r:embed="rId6"/>
                  <a:stretch>
                    <a:fillRect/>
                  </a:stretch>
                </p:blipFill>
                <p:spPr>
                  <a:xfrm>
                    <a:off x="7599079" y="3728822"/>
                    <a:ext cx="4443555" cy="2735214"/>
                  </a:xfrm>
                  <a:prstGeom prst="rect">
                    <a:avLst/>
                  </a:prstGeom>
                </p:spPr>
              </p:pic>
            </p:grpSp>
            <p:cxnSp>
              <p:nvCxnSpPr>
                <p:cNvPr id="18" name="Straight Arrow Connector 17">
                  <a:extLst>
                    <a:ext uri="{FF2B5EF4-FFF2-40B4-BE49-F238E27FC236}">
                      <a16:creationId xmlns:a16="http://schemas.microsoft.com/office/drawing/2014/main" id="{3648639A-9239-EE41-A705-ED19CDFD4B56}"/>
                    </a:ext>
                  </a:extLst>
                </p:cNvPr>
                <p:cNvCxnSpPr/>
                <p:nvPr/>
              </p:nvCxnSpPr>
              <p:spPr>
                <a:xfrm>
                  <a:off x="3509818" y="1810327"/>
                  <a:ext cx="1939637"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AB81A74-8FAF-800E-A30E-AF7FF975EA9E}"/>
                    </a:ext>
                  </a:extLst>
                </p:cNvPr>
                <p:cNvCxnSpPr>
                  <a:cxnSpLocks/>
                </p:cNvCxnSpPr>
                <p:nvPr/>
              </p:nvCxnSpPr>
              <p:spPr>
                <a:xfrm>
                  <a:off x="5938982" y="2369127"/>
                  <a:ext cx="1214582"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C36F995-E3DC-D09C-7612-6EA4A30AE0DA}"/>
                    </a:ext>
                  </a:extLst>
                </p:cNvPr>
                <p:cNvCxnSpPr>
                  <a:cxnSpLocks/>
                </p:cNvCxnSpPr>
                <p:nvPr/>
              </p:nvCxnSpPr>
              <p:spPr>
                <a:xfrm>
                  <a:off x="5056909" y="4553527"/>
                  <a:ext cx="1214582"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C7B24702-3250-2B18-83C5-984C9BA29687}"/>
                    </a:ext>
                  </a:extLst>
                </p:cNvPr>
                <p:cNvSpPr/>
                <p:nvPr/>
              </p:nvSpPr>
              <p:spPr>
                <a:xfrm>
                  <a:off x="3592946" y="2388647"/>
                  <a:ext cx="2540000" cy="203200"/>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Oval 24">
                <a:extLst>
                  <a:ext uri="{FF2B5EF4-FFF2-40B4-BE49-F238E27FC236}">
                    <a16:creationId xmlns:a16="http://schemas.microsoft.com/office/drawing/2014/main" id="{5053D0DE-BF03-237F-44C8-44333E637337}"/>
                  </a:ext>
                </a:extLst>
              </p:cNvPr>
              <p:cNvSpPr/>
              <p:nvPr/>
            </p:nvSpPr>
            <p:spPr>
              <a:xfrm>
                <a:off x="8172876" y="4242061"/>
                <a:ext cx="3641781" cy="622931"/>
              </a:xfrm>
              <a:prstGeom prst="ellipse">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Oval 27">
              <a:extLst>
                <a:ext uri="{FF2B5EF4-FFF2-40B4-BE49-F238E27FC236}">
                  <a16:creationId xmlns:a16="http://schemas.microsoft.com/office/drawing/2014/main" id="{4FE5B142-F137-3E94-E0C1-868C9A212CD0}"/>
                </a:ext>
              </a:extLst>
            </p:cNvPr>
            <p:cNvSpPr/>
            <p:nvPr/>
          </p:nvSpPr>
          <p:spPr>
            <a:xfrm>
              <a:off x="5678769" y="5096429"/>
              <a:ext cx="1874130" cy="396745"/>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52201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6E8009-34F7-3A88-4923-EC6F62ABFCCE}"/>
              </a:ext>
            </a:extLst>
          </p:cNvPr>
          <p:cNvSpPr>
            <a:spLocks noGrp="1"/>
          </p:cNvSpPr>
          <p:nvPr>
            <p:ph idx="13"/>
          </p:nvPr>
        </p:nvSpPr>
        <p:spPr/>
        <p:txBody>
          <a:bodyPr>
            <a:normAutofit fontScale="77500" lnSpcReduction="20000"/>
          </a:bodyPr>
          <a:lstStyle/>
          <a:p>
            <a:pPr marL="0" indent="0">
              <a:buNone/>
            </a:pPr>
            <a:r>
              <a:rPr lang="en-US" sz="3600" dirty="0"/>
              <a:t>From the comparison between the centroid and whole timeframe mean:</a:t>
            </a:r>
          </a:p>
          <a:p>
            <a:r>
              <a:rPr lang="en-US" sz="3400" dirty="0"/>
              <a:t>Cluster 0:</a:t>
            </a:r>
          </a:p>
          <a:p>
            <a:pPr lvl="1"/>
            <a:r>
              <a:rPr lang="en-US" sz="3000" dirty="0"/>
              <a:t>From 2000 to 2005: for the 5-years window, these years intercept the 2008 crisis</a:t>
            </a:r>
          </a:p>
          <a:p>
            <a:pPr lvl="1"/>
            <a:r>
              <a:rPr lang="en-US" sz="3000" dirty="0"/>
              <a:t>Some materials are widely over their historical mean</a:t>
            </a:r>
          </a:p>
          <a:p>
            <a:r>
              <a:rPr lang="en-US" sz="3400" dirty="0"/>
              <a:t>Cluster 1:</a:t>
            </a:r>
          </a:p>
          <a:p>
            <a:pPr lvl="1"/>
            <a:r>
              <a:rPr lang="en-US" sz="3000" dirty="0"/>
              <a:t>Widest cluster, without particular market shocks</a:t>
            </a:r>
          </a:p>
          <a:p>
            <a:pPr lvl="1"/>
            <a:r>
              <a:rPr lang="en-US" sz="3000" dirty="0"/>
              <a:t>It can be considered as a less-volatile cluster</a:t>
            </a:r>
          </a:p>
          <a:p>
            <a:r>
              <a:rPr lang="en-US" sz="3400" dirty="0"/>
              <a:t>Cluster 2:</a:t>
            </a:r>
          </a:p>
          <a:p>
            <a:pPr lvl="1"/>
            <a:r>
              <a:rPr lang="en-US" sz="3000" dirty="0"/>
              <a:t>1969-1971 and 2006-2010, both anticipating price shocks (oil crisis and China export restrictions on REE)</a:t>
            </a:r>
          </a:p>
          <a:p>
            <a:pPr lvl="1"/>
            <a:r>
              <a:rPr lang="en-US" sz="3000" dirty="0"/>
              <a:t>Extreme price shock for REE, and attenuated shock for other materials</a:t>
            </a:r>
          </a:p>
          <a:p>
            <a:r>
              <a:rPr lang="en-US" sz="3400" dirty="0"/>
              <a:t>Cluster 3:</a:t>
            </a:r>
          </a:p>
          <a:p>
            <a:pPr lvl="1"/>
            <a:r>
              <a:rPr lang="en-US" sz="2800" dirty="0"/>
              <a:t>1972-1978, the years of the first oil crisis, with also other materials shocks</a:t>
            </a:r>
          </a:p>
          <a:p>
            <a:pPr lvl="1"/>
            <a:endParaRPr lang="it-IT" sz="3200" dirty="0"/>
          </a:p>
          <a:p>
            <a:pPr lvl="1"/>
            <a:endParaRPr lang="it-IT" sz="3200" dirty="0"/>
          </a:p>
          <a:p>
            <a:pPr lvl="1"/>
            <a:endParaRPr lang="en-US" sz="3600" dirty="0"/>
          </a:p>
          <a:p>
            <a:pPr marL="342000" lvl="1" indent="0">
              <a:buNone/>
            </a:pPr>
            <a:endParaRPr lang="en-US" sz="3600" dirty="0"/>
          </a:p>
        </p:txBody>
      </p:sp>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p:txBody>
          <a:bodyPr>
            <a:normAutofit/>
          </a:bodyPr>
          <a:lstStyle/>
          <a:p>
            <a:pPr>
              <a:lnSpc>
                <a:spcPct val="100000"/>
              </a:lnSpc>
            </a:pPr>
            <a:r>
              <a:rPr lang="en-US" dirty="0"/>
              <a:t>CRMs market analysis </a:t>
            </a:r>
            <a:r>
              <a:rPr lang="en-US" dirty="0">
                <a:sym typeface="Wingdings" panose="05000000000000000000" pitchFamily="2" charset="2"/>
              </a:rPr>
              <a:t> Price disruption scenarios</a:t>
            </a:r>
            <a:endParaRPr lang="en-US" sz="2800" dirty="0"/>
          </a:p>
        </p:txBody>
      </p:sp>
    </p:spTree>
    <p:extLst>
      <p:ext uri="{BB962C8B-B14F-4D97-AF65-F5344CB8AC3E}">
        <p14:creationId xmlns:p14="http://schemas.microsoft.com/office/powerpoint/2010/main" val="27401462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6E8009-34F7-3A88-4923-EC6F62ABFCCE}"/>
              </a:ext>
            </a:extLst>
          </p:cNvPr>
          <p:cNvSpPr>
            <a:spLocks noGrp="1"/>
          </p:cNvSpPr>
          <p:nvPr>
            <p:ph idx="13"/>
          </p:nvPr>
        </p:nvSpPr>
        <p:spPr>
          <a:xfrm>
            <a:off x="653846" y="1204547"/>
            <a:ext cx="10884311" cy="4337271"/>
          </a:xfrm>
        </p:spPr>
        <p:txBody>
          <a:bodyPr>
            <a:normAutofit/>
          </a:bodyPr>
          <a:lstStyle/>
          <a:p>
            <a:pPr marL="0" indent="0">
              <a:buNone/>
            </a:pPr>
            <a:r>
              <a:rPr lang="it-IT" sz="3200" dirty="0">
                <a:solidFill>
                  <a:schemeClr val="accent1"/>
                </a:solidFill>
              </a:rPr>
              <a:t>How to </a:t>
            </a:r>
            <a:r>
              <a:rPr lang="it-IT" sz="3200" dirty="0" err="1">
                <a:solidFill>
                  <a:schemeClr val="accent1"/>
                </a:solidFill>
              </a:rPr>
              <a:t>apply</a:t>
            </a:r>
            <a:r>
              <a:rPr lang="it-IT" sz="3200" dirty="0">
                <a:solidFill>
                  <a:schemeClr val="accent1"/>
                </a:solidFill>
              </a:rPr>
              <a:t> clustering </a:t>
            </a:r>
            <a:r>
              <a:rPr lang="it-IT" sz="3200" dirty="0" err="1">
                <a:solidFill>
                  <a:schemeClr val="accent1"/>
                </a:solidFill>
              </a:rPr>
              <a:t>analysis</a:t>
            </a:r>
            <a:r>
              <a:rPr lang="it-IT" sz="3200" dirty="0">
                <a:solidFill>
                  <a:schemeClr val="accent1"/>
                </a:solidFill>
              </a:rPr>
              <a:t> in the </a:t>
            </a:r>
            <a:r>
              <a:rPr lang="it-IT" sz="3200" dirty="0" err="1">
                <a:solidFill>
                  <a:schemeClr val="accent1"/>
                </a:solidFill>
              </a:rPr>
              <a:t>definition</a:t>
            </a:r>
            <a:r>
              <a:rPr lang="it-IT" sz="3200" dirty="0">
                <a:solidFill>
                  <a:schemeClr val="accent1"/>
                </a:solidFill>
              </a:rPr>
              <a:t> of price disruption </a:t>
            </a:r>
            <a:r>
              <a:rPr lang="it-IT" sz="3200" dirty="0" err="1">
                <a:solidFill>
                  <a:schemeClr val="accent1"/>
                </a:solidFill>
              </a:rPr>
              <a:t>scenarios</a:t>
            </a:r>
            <a:r>
              <a:rPr lang="it-IT" sz="3200" dirty="0">
                <a:solidFill>
                  <a:schemeClr val="accent1"/>
                </a:solidFill>
              </a:rPr>
              <a:t>?</a:t>
            </a:r>
            <a:endParaRPr lang="it-IT" sz="2800" dirty="0">
              <a:solidFill>
                <a:schemeClr val="accent1"/>
              </a:solidFill>
            </a:endParaRPr>
          </a:p>
          <a:p>
            <a:r>
              <a:rPr lang="it-IT" sz="3200" dirty="0"/>
              <a:t>The clusters can be </a:t>
            </a:r>
            <a:r>
              <a:rPr lang="it-IT" sz="3200" dirty="0" err="1"/>
              <a:t>used</a:t>
            </a:r>
            <a:r>
              <a:rPr lang="it-IT" sz="3200" dirty="0"/>
              <a:t> to </a:t>
            </a:r>
            <a:r>
              <a:rPr lang="it-IT" sz="3200" dirty="0" err="1"/>
              <a:t>built</a:t>
            </a:r>
            <a:r>
              <a:rPr lang="it-IT" sz="3200" dirty="0"/>
              <a:t> some </a:t>
            </a:r>
            <a:r>
              <a:rPr lang="it-IT" sz="3200" dirty="0" err="1"/>
              <a:t>historical-based</a:t>
            </a:r>
            <a:r>
              <a:rPr lang="it-IT" sz="3200" dirty="0"/>
              <a:t> scenario-</a:t>
            </a:r>
            <a:r>
              <a:rPr lang="it-IT" sz="3200" dirty="0" err="1"/>
              <a:t>trees</a:t>
            </a:r>
            <a:r>
              <a:rPr lang="it-IT" sz="3200" dirty="0"/>
              <a:t> with some </a:t>
            </a:r>
            <a:r>
              <a:rPr lang="it-IT" sz="3200" dirty="0" err="1"/>
              <a:t>CRMs</a:t>
            </a:r>
            <a:r>
              <a:rPr lang="it-IT" sz="3200" dirty="0"/>
              <a:t> </a:t>
            </a:r>
            <a:r>
              <a:rPr lang="it-IT" sz="3200" dirty="0" err="1"/>
              <a:t>involved</a:t>
            </a:r>
            <a:r>
              <a:rPr lang="it-IT" sz="3200" dirty="0"/>
              <a:t> </a:t>
            </a:r>
          </a:p>
          <a:p>
            <a:r>
              <a:rPr lang="it-IT" sz="3200" dirty="0"/>
              <a:t>The </a:t>
            </a:r>
            <a:r>
              <a:rPr lang="it-IT" sz="3200" dirty="0" err="1"/>
              <a:t>probabilities</a:t>
            </a:r>
            <a:r>
              <a:rPr lang="it-IT" sz="3200" dirty="0"/>
              <a:t> of </a:t>
            </a:r>
            <a:r>
              <a:rPr lang="it-IT" sz="3200" dirty="0" err="1"/>
              <a:t>these</a:t>
            </a:r>
            <a:r>
              <a:rPr lang="it-IT" sz="3200" dirty="0"/>
              <a:t> </a:t>
            </a:r>
            <a:r>
              <a:rPr lang="it-IT" sz="3200" dirty="0" err="1"/>
              <a:t>scenarios</a:t>
            </a:r>
            <a:r>
              <a:rPr lang="it-IT" sz="3200" dirty="0"/>
              <a:t> can be </a:t>
            </a:r>
            <a:r>
              <a:rPr lang="it-IT" sz="3200" dirty="0" err="1"/>
              <a:t>determined</a:t>
            </a:r>
            <a:r>
              <a:rPr lang="it-IT" sz="3200" dirty="0"/>
              <a:t> </a:t>
            </a:r>
            <a:r>
              <a:rPr lang="it-IT" sz="3200" dirty="0" err="1"/>
              <a:t>as</a:t>
            </a:r>
            <a:r>
              <a:rPr lang="it-IT" sz="3200" dirty="0"/>
              <a:t> the ratio </a:t>
            </a:r>
            <a:r>
              <a:rPr lang="it-IT" sz="3200" dirty="0" err="1"/>
              <a:t>between</a:t>
            </a:r>
            <a:r>
              <a:rPr lang="it-IT" sz="3200" dirty="0"/>
              <a:t> the </a:t>
            </a:r>
            <a:r>
              <a:rPr lang="it-IT" sz="3200" dirty="0" err="1"/>
              <a:t>number</a:t>
            </a:r>
            <a:r>
              <a:rPr lang="it-IT" sz="3200" dirty="0"/>
              <a:t> of </a:t>
            </a:r>
            <a:r>
              <a:rPr lang="it-IT" sz="3200" dirty="0" err="1"/>
              <a:t>years</a:t>
            </a:r>
            <a:r>
              <a:rPr lang="it-IT" sz="3200" dirty="0"/>
              <a:t> </a:t>
            </a:r>
            <a:r>
              <a:rPr lang="it-IT" sz="3200" dirty="0" err="1"/>
              <a:t>within</a:t>
            </a:r>
            <a:r>
              <a:rPr lang="it-IT" sz="3200" dirty="0"/>
              <a:t> the </a:t>
            </a:r>
            <a:r>
              <a:rPr lang="it-IT" sz="3200" dirty="0" err="1"/>
              <a:t>respective</a:t>
            </a:r>
            <a:r>
              <a:rPr lang="it-IT" sz="3200" dirty="0"/>
              <a:t> cluster and the </a:t>
            </a:r>
            <a:r>
              <a:rPr lang="it-IT" sz="3200" dirty="0" err="1"/>
              <a:t>total</a:t>
            </a:r>
            <a:r>
              <a:rPr lang="it-IT" sz="3200" dirty="0"/>
              <a:t> </a:t>
            </a:r>
            <a:r>
              <a:rPr lang="it-IT" sz="3200" dirty="0" err="1"/>
              <a:t>number</a:t>
            </a:r>
            <a:r>
              <a:rPr lang="it-IT" sz="3200" dirty="0"/>
              <a:t> of </a:t>
            </a:r>
            <a:r>
              <a:rPr lang="it-IT" sz="3200" dirty="0" err="1"/>
              <a:t>years</a:t>
            </a:r>
            <a:r>
              <a:rPr lang="it-IT" sz="3200" dirty="0"/>
              <a:t> in the </a:t>
            </a:r>
            <a:r>
              <a:rPr lang="it-IT" sz="3200" dirty="0" err="1"/>
              <a:t>timeframe</a:t>
            </a:r>
            <a:r>
              <a:rPr lang="it-IT" sz="3200" dirty="0"/>
              <a:t> </a:t>
            </a:r>
            <a:r>
              <a:rPr lang="it-IT" sz="3200" dirty="0">
                <a:sym typeface="Wingdings" panose="05000000000000000000" pitchFamily="2" charset="2"/>
              </a:rPr>
              <a:t> </a:t>
            </a:r>
            <a:r>
              <a:rPr lang="it-IT" sz="3200" dirty="0" err="1">
                <a:solidFill>
                  <a:schemeClr val="accent1"/>
                </a:solidFill>
                <a:sym typeface="Wingdings" panose="05000000000000000000" pitchFamily="2" charset="2"/>
              </a:rPr>
              <a:t>Probability</a:t>
            </a:r>
            <a:r>
              <a:rPr lang="it-IT" sz="3200" dirty="0">
                <a:solidFill>
                  <a:schemeClr val="accent1"/>
                </a:solidFill>
                <a:sym typeface="Wingdings" panose="05000000000000000000" pitchFamily="2" charset="2"/>
              </a:rPr>
              <a:t> = </a:t>
            </a:r>
            <a:r>
              <a:rPr lang="it-IT" sz="3200" dirty="0" err="1">
                <a:solidFill>
                  <a:schemeClr val="accent1"/>
                </a:solidFill>
                <a:sym typeface="Wingdings" panose="05000000000000000000" pitchFamily="2" charset="2"/>
              </a:rPr>
              <a:t>Occurrence</a:t>
            </a:r>
            <a:endParaRPr lang="en-US" sz="3200" dirty="0"/>
          </a:p>
          <a:p>
            <a:pPr marL="342000" lvl="1" indent="0">
              <a:buNone/>
            </a:pPr>
            <a:endParaRPr lang="en-US" sz="3200" dirty="0"/>
          </a:p>
        </p:txBody>
      </p:sp>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p:txBody>
          <a:bodyPr>
            <a:normAutofit/>
          </a:bodyPr>
          <a:lstStyle/>
          <a:p>
            <a:pPr>
              <a:lnSpc>
                <a:spcPct val="100000"/>
              </a:lnSpc>
            </a:pPr>
            <a:r>
              <a:rPr lang="en-US" dirty="0"/>
              <a:t>CRMs market analysis </a:t>
            </a:r>
            <a:r>
              <a:rPr lang="en-US" dirty="0">
                <a:sym typeface="Wingdings" panose="05000000000000000000" pitchFamily="2" charset="2"/>
              </a:rPr>
              <a:t> Price disruption scenarios</a:t>
            </a:r>
            <a:endParaRPr lang="en-US" sz="2800" dirty="0"/>
          </a:p>
        </p:txBody>
      </p:sp>
      <p:pic>
        <p:nvPicPr>
          <p:cNvPr id="5" name="Picture 4">
            <a:extLst>
              <a:ext uri="{FF2B5EF4-FFF2-40B4-BE49-F238E27FC236}">
                <a16:creationId xmlns:a16="http://schemas.microsoft.com/office/drawing/2014/main" id="{10F210EB-A47E-D5B2-CC03-7DD4C3E1388E}"/>
              </a:ext>
            </a:extLst>
          </p:cNvPr>
          <p:cNvPicPr>
            <a:picLocks noChangeAspect="1"/>
          </p:cNvPicPr>
          <p:nvPr/>
        </p:nvPicPr>
        <p:blipFill>
          <a:blip r:embed="rId2"/>
          <a:stretch>
            <a:fillRect/>
          </a:stretch>
        </p:blipFill>
        <p:spPr>
          <a:xfrm>
            <a:off x="4443873" y="5151875"/>
            <a:ext cx="3304254" cy="779886"/>
          </a:xfrm>
          <a:prstGeom prst="rect">
            <a:avLst/>
          </a:prstGeom>
        </p:spPr>
      </p:pic>
      <p:pic>
        <p:nvPicPr>
          <p:cNvPr id="4" name="Picture 3">
            <a:extLst>
              <a:ext uri="{FF2B5EF4-FFF2-40B4-BE49-F238E27FC236}">
                <a16:creationId xmlns:a16="http://schemas.microsoft.com/office/drawing/2014/main" id="{6EA4C68F-EF02-2441-AF14-9609B16A19E1}"/>
              </a:ext>
            </a:extLst>
          </p:cNvPr>
          <p:cNvPicPr>
            <a:picLocks noChangeAspect="1"/>
          </p:cNvPicPr>
          <p:nvPr/>
        </p:nvPicPr>
        <p:blipFill>
          <a:blip r:embed="rId3"/>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41221099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662CCE-4167-55B8-B915-70082F3267F6}"/>
              </a:ext>
            </a:extLst>
          </p:cNvPr>
          <p:cNvSpPr>
            <a:spLocks noGrp="1"/>
          </p:cNvSpPr>
          <p:nvPr>
            <p:ph idx="13"/>
          </p:nvPr>
        </p:nvSpPr>
        <p:spPr>
          <a:xfrm>
            <a:off x="653846" y="1204547"/>
            <a:ext cx="10884311" cy="4281853"/>
          </a:xfrm>
        </p:spPr>
        <p:txBody>
          <a:bodyPr>
            <a:normAutofit/>
          </a:bodyPr>
          <a:lstStyle/>
          <a:p>
            <a:pPr marL="0" indent="0">
              <a:buNone/>
            </a:pPr>
            <a:r>
              <a:rPr lang="en-US" dirty="0"/>
              <a:t>To build the disruption scenarios, a focus is needed on:</a:t>
            </a:r>
          </a:p>
          <a:p>
            <a:r>
              <a:rPr lang="it-IT" dirty="0"/>
              <a:t>Definition of </a:t>
            </a:r>
            <a:r>
              <a:rPr lang="it-IT" dirty="0">
                <a:solidFill>
                  <a:schemeClr val="accent1"/>
                </a:solidFill>
              </a:rPr>
              <a:t>disruptive </a:t>
            </a:r>
            <a:r>
              <a:rPr lang="it-IT" dirty="0">
                <a:solidFill>
                  <a:schemeClr val="accent1"/>
                </a:solidFill>
                <a:sym typeface="Wingdings" panose="05000000000000000000" pitchFamily="2" charset="2"/>
              </a:rPr>
              <a:t> Impact Score </a:t>
            </a:r>
            <a:r>
              <a:rPr lang="it-IT" dirty="0" err="1">
                <a:solidFill>
                  <a:schemeClr val="accent1"/>
                </a:solidFill>
                <a:sym typeface="Wingdings" panose="05000000000000000000" pitchFamily="2" charset="2"/>
              </a:rPr>
              <a:t>evaluation</a:t>
            </a:r>
            <a:r>
              <a:rPr lang="it-IT" dirty="0">
                <a:solidFill>
                  <a:schemeClr val="accent1"/>
                </a:solidFill>
                <a:sym typeface="Wingdings" panose="05000000000000000000" pitchFamily="2" charset="2"/>
              </a:rPr>
              <a:t>  </a:t>
            </a:r>
            <a:r>
              <a:rPr lang="it-IT" dirty="0" err="1">
                <a:solidFill>
                  <a:schemeClr val="accent1"/>
                </a:solidFill>
                <a:sym typeface="Wingdings" panose="05000000000000000000" pitchFamily="2" charset="2"/>
              </a:rPr>
              <a:t>Severity</a:t>
            </a:r>
            <a:r>
              <a:rPr lang="it-IT" dirty="0">
                <a:solidFill>
                  <a:schemeClr val="accent1"/>
                </a:solidFill>
                <a:sym typeface="Wingdings" panose="05000000000000000000" pitchFamily="2" charset="2"/>
              </a:rPr>
              <a:t> labels,  </a:t>
            </a:r>
            <a:r>
              <a:rPr lang="it-IT" dirty="0" err="1">
                <a:sym typeface="Wingdings" panose="05000000000000000000" pitchFamily="2" charset="2"/>
              </a:rPr>
              <a:t>material</a:t>
            </a:r>
            <a:r>
              <a:rPr lang="it-IT" dirty="0">
                <a:sym typeface="Wingdings" panose="05000000000000000000" pitchFamily="2" charset="2"/>
              </a:rPr>
              <a:t> and scenario </a:t>
            </a:r>
            <a:r>
              <a:rPr lang="it-IT" dirty="0" err="1">
                <a:sym typeface="Wingdings" panose="05000000000000000000" pitchFamily="2" charset="2"/>
              </a:rPr>
              <a:t>based</a:t>
            </a:r>
            <a:r>
              <a:rPr lang="it-IT" dirty="0">
                <a:solidFill>
                  <a:schemeClr val="accent1"/>
                </a:solidFill>
                <a:sym typeface="Wingdings" panose="05000000000000000000" pitchFamily="2" charset="2"/>
              </a:rPr>
              <a:t> </a:t>
            </a:r>
            <a:endParaRPr lang="it-IT" dirty="0">
              <a:solidFill>
                <a:schemeClr val="accent1"/>
              </a:solidFill>
            </a:endParaRPr>
          </a:p>
          <a:p>
            <a:r>
              <a:rPr lang="it-IT" dirty="0">
                <a:solidFill>
                  <a:schemeClr val="accent1"/>
                </a:solidFill>
              </a:rPr>
              <a:t>Time </a:t>
            </a:r>
            <a:r>
              <a:rPr lang="it-IT" dirty="0" err="1">
                <a:solidFill>
                  <a:schemeClr val="accent1"/>
                </a:solidFill>
              </a:rPr>
              <a:t>horizon</a:t>
            </a:r>
            <a:r>
              <a:rPr lang="it-IT" dirty="0"/>
              <a:t>: Short (</a:t>
            </a:r>
            <a:r>
              <a:rPr lang="it-IT" dirty="0" err="1"/>
              <a:t>Actual</a:t>
            </a:r>
            <a:r>
              <a:rPr lang="it-IT" dirty="0"/>
              <a:t> </a:t>
            </a:r>
            <a:r>
              <a:rPr lang="it-IT" dirty="0">
                <a:sym typeface="Wingdings" panose="05000000000000000000" pitchFamily="2" charset="2"/>
              </a:rPr>
              <a:t> 3 </a:t>
            </a:r>
            <a:r>
              <a:rPr lang="it-IT" dirty="0" err="1">
                <a:sym typeface="Wingdings" panose="05000000000000000000" pitchFamily="2" charset="2"/>
              </a:rPr>
              <a:t>years</a:t>
            </a:r>
            <a:r>
              <a:rPr lang="it-IT" dirty="0">
                <a:sym typeface="Wingdings" panose="05000000000000000000" pitchFamily="2" charset="2"/>
              </a:rPr>
              <a:t>), Medium (4  6 </a:t>
            </a:r>
            <a:r>
              <a:rPr lang="it-IT" dirty="0" err="1">
                <a:sym typeface="Wingdings" panose="05000000000000000000" pitchFamily="2" charset="2"/>
              </a:rPr>
              <a:t>years</a:t>
            </a:r>
            <a:r>
              <a:rPr lang="it-IT" dirty="0">
                <a:sym typeface="Wingdings" panose="05000000000000000000" pitchFamily="2" charset="2"/>
              </a:rPr>
              <a:t>), Long (7  10 </a:t>
            </a:r>
            <a:r>
              <a:rPr lang="it-IT" dirty="0" err="1">
                <a:sym typeface="Wingdings" panose="05000000000000000000" pitchFamily="2" charset="2"/>
              </a:rPr>
              <a:t>years</a:t>
            </a:r>
            <a:r>
              <a:rPr lang="it-IT" dirty="0">
                <a:sym typeface="Wingdings" panose="05000000000000000000" pitchFamily="2" charset="2"/>
              </a:rPr>
              <a:t>)</a:t>
            </a:r>
          </a:p>
          <a:p>
            <a:r>
              <a:rPr lang="it-IT" dirty="0">
                <a:sym typeface="Wingdings" panose="05000000000000000000" pitchFamily="2" charset="2"/>
              </a:rPr>
              <a:t>From the literature review: </a:t>
            </a:r>
            <a:r>
              <a:rPr lang="it-IT" dirty="0" err="1">
                <a:solidFill>
                  <a:schemeClr val="accent1"/>
                </a:solidFill>
                <a:sym typeface="Wingdings" panose="05000000000000000000" pitchFamily="2" charset="2"/>
              </a:rPr>
              <a:t>CRMs</a:t>
            </a:r>
            <a:r>
              <a:rPr lang="it-IT" dirty="0">
                <a:solidFill>
                  <a:schemeClr val="accent1"/>
                </a:solidFill>
                <a:sym typeface="Wingdings" panose="05000000000000000000" pitchFamily="2" charset="2"/>
              </a:rPr>
              <a:t> </a:t>
            </a:r>
            <a:r>
              <a:rPr lang="it-IT" dirty="0" err="1">
                <a:solidFill>
                  <a:schemeClr val="accent1"/>
                </a:solidFill>
                <a:sym typeface="Wingdings" panose="05000000000000000000" pitchFamily="2" charset="2"/>
              </a:rPr>
              <a:t>move</a:t>
            </a:r>
            <a:r>
              <a:rPr lang="it-IT" dirty="0">
                <a:solidFill>
                  <a:schemeClr val="accent1"/>
                </a:solidFill>
                <a:sym typeface="Wingdings" panose="05000000000000000000" pitchFamily="2" charset="2"/>
              </a:rPr>
              <a:t> </a:t>
            </a:r>
            <a:r>
              <a:rPr lang="it-IT" dirty="0" err="1">
                <a:solidFill>
                  <a:schemeClr val="accent1"/>
                </a:solidFill>
                <a:sym typeface="Wingdings" panose="05000000000000000000" pitchFamily="2" charset="2"/>
              </a:rPr>
              <a:t>together</a:t>
            </a:r>
            <a:endParaRPr lang="it-IT" dirty="0">
              <a:solidFill>
                <a:schemeClr val="accent1"/>
              </a:solidFill>
              <a:sym typeface="Wingdings" panose="05000000000000000000" pitchFamily="2" charset="2"/>
            </a:endParaRPr>
          </a:p>
          <a:p>
            <a:r>
              <a:rPr lang="it-IT" dirty="0">
                <a:sym typeface="Wingdings" panose="05000000000000000000" pitchFamily="2" charset="2"/>
              </a:rPr>
              <a:t>The </a:t>
            </a:r>
            <a:r>
              <a:rPr lang="it-IT" dirty="0" err="1">
                <a:sym typeface="Wingdings" panose="05000000000000000000" pitchFamily="2" charset="2"/>
              </a:rPr>
              <a:t>inclusion</a:t>
            </a:r>
            <a:r>
              <a:rPr lang="it-IT" dirty="0">
                <a:sym typeface="Wingdings" panose="05000000000000000000" pitchFamily="2" charset="2"/>
              </a:rPr>
              <a:t> of </a:t>
            </a:r>
            <a:r>
              <a:rPr lang="it-IT" dirty="0">
                <a:solidFill>
                  <a:schemeClr val="accent1"/>
                </a:solidFill>
                <a:sym typeface="Wingdings" panose="05000000000000000000" pitchFamily="2" charset="2"/>
              </a:rPr>
              <a:t>EU_SR framework </a:t>
            </a:r>
            <a:r>
              <a:rPr lang="it-IT" dirty="0" err="1">
                <a:sym typeface="Wingdings" panose="05000000000000000000" pitchFamily="2" charset="2"/>
              </a:rPr>
              <a:t>is</a:t>
            </a:r>
            <a:r>
              <a:rPr lang="it-IT" dirty="0">
                <a:sym typeface="Wingdings" panose="05000000000000000000" pitchFamily="2" charset="2"/>
              </a:rPr>
              <a:t> </a:t>
            </a:r>
            <a:r>
              <a:rPr lang="it-IT" dirty="0" err="1">
                <a:sym typeface="Wingdings" panose="05000000000000000000" pitchFamily="2" charset="2"/>
              </a:rPr>
              <a:t>needed</a:t>
            </a:r>
            <a:r>
              <a:rPr lang="it-IT" dirty="0">
                <a:sym typeface="Wingdings" panose="05000000000000000000" pitchFamily="2" charset="2"/>
              </a:rPr>
              <a:t>:</a:t>
            </a:r>
          </a:p>
          <a:p>
            <a:pPr lvl="1"/>
            <a:r>
              <a:rPr lang="it-IT" dirty="0">
                <a:sym typeface="Wingdings" panose="05000000000000000000" pitchFamily="2" charset="2"/>
              </a:rPr>
              <a:t>EU </a:t>
            </a:r>
            <a:r>
              <a:rPr lang="it-IT" dirty="0" err="1">
                <a:sym typeface="Wingdings" panose="05000000000000000000" pitchFamily="2" charset="2"/>
              </a:rPr>
              <a:t>characterization</a:t>
            </a:r>
            <a:r>
              <a:rPr lang="it-IT" dirty="0">
                <a:sym typeface="Wingdings" panose="05000000000000000000" pitchFamily="2" charset="2"/>
              </a:rPr>
              <a:t> of global prices clustering </a:t>
            </a:r>
            <a:r>
              <a:rPr lang="it-IT" dirty="0" err="1">
                <a:sym typeface="Wingdings" panose="05000000000000000000" pitchFamily="2" charset="2"/>
              </a:rPr>
              <a:t>analysis</a:t>
            </a:r>
            <a:endParaRPr lang="it-IT" dirty="0">
              <a:sym typeface="Wingdings" panose="05000000000000000000" pitchFamily="2" charset="2"/>
            </a:endParaRPr>
          </a:p>
          <a:p>
            <a:pPr lvl="1"/>
            <a:r>
              <a:rPr lang="en-US" dirty="0"/>
              <a:t>Inclusion of CRMs SR framework </a:t>
            </a:r>
            <a:r>
              <a:rPr lang="en-US" dirty="0">
                <a:sym typeface="Wingdings" panose="05000000000000000000" pitchFamily="2" charset="2"/>
              </a:rPr>
              <a:t> Actual CRMs price/supply disruptions can be inflated by their criticality</a:t>
            </a:r>
            <a:endParaRPr lang="en-US" dirty="0"/>
          </a:p>
          <a:p>
            <a:pPr marL="0" indent="0">
              <a:buNone/>
            </a:pPr>
            <a:endParaRPr lang="en-US" dirty="0"/>
          </a:p>
        </p:txBody>
      </p:sp>
      <p:sp>
        <p:nvSpPr>
          <p:cNvPr id="3" name="Title 2">
            <a:extLst>
              <a:ext uri="{FF2B5EF4-FFF2-40B4-BE49-F238E27FC236}">
                <a16:creationId xmlns:a16="http://schemas.microsoft.com/office/drawing/2014/main" id="{D2B19696-D8A7-9FC2-39B6-FF5D825DD49C}"/>
              </a:ext>
            </a:extLst>
          </p:cNvPr>
          <p:cNvSpPr>
            <a:spLocks noGrp="1"/>
          </p:cNvSpPr>
          <p:nvPr>
            <p:ph type="title"/>
          </p:nvPr>
        </p:nvSpPr>
        <p:spPr/>
        <p:txBody>
          <a:bodyPr/>
          <a:lstStyle/>
          <a:p>
            <a:r>
              <a:rPr lang="en-US" dirty="0"/>
              <a:t>CRMs market analysis </a:t>
            </a:r>
            <a:r>
              <a:rPr lang="en-US" dirty="0">
                <a:sym typeface="Wingdings" panose="05000000000000000000" pitchFamily="2" charset="2"/>
              </a:rPr>
              <a:t> Price disruption scenarios</a:t>
            </a:r>
            <a:endParaRPr lang="en-US" dirty="0"/>
          </a:p>
        </p:txBody>
      </p:sp>
      <p:sp>
        <p:nvSpPr>
          <p:cNvPr id="4" name="Rectangle 3">
            <a:extLst>
              <a:ext uri="{FF2B5EF4-FFF2-40B4-BE49-F238E27FC236}">
                <a16:creationId xmlns:a16="http://schemas.microsoft.com/office/drawing/2014/main" id="{0D6BA7E8-D874-EACE-6407-E91B7F2A3500}"/>
              </a:ext>
            </a:extLst>
          </p:cNvPr>
          <p:cNvSpPr/>
          <p:nvPr/>
        </p:nvSpPr>
        <p:spPr>
          <a:xfrm>
            <a:off x="653846" y="1625600"/>
            <a:ext cx="10884308" cy="336203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B4548A1E-5145-E267-041D-26AE37AFB599}"/>
              </a:ext>
            </a:extLst>
          </p:cNvPr>
          <p:cNvCxnSpPr>
            <a:cxnSpLocks/>
            <a:stCxn id="4" idx="2"/>
            <a:endCxn id="2" idx="2"/>
          </p:cNvCxnSpPr>
          <p:nvPr/>
        </p:nvCxnSpPr>
        <p:spPr>
          <a:xfrm>
            <a:off x="6096000" y="4987636"/>
            <a:ext cx="2" cy="498764"/>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C449D65D-4584-8818-79ED-51711628092D}"/>
              </a:ext>
            </a:extLst>
          </p:cNvPr>
          <p:cNvSpPr txBox="1"/>
          <p:nvPr/>
        </p:nvSpPr>
        <p:spPr>
          <a:xfrm>
            <a:off x="3846948" y="5538121"/>
            <a:ext cx="4498108" cy="369332"/>
          </a:xfrm>
          <a:prstGeom prst="rect">
            <a:avLst/>
          </a:prstGeom>
          <a:noFill/>
        </p:spPr>
        <p:txBody>
          <a:bodyPr wrap="square" rtlCol="0">
            <a:spAutoFit/>
          </a:bodyPr>
          <a:lstStyle/>
          <a:p>
            <a:pPr algn="ctr"/>
            <a:r>
              <a:rPr lang="en-US" b="1" dirty="0">
                <a:solidFill>
                  <a:schemeClr val="accent2"/>
                </a:solidFill>
              </a:rPr>
              <a:t>Joint CRMs price disruption scenarios</a:t>
            </a:r>
          </a:p>
        </p:txBody>
      </p:sp>
    </p:spTree>
    <p:extLst>
      <p:ext uri="{BB962C8B-B14F-4D97-AF65-F5344CB8AC3E}">
        <p14:creationId xmlns:p14="http://schemas.microsoft.com/office/powerpoint/2010/main" val="40027331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B6633F-6538-0CFA-7E57-74BFB975DF64}"/>
              </a:ext>
            </a:extLst>
          </p:cNvPr>
          <p:cNvSpPr>
            <a:spLocks noGrp="1"/>
          </p:cNvSpPr>
          <p:nvPr>
            <p:ph idx="13"/>
          </p:nvPr>
        </p:nvSpPr>
        <p:spPr/>
        <p:txBody>
          <a:bodyPr>
            <a:normAutofit fontScale="92500" lnSpcReduction="10000"/>
          </a:bodyPr>
          <a:lstStyle/>
          <a:p>
            <a:r>
              <a:rPr lang="en-US" dirty="0"/>
              <a:t>The </a:t>
            </a:r>
            <a:r>
              <a:rPr lang="en-US" b="1" dirty="0"/>
              <a:t>Shift</a:t>
            </a:r>
            <a:r>
              <a:rPr lang="en-US" dirty="0"/>
              <a:t> is defined in terms of z-scores:</a:t>
            </a:r>
          </a:p>
          <a:p>
            <a:pPr lvl="1"/>
            <a:r>
              <a:rPr lang="en-US" dirty="0" err="1"/>
              <a:t>Cm,c,t</a:t>
            </a:r>
            <a:r>
              <a:rPr lang="en-US" dirty="0"/>
              <a:t> = material centroid for cluster c in time-horizon t</a:t>
            </a:r>
          </a:p>
          <a:p>
            <a:pPr lvl="1"/>
            <a:r>
              <a:rPr lang="en-US" dirty="0"/>
              <a:t>µ</a:t>
            </a:r>
            <a:r>
              <a:rPr lang="en-US" dirty="0" err="1"/>
              <a:t>m,t</a:t>
            </a:r>
            <a:r>
              <a:rPr lang="en-US" dirty="0"/>
              <a:t> = historical mean raw value of material m in time-horizon t</a:t>
            </a:r>
          </a:p>
          <a:p>
            <a:pPr lvl="1"/>
            <a:r>
              <a:rPr lang="el-GR" dirty="0"/>
              <a:t>σ</a:t>
            </a:r>
            <a:r>
              <a:rPr lang="en-US" dirty="0" err="1"/>
              <a:t>m,t</a:t>
            </a:r>
            <a:r>
              <a:rPr lang="en-US" dirty="0"/>
              <a:t> = standard deviation for material m series in time-horizon t</a:t>
            </a:r>
          </a:p>
          <a:p>
            <a:pPr lvl="1"/>
            <a:endParaRPr lang="en-US" dirty="0"/>
          </a:p>
          <a:p>
            <a:pPr marL="342000" lvl="1" indent="0">
              <a:buNone/>
            </a:pPr>
            <a:r>
              <a:rPr lang="en-US" dirty="0">
                <a:sym typeface="Wingdings" panose="05000000000000000000" pitchFamily="2" charset="2"/>
              </a:rPr>
              <a:t> </a:t>
            </a:r>
            <a:r>
              <a:rPr lang="en-US" dirty="0">
                <a:solidFill>
                  <a:schemeClr val="accent1"/>
                </a:solidFill>
                <a:sym typeface="Wingdings" panose="05000000000000000000" pitchFamily="2" charset="2"/>
              </a:rPr>
              <a:t>Shift allows to intercept and emphasize the single material out of normal behaviors</a:t>
            </a:r>
            <a:endParaRPr lang="en-US" dirty="0">
              <a:solidFill>
                <a:schemeClr val="accent1"/>
              </a:solidFill>
            </a:endParaRPr>
          </a:p>
          <a:p>
            <a:pPr marL="0" indent="0">
              <a:buNone/>
            </a:pPr>
            <a:endParaRPr lang="en-US" dirty="0"/>
          </a:p>
          <a:p>
            <a:r>
              <a:rPr lang="en-US" dirty="0"/>
              <a:t>The </a:t>
            </a:r>
            <a:r>
              <a:rPr lang="en-US" b="1" dirty="0"/>
              <a:t>Vulnerability</a:t>
            </a:r>
            <a:r>
              <a:rPr lang="en-US" dirty="0"/>
              <a:t> here is parametrized through the SR:</a:t>
            </a:r>
          </a:p>
          <a:p>
            <a:pPr lvl="1"/>
            <a:r>
              <a:rPr lang="en-US" dirty="0"/>
              <a:t>Just the SR: May be too influencing </a:t>
            </a:r>
          </a:p>
          <a:p>
            <a:pPr lvl="1"/>
            <a:r>
              <a:rPr lang="en-US" dirty="0"/>
              <a:t>A SR-based parameter:</a:t>
            </a:r>
          </a:p>
          <a:p>
            <a:pPr lvl="2"/>
            <a:r>
              <a:rPr lang="en-US" b="1" dirty="0"/>
              <a:t>Linear normalization:</a:t>
            </a:r>
            <a:r>
              <a:rPr lang="en-US" dirty="0"/>
              <a:t> keeps proportional differences between SR values.</a:t>
            </a:r>
          </a:p>
          <a:p>
            <a:pPr lvl="2"/>
            <a:r>
              <a:rPr lang="en-US" b="1" dirty="0"/>
              <a:t>Dimensionless:</a:t>
            </a:r>
            <a:r>
              <a:rPr lang="en-US" dirty="0"/>
              <a:t> Not bonded to SR’s native 0–10 scale</a:t>
            </a:r>
          </a:p>
          <a:p>
            <a:pPr lvl="2"/>
            <a:r>
              <a:rPr lang="en-US" b="1" dirty="0"/>
              <a:t>Bounded effect:</a:t>
            </a:r>
            <a:r>
              <a:rPr lang="en-US" dirty="0"/>
              <a:t> limits influence to ×1–×2 multiplier, preventing runaway impacts</a:t>
            </a:r>
          </a:p>
          <a:p>
            <a:pPr lvl="2"/>
            <a:r>
              <a:rPr lang="en-US" dirty="0"/>
              <a:t>“Materials with the highest SR have twice the vulnerability contribution of the least risky ones.”</a:t>
            </a:r>
          </a:p>
          <a:p>
            <a:pPr marL="342000" lvl="1" indent="0">
              <a:buNone/>
            </a:pPr>
            <a:endParaRPr lang="en-US" dirty="0">
              <a:sym typeface="Wingdings" panose="05000000000000000000" pitchFamily="2" charset="2"/>
            </a:endParaRPr>
          </a:p>
          <a:p>
            <a:pPr marL="342000" lvl="1" indent="0">
              <a:buNone/>
            </a:pPr>
            <a:r>
              <a:rPr lang="en-US" dirty="0">
                <a:sym typeface="Wingdings" panose="05000000000000000000" pitchFamily="2" charset="2"/>
              </a:rPr>
              <a:t></a:t>
            </a:r>
            <a:r>
              <a:rPr lang="en-US" dirty="0"/>
              <a:t>This makes the impact term slightly amplify high-SR materials but never by more than a factor of 2, so the price disruption scenarios remain dominated by </a:t>
            </a:r>
            <a:r>
              <a:rPr lang="en-US" b="1" dirty="0"/>
              <a:t>cluster behavior</a:t>
            </a:r>
            <a:r>
              <a:rPr lang="en-US" dirty="0"/>
              <a:t>, not SR extremes.</a:t>
            </a:r>
          </a:p>
        </p:txBody>
      </p:sp>
      <p:sp>
        <p:nvSpPr>
          <p:cNvPr id="3" name="Title 2">
            <a:extLst>
              <a:ext uri="{FF2B5EF4-FFF2-40B4-BE49-F238E27FC236}">
                <a16:creationId xmlns:a16="http://schemas.microsoft.com/office/drawing/2014/main" id="{1FF4FEA3-EFEF-D0BE-1A57-193A8347E1F4}"/>
              </a:ext>
            </a:extLst>
          </p:cNvPr>
          <p:cNvSpPr>
            <a:spLocks noGrp="1"/>
          </p:cNvSpPr>
          <p:nvPr>
            <p:ph type="title"/>
          </p:nvPr>
        </p:nvSpPr>
        <p:spPr/>
        <p:txBody>
          <a:bodyPr/>
          <a:lstStyle/>
          <a:p>
            <a:r>
              <a:rPr lang="en-US" dirty="0"/>
              <a:t>Joint CRMs price disruption scenarios</a:t>
            </a:r>
          </a:p>
        </p:txBody>
      </p:sp>
      <p:pic>
        <p:nvPicPr>
          <p:cNvPr id="4" name="Picture 3">
            <a:extLst>
              <a:ext uri="{FF2B5EF4-FFF2-40B4-BE49-F238E27FC236}">
                <a16:creationId xmlns:a16="http://schemas.microsoft.com/office/drawing/2014/main" id="{46D06461-0FA3-72D2-1C9F-B21256906E89}"/>
              </a:ext>
            </a:extLst>
          </p:cNvPr>
          <p:cNvPicPr>
            <a:picLocks noChangeAspect="1"/>
          </p:cNvPicPr>
          <p:nvPr/>
        </p:nvPicPr>
        <p:blipFill>
          <a:blip r:embed="rId2"/>
          <a:stretch>
            <a:fillRect/>
          </a:stretch>
        </p:blipFill>
        <p:spPr>
          <a:xfrm>
            <a:off x="11156512" y="682233"/>
            <a:ext cx="381645" cy="41389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42F3D43-9B85-9B52-F819-43969EB043E8}"/>
                  </a:ext>
                </a:extLst>
              </p:cNvPr>
              <p:cNvSpPr txBox="1"/>
              <p:nvPr/>
            </p:nvSpPr>
            <p:spPr>
              <a:xfrm>
                <a:off x="8999382" y="1638523"/>
                <a:ext cx="2538772" cy="5884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it-IT" b="0" i="1" smtClean="0">
                              <a:latin typeface="Cambria Math" panose="02040503050406030204" pitchFamily="18" charset="0"/>
                            </a:rPr>
                            <m:t>𝑆h𝑖𝑓𝑡</m:t>
                          </m:r>
                        </m:e>
                        <m:sub>
                          <m:r>
                            <a:rPr lang="it-IT" b="0" i="1" smtClean="0">
                              <a:latin typeface="Cambria Math" panose="02040503050406030204" pitchFamily="18" charset="0"/>
                            </a:rPr>
                            <m:t>𝑚</m:t>
                          </m:r>
                          <m:r>
                            <a:rPr lang="it-IT" b="0" i="1" smtClean="0">
                              <a:latin typeface="Cambria Math" panose="02040503050406030204" pitchFamily="18" charset="0"/>
                            </a:rPr>
                            <m:t>,</m:t>
                          </m:r>
                          <m:r>
                            <a:rPr lang="it-IT" b="0" i="1" smtClean="0">
                              <a:latin typeface="Cambria Math" panose="02040503050406030204" pitchFamily="18" charset="0"/>
                            </a:rPr>
                            <m:t>𝑐</m:t>
                          </m:r>
                          <m:r>
                            <a:rPr lang="it-IT" b="0" i="1" smtClean="0">
                              <a:latin typeface="Cambria Math" panose="02040503050406030204" pitchFamily="18" charset="0"/>
                            </a:rPr>
                            <m:t>,</m:t>
                          </m:r>
                          <m:r>
                            <a:rPr lang="it-IT" b="0" i="1" smtClean="0">
                              <a:latin typeface="Cambria Math" panose="02040503050406030204" pitchFamily="18" charset="0"/>
                            </a:rPr>
                            <m:t>𝑡</m:t>
                          </m:r>
                        </m:sub>
                      </m:sSub>
                      <m:r>
                        <a:rPr lang="it-IT" b="0" i="1" smtClean="0">
                          <a:latin typeface="Cambria Math" panose="02040503050406030204" pitchFamily="18" charset="0"/>
                        </a:rPr>
                        <m:t>=</m:t>
                      </m:r>
                      <m:f>
                        <m:fPr>
                          <m:ctrlPr>
                            <a:rPr lang="it-IT" b="0" i="1" smtClean="0">
                              <a:latin typeface="Cambria Math" panose="02040503050406030204" pitchFamily="18" charset="0"/>
                            </a:rPr>
                          </m:ctrlPr>
                        </m:fPr>
                        <m:num>
                          <m:sSub>
                            <m:sSubPr>
                              <m:ctrlPr>
                                <a:rPr lang="it-IT" b="0" i="1" smtClean="0">
                                  <a:latin typeface="Cambria Math" panose="02040503050406030204" pitchFamily="18" charset="0"/>
                                </a:rPr>
                              </m:ctrlPr>
                            </m:sSubPr>
                            <m:e>
                              <m:r>
                                <a:rPr lang="it-IT" b="0" i="1" smtClean="0">
                                  <a:latin typeface="Cambria Math" panose="02040503050406030204" pitchFamily="18" charset="0"/>
                                </a:rPr>
                                <m:t>𝐶</m:t>
                              </m:r>
                            </m:e>
                            <m:sub>
                              <m:r>
                                <a:rPr lang="it-IT" b="0" i="1" smtClean="0">
                                  <a:latin typeface="Cambria Math" panose="02040503050406030204" pitchFamily="18" charset="0"/>
                                </a:rPr>
                                <m:t>𝑚</m:t>
                              </m:r>
                              <m:r>
                                <a:rPr lang="it-IT" b="0" i="1" smtClean="0">
                                  <a:latin typeface="Cambria Math" panose="02040503050406030204" pitchFamily="18" charset="0"/>
                                </a:rPr>
                                <m:t>,</m:t>
                              </m:r>
                              <m:r>
                                <a:rPr lang="it-IT" b="0" i="1" smtClean="0">
                                  <a:latin typeface="Cambria Math" panose="02040503050406030204" pitchFamily="18" charset="0"/>
                                </a:rPr>
                                <m:t>𝑐</m:t>
                              </m:r>
                              <m:r>
                                <a:rPr lang="it-IT" b="0" i="1" smtClean="0">
                                  <a:latin typeface="Cambria Math" panose="02040503050406030204" pitchFamily="18" charset="0"/>
                                </a:rPr>
                                <m:t>,</m:t>
                              </m:r>
                              <m:r>
                                <a:rPr lang="it-IT" b="0" i="1" smtClean="0">
                                  <a:latin typeface="Cambria Math" panose="02040503050406030204" pitchFamily="18" charset="0"/>
                                </a:rPr>
                                <m:t>𝑡</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𝜇</m:t>
                              </m:r>
                            </m:e>
                            <m:sub>
                              <m:r>
                                <a:rPr lang="it-IT" b="0" i="1" smtClean="0">
                                  <a:latin typeface="Cambria Math" panose="02040503050406030204" pitchFamily="18" charset="0"/>
                                </a:rPr>
                                <m:t>𝑚</m:t>
                              </m:r>
                              <m:r>
                                <a:rPr lang="it-IT" b="0" i="1" smtClean="0">
                                  <a:latin typeface="Cambria Math" panose="02040503050406030204" pitchFamily="18" charset="0"/>
                                </a:rPr>
                                <m:t>,</m:t>
                              </m:r>
                              <m:r>
                                <a:rPr lang="it-IT" b="0" i="1" smtClean="0">
                                  <a:latin typeface="Cambria Math" panose="02040503050406030204" pitchFamily="18" charset="0"/>
                                </a:rPr>
                                <m:t>𝑡</m:t>
                              </m:r>
                            </m:sub>
                          </m:sSub>
                        </m:num>
                        <m:den>
                          <m:sSub>
                            <m:sSubPr>
                              <m:ctrlPr>
                                <a:rPr lang="it-IT" b="0" i="1" smtClean="0">
                                  <a:latin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𝜎</m:t>
                              </m:r>
                            </m:e>
                            <m:sub>
                              <m:r>
                                <a:rPr lang="it-IT" b="0" i="1" smtClean="0">
                                  <a:latin typeface="Cambria Math" panose="02040503050406030204" pitchFamily="18" charset="0"/>
                                </a:rPr>
                                <m:t>𝑚</m:t>
                              </m:r>
                              <m:r>
                                <a:rPr lang="it-IT" b="0" i="1" smtClean="0">
                                  <a:latin typeface="Cambria Math" panose="02040503050406030204" pitchFamily="18" charset="0"/>
                                </a:rPr>
                                <m:t>,</m:t>
                              </m:r>
                              <m:r>
                                <a:rPr lang="it-IT" b="0" i="1" smtClean="0">
                                  <a:latin typeface="Cambria Math" panose="02040503050406030204" pitchFamily="18" charset="0"/>
                                </a:rPr>
                                <m:t>𝑡</m:t>
                              </m:r>
                            </m:sub>
                          </m:sSub>
                        </m:den>
                      </m:f>
                    </m:oMath>
                  </m:oMathPara>
                </a14:m>
                <a:endParaRPr lang="en-US" dirty="0"/>
              </a:p>
            </p:txBody>
          </p:sp>
        </mc:Choice>
        <mc:Fallback xmlns="">
          <p:sp>
            <p:nvSpPr>
              <p:cNvPr id="5" name="TextBox 4">
                <a:extLst>
                  <a:ext uri="{FF2B5EF4-FFF2-40B4-BE49-F238E27FC236}">
                    <a16:creationId xmlns:a16="http://schemas.microsoft.com/office/drawing/2014/main" id="{342F3D43-9B85-9B52-F819-43969EB043E8}"/>
                  </a:ext>
                </a:extLst>
              </p:cNvPr>
              <p:cNvSpPr txBox="1">
                <a:spLocks noRot="1" noChangeAspect="1" noMove="1" noResize="1" noEditPoints="1" noAdjustHandles="1" noChangeArrowheads="1" noChangeShapeType="1" noTextEdit="1"/>
              </p:cNvSpPr>
              <p:nvPr/>
            </p:nvSpPr>
            <p:spPr>
              <a:xfrm>
                <a:off x="8999382" y="1638523"/>
                <a:ext cx="2538772" cy="5884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B4E9105-9703-F1F9-D4EF-D0A60B8DB7E3}"/>
                  </a:ext>
                </a:extLst>
              </p:cNvPr>
              <p:cNvSpPr txBox="1"/>
              <p:nvPr/>
            </p:nvSpPr>
            <p:spPr>
              <a:xfrm>
                <a:off x="8589975" y="3365288"/>
                <a:ext cx="2948179" cy="5884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𝑚</m:t>
                          </m:r>
                        </m:sub>
                      </m:sSub>
                      <m:r>
                        <a:rPr lang="it-IT" b="0" i="1" smtClean="0">
                          <a:latin typeface="Cambria Math" panose="02040503050406030204" pitchFamily="18" charset="0"/>
                        </a:rPr>
                        <m:t>=1+</m:t>
                      </m:r>
                      <m:f>
                        <m:fPr>
                          <m:ctrlPr>
                            <a:rPr lang="it-IT" b="0" i="1" smtClean="0">
                              <a:latin typeface="Cambria Math" panose="02040503050406030204" pitchFamily="18" charset="0"/>
                            </a:rPr>
                          </m:ctrlPr>
                        </m:fPr>
                        <m:num>
                          <m:r>
                            <a:rPr lang="it-IT" b="0" i="1" smtClean="0">
                              <a:latin typeface="Cambria Math" panose="02040503050406030204" pitchFamily="18" charset="0"/>
                            </a:rPr>
                            <m:t>𝑆𝑅</m:t>
                          </m:r>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𝑆𝑅</m:t>
                              </m:r>
                            </m:e>
                            <m:sub>
                              <m:r>
                                <a:rPr lang="it-IT" b="0" i="1" smtClean="0">
                                  <a:latin typeface="Cambria Math" panose="02040503050406030204" pitchFamily="18" charset="0"/>
                                </a:rPr>
                                <m:t>𝑚𝑖𝑛</m:t>
                              </m:r>
                              <m:r>
                                <a:rPr lang="it-IT" b="0" i="1" smtClean="0">
                                  <a:latin typeface="Cambria Math" panose="02040503050406030204" pitchFamily="18" charset="0"/>
                                </a:rPr>
                                <m:t>,</m:t>
                              </m:r>
                              <m:r>
                                <a:rPr lang="it-IT" b="0" i="1" smtClean="0">
                                  <a:latin typeface="Cambria Math" panose="02040503050406030204" pitchFamily="18" charset="0"/>
                                </a:rPr>
                                <m:t>𝑚</m:t>
                              </m:r>
                            </m:sub>
                          </m:sSub>
                        </m:num>
                        <m:den>
                          <m:sSub>
                            <m:sSubPr>
                              <m:ctrlPr>
                                <a:rPr lang="it-IT" i="1">
                                  <a:latin typeface="Cambria Math" panose="02040503050406030204" pitchFamily="18" charset="0"/>
                                </a:rPr>
                              </m:ctrlPr>
                            </m:sSubPr>
                            <m:e>
                              <m:r>
                                <a:rPr lang="it-IT" i="1">
                                  <a:latin typeface="Cambria Math" panose="02040503050406030204" pitchFamily="18" charset="0"/>
                                </a:rPr>
                                <m:t>𝑆𝑅</m:t>
                              </m:r>
                            </m:e>
                            <m:sub>
                              <m:r>
                                <a:rPr lang="it-IT" i="1">
                                  <a:latin typeface="Cambria Math" panose="02040503050406030204" pitchFamily="18" charset="0"/>
                                </a:rPr>
                                <m:t>𝑚</m:t>
                              </m:r>
                              <m:r>
                                <a:rPr lang="it-IT" b="0" i="1" smtClean="0">
                                  <a:latin typeface="Cambria Math" panose="02040503050406030204" pitchFamily="18" charset="0"/>
                                </a:rPr>
                                <m:t>𝑎𝑥</m:t>
                              </m:r>
                              <m:r>
                                <a:rPr lang="it-IT" b="0" i="1" smtClean="0">
                                  <a:latin typeface="Cambria Math" panose="02040503050406030204" pitchFamily="18" charset="0"/>
                                </a:rPr>
                                <m:t>,</m:t>
                              </m:r>
                              <m:r>
                                <a:rPr lang="it-IT" b="0" i="1" smtClean="0">
                                  <a:latin typeface="Cambria Math" panose="02040503050406030204" pitchFamily="18" charset="0"/>
                                </a:rPr>
                                <m:t>𝑚</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𝑆𝑅</m:t>
                              </m:r>
                            </m:e>
                            <m:sub>
                              <m:r>
                                <a:rPr lang="it-IT" i="1">
                                  <a:latin typeface="Cambria Math" panose="02040503050406030204" pitchFamily="18" charset="0"/>
                                </a:rPr>
                                <m:t>𝑚𝑖𝑛</m:t>
                              </m:r>
                              <m:r>
                                <a:rPr lang="it-IT" b="0" i="1" smtClean="0">
                                  <a:latin typeface="Cambria Math" panose="02040503050406030204" pitchFamily="18" charset="0"/>
                                </a:rPr>
                                <m:t>,</m:t>
                              </m:r>
                              <m:r>
                                <a:rPr lang="it-IT" b="0" i="1" smtClean="0">
                                  <a:latin typeface="Cambria Math" panose="02040503050406030204" pitchFamily="18" charset="0"/>
                                </a:rPr>
                                <m:t>𝑚</m:t>
                              </m:r>
                            </m:sub>
                          </m:sSub>
                        </m:den>
                      </m:f>
                    </m:oMath>
                  </m:oMathPara>
                </a14:m>
                <a:endParaRPr lang="en-US" dirty="0"/>
              </a:p>
            </p:txBody>
          </p:sp>
        </mc:Choice>
        <mc:Fallback xmlns="">
          <p:sp>
            <p:nvSpPr>
              <p:cNvPr id="6" name="TextBox 5">
                <a:extLst>
                  <a:ext uri="{FF2B5EF4-FFF2-40B4-BE49-F238E27FC236}">
                    <a16:creationId xmlns:a16="http://schemas.microsoft.com/office/drawing/2014/main" id="{BB4E9105-9703-F1F9-D4EF-D0A60B8DB7E3}"/>
                  </a:ext>
                </a:extLst>
              </p:cNvPr>
              <p:cNvSpPr txBox="1">
                <a:spLocks noRot="1" noChangeAspect="1" noMove="1" noResize="1" noEditPoints="1" noAdjustHandles="1" noChangeArrowheads="1" noChangeShapeType="1" noTextEdit="1"/>
              </p:cNvSpPr>
              <p:nvPr/>
            </p:nvSpPr>
            <p:spPr>
              <a:xfrm>
                <a:off x="8589975" y="3365288"/>
                <a:ext cx="2948179" cy="588431"/>
              </a:xfrm>
              <a:prstGeom prst="rect">
                <a:avLst/>
              </a:prstGeom>
              <a:blipFill>
                <a:blip r:embed="rId4"/>
                <a:stretch>
                  <a:fillRect/>
                </a:stretch>
              </a:blipFill>
            </p:spPr>
            <p:txBody>
              <a:bodyPr/>
              <a:lstStyle/>
              <a:p>
                <a:r>
                  <a:rPr lang="en-US">
                    <a:noFill/>
                  </a:rPr>
                  <a:t> </a:t>
                </a:r>
              </a:p>
            </p:txBody>
          </p:sp>
        </mc:Fallback>
      </mc:AlternateContent>
      <p:sp>
        <p:nvSpPr>
          <p:cNvPr id="9" name="Content Placeholder 1">
            <a:extLst>
              <a:ext uri="{FF2B5EF4-FFF2-40B4-BE49-F238E27FC236}">
                <a16:creationId xmlns:a16="http://schemas.microsoft.com/office/drawing/2014/main" id="{CDC5B3AB-43C1-E295-FCEC-DFC27C5DFF8A}"/>
              </a:ext>
            </a:extLst>
          </p:cNvPr>
          <p:cNvSpPr txBox="1">
            <a:spLocks/>
          </p:cNvSpPr>
          <p:nvPr/>
        </p:nvSpPr>
        <p:spPr>
          <a:xfrm>
            <a:off x="8999382" y="4062137"/>
            <a:ext cx="2689717" cy="7443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40000" lnSpcReduction="20000"/>
          </a:bodyPr>
          <a:lst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lang="en-US" sz="2400"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lang="en-US" sz="20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lang="en-US" sz="16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lang="en-US" sz="140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lang="en-US" sz="1400" kern="1200" noProof="0" dirty="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Wingdings" panose="05000000000000000000" pitchFamily="2" charset="2"/>
              <a:buNone/>
            </a:pPr>
            <a:r>
              <a:rPr lang="en-US" dirty="0"/>
              <a:t>Titanium metal instead of titanium</a:t>
            </a:r>
          </a:p>
          <a:p>
            <a:pPr marL="0" indent="0">
              <a:buFont typeface="Wingdings" panose="05000000000000000000" pitchFamily="2" charset="2"/>
              <a:buNone/>
            </a:pPr>
            <a:r>
              <a:rPr lang="en-US" dirty="0"/>
              <a:t>Average between HREE and LREE</a:t>
            </a:r>
          </a:p>
          <a:p>
            <a:pPr marL="0" indent="0">
              <a:buFont typeface="Wingdings" panose="05000000000000000000" pitchFamily="2" charset="2"/>
              <a:buNone/>
            </a:pPr>
            <a:r>
              <a:rPr lang="en-US" dirty="0"/>
              <a:t>Fluorspar and niobium not included because the lack of USGS price data</a:t>
            </a:r>
          </a:p>
          <a:p>
            <a:endParaRPr lang="en-US" dirty="0"/>
          </a:p>
        </p:txBody>
      </p:sp>
    </p:spTree>
    <p:extLst>
      <p:ext uri="{BB962C8B-B14F-4D97-AF65-F5344CB8AC3E}">
        <p14:creationId xmlns:p14="http://schemas.microsoft.com/office/powerpoint/2010/main" val="22865133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619E4E4-A480-079C-6876-AA76ECE1E81D}"/>
                  </a:ext>
                </a:extLst>
              </p:cNvPr>
              <p:cNvSpPr>
                <a:spLocks noGrp="1"/>
              </p:cNvSpPr>
              <p:nvPr>
                <p:ph idx="13"/>
              </p:nvPr>
            </p:nvSpPr>
            <p:spPr/>
            <p:txBody>
              <a:bodyPr>
                <a:normAutofit fontScale="85000" lnSpcReduction="10000"/>
              </a:bodyPr>
              <a:lstStyle/>
              <a:p>
                <a:r>
                  <a:rPr lang="en-US" dirty="0">
                    <a:solidFill>
                      <a:schemeClr val="accent1"/>
                    </a:solidFill>
                  </a:rPr>
                  <a:t>Impact Score</a:t>
                </a:r>
                <a:r>
                  <a:rPr lang="en-US" dirty="0"/>
                  <a:t> per material, cluster and time-horizon:</a:t>
                </a:r>
              </a:p>
              <a:p>
                <a:pPr marL="0" indent="0" algn="ctr">
                  <a:buNone/>
                </a:pPr>
                <a:endParaRPr lang="en-US"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it-IT" b="0" i="1" smtClean="0">
                              <a:latin typeface="Cambria Math" panose="02040503050406030204" pitchFamily="18" charset="0"/>
                            </a:rPr>
                            <m:t>𝐼𝑚𝑝𝑎𝑐𝑡</m:t>
                          </m:r>
                          <m:r>
                            <a:rPr lang="it-IT" b="0" i="1" smtClean="0">
                              <a:latin typeface="Cambria Math" panose="02040503050406030204" pitchFamily="18" charset="0"/>
                            </a:rPr>
                            <m:t> </m:t>
                          </m:r>
                          <m:r>
                            <a:rPr lang="it-IT" b="0" i="1" smtClean="0">
                              <a:latin typeface="Cambria Math" panose="02040503050406030204" pitchFamily="18" charset="0"/>
                            </a:rPr>
                            <m:t>𝑆𝑐𝑜𝑟𝑒</m:t>
                          </m:r>
                        </m:e>
                        <m:sub>
                          <m:r>
                            <a:rPr lang="it-IT" b="0" i="1" smtClean="0">
                              <a:latin typeface="Cambria Math" panose="02040503050406030204" pitchFamily="18" charset="0"/>
                            </a:rPr>
                            <m:t>𝑚</m:t>
                          </m:r>
                          <m:r>
                            <a:rPr lang="it-IT" b="0" i="1" smtClean="0">
                              <a:latin typeface="Cambria Math" panose="02040503050406030204" pitchFamily="18" charset="0"/>
                            </a:rPr>
                            <m:t>,</m:t>
                          </m:r>
                          <m:r>
                            <a:rPr lang="it-IT" b="0" i="1" smtClean="0">
                              <a:latin typeface="Cambria Math" panose="02040503050406030204" pitchFamily="18" charset="0"/>
                            </a:rPr>
                            <m:t>𝑐</m:t>
                          </m:r>
                          <m:r>
                            <a:rPr lang="it-IT" b="0" i="1" smtClean="0">
                              <a:latin typeface="Cambria Math" panose="02040503050406030204" pitchFamily="18" charset="0"/>
                            </a:rPr>
                            <m:t>,</m:t>
                          </m:r>
                          <m:r>
                            <a:rPr lang="it-IT" b="0" i="1" smtClean="0">
                              <a:latin typeface="Cambria Math" panose="02040503050406030204" pitchFamily="18" charset="0"/>
                            </a:rPr>
                            <m:t>𝑡</m:t>
                          </m:r>
                        </m:sub>
                      </m:sSub>
                      <m:r>
                        <a:rPr lang="it-IT" b="0" i="1" smtClean="0">
                          <a:latin typeface="Cambria Math" panose="02040503050406030204" pitchFamily="18" charset="0"/>
                        </a:rPr>
                        <m:t>= </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𝑆h𝑖𝑓𝑡</m:t>
                          </m:r>
                        </m:e>
                        <m:sub>
                          <m:r>
                            <a:rPr lang="it-IT" b="0" i="1" smtClean="0">
                              <a:latin typeface="Cambria Math" panose="02040503050406030204" pitchFamily="18" charset="0"/>
                            </a:rPr>
                            <m:t>𝑚</m:t>
                          </m:r>
                          <m:r>
                            <a:rPr lang="it-IT" b="0" i="1" smtClean="0">
                              <a:latin typeface="Cambria Math" panose="02040503050406030204" pitchFamily="18" charset="0"/>
                            </a:rPr>
                            <m:t>,</m:t>
                          </m:r>
                          <m:r>
                            <a:rPr lang="it-IT" b="0" i="1" smtClean="0">
                              <a:latin typeface="Cambria Math" panose="02040503050406030204" pitchFamily="18" charset="0"/>
                            </a:rPr>
                            <m:t>𝑐</m:t>
                          </m:r>
                          <m:r>
                            <a:rPr lang="it-IT" b="0" i="1" smtClean="0">
                              <a:latin typeface="Cambria Math" panose="02040503050406030204" pitchFamily="18" charset="0"/>
                            </a:rPr>
                            <m:t>,</m:t>
                          </m:r>
                          <m:r>
                            <a:rPr lang="it-IT" b="0" i="1" smtClean="0">
                              <a:latin typeface="Cambria Math" panose="02040503050406030204" pitchFamily="18" charset="0"/>
                            </a:rPr>
                            <m:t>𝑡</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𝑚</m:t>
                          </m:r>
                        </m:sub>
                      </m:sSub>
                    </m:oMath>
                  </m:oMathPara>
                </a14:m>
                <a:endParaRPr lang="en-US" dirty="0"/>
              </a:p>
              <a:p>
                <a:pPr marL="342000" lvl="1" indent="0">
                  <a:buNone/>
                </a:pPr>
                <a:endParaRPr lang="it-IT" dirty="0"/>
              </a:p>
              <a:p>
                <a:r>
                  <a:rPr lang="en-US" dirty="0"/>
                  <a:t>Each </a:t>
                </a:r>
                <a:r>
                  <a:rPr lang="en-US" dirty="0">
                    <a:solidFill>
                      <a:schemeClr val="accent1"/>
                    </a:solidFill>
                  </a:rPr>
                  <a:t>cluster</a:t>
                </a:r>
                <a:r>
                  <a:rPr lang="en-US" dirty="0"/>
                  <a:t> can be interpretated as a </a:t>
                </a:r>
                <a:r>
                  <a:rPr lang="en-US" dirty="0">
                    <a:solidFill>
                      <a:schemeClr val="accent1"/>
                    </a:solidFill>
                  </a:rPr>
                  <a:t>scenario</a:t>
                </a:r>
                <a:r>
                  <a:rPr lang="en-US" dirty="0"/>
                  <a:t> by looking at the cluster impact score:</a:t>
                </a:r>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it-IT" i="1">
                              <a:latin typeface="Cambria Math" panose="02040503050406030204" pitchFamily="18" charset="0"/>
                            </a:rPr>
                            <m:t>𝐼𝑚𝑝𝑎𝑐𝑡</m:t>
                          </m:r>
                          <m:r>
                            <a:rPr lang="it-IT" i="1">
                              <a:latin typeface="Cambria Math" panose="02040503050406030204" pitchFamily="18" charset="0"/>
                            </a:rPr>
                            <m:t> </m:t>
                          </m:r>
                          <m:r>
                            <a:rPr lang="it-IT" i="1">
                              <a:latin typeface="Cambria Math" panose="02040503050406030204" pitchFamily="18" charset="0"/>
                            </a:rPr>
                            <m:t>𝑆𝑐𝑜𝑟𝑒</m:t>
                          </m:r>
                        </m:e>
                        <m:sub>
                          <m:r>
                            <a:rPr lang="it-IT" i="1">
                              <a:latin typeface="Cambria Math" panose="02040503050406030204" pitchFamily="18" charset="0"/>
                            </a:rPr>
                            <m:t>𝑐</m:t>
                          </m:r>
                          <m:r>
                            <a:rPr lang="it-IT" i="1">
                              <a:latin typeface="Cambria Math" panose="02040503050406030204" pitchFamily="18" charset="0"/>
                            </a:rPr>
                            <m:t>,</m:t>
                          </m:r>
                          <m:r>
                            <a:rPr lang="it-IT" i="1">
                              <a:latin typeface="Cambria Math" panose="02040503050406030204" pitchFamily="18" charset="0"/>
                            </a:rPr>
                            <m:t>𝑡</m:t>
                          </m:r>
                        </m:sub>
                      </m:sSub>
                      <m:r>
                        <a:rPr lang="it-IT"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it-IT" i="1">
                              <a:latin typeface="Cambria Math" panose="02040503050406030204" pitchFamily="18" charset="0"/>
                            </a:rPr>
                            <m:t>𝑚</m:t>
                          </m:r>
                        </m:sub>
                        <m:sup/>
                        <m:e>
                          <m:sSub>
                            <m:sSubPr>
                              <m:ctrlPr>
                                <a:rPr lang="en-US" i="1">
                                  <a:latin typeface="Cambria Math" panose="02040503050406030204" pitchFamily="18" charset="0"/>
                                </a:rPr>
                              </m:ctrlPr>
                            </m:sSubPr>
                            <m:e>
                              <m:r>
                                <a:rPr lang="it-IT" i="1">
                                  <a:latin typeface="Cambria Math" panose="02040503050406030204" pitchFamily="18" charset="0"/>
                                </a:rPr>
                                <m:t>𝐼𝑚𝑝𝑎𝑐𝑡</m:t>
                              </m:r>
                              <m:r>
                                <a:rPr lang="it-IT" i="1">
                                  <a:latin typeface="Cambria Math" panose="02040503050406030204" pitchFamily="18" charset="0"/>
                                </a:rPr>
                                <m:t> </m:t>
                              </m:r>
                              <m:r>
                                <a:rPr lang="it-IT" i="1">
                                  <a:latin typeface="Cambria Math" panose="02040503050406030204" pitchFamily="18" charset="0"/>
                                </a:rPr>
                                <m:t>𝑆𝑐𝑜𝑟𝑒</m:t>
                              </m:r>
                            </m:e>
                            <m:sub>
                              <m:r>
                                <a:rPr lang="it-IT" i="1">
                                  <a:latin typeface="Cambria Math" panose="02040503050406030204" pitchFamily="18" charset="0"/>
                                </a:rPr>
                                <m:t>𝑚</m:t>
                              </m:r>
                              <m:r>
                                <a:rPr lang="it-IT" i="1">
                                  <a:latin typeface="Cambria Math" panose="02040503050406030204" pitchFamily="18" charset="0"/>
                                </a:rPr>
                                <m:t>,</m:t>
                              </m:r>
                              <m:r>
                                <a:rPr lang="it-IT" i="1">
                                  <a:latin typeface="Cambria Math" panose="02040503050406030204" pitchFamily="18" charset="0"/>
                                </a:rPr>
                                <m:t>𝑐</m:t>
                              </m:r>
                              <m:r>
                                <a:rPr lang="it-IT" i="1">
                                  <a:latin typeface="Cambria Math" panose="02040503050406030204" pitchFamily="18" charset="0"/>
                                </a:rPr>
                                <m:t>,</m:t>
                              </m:r>
                              <m:r>
                                <a:rPr lang="it-IT" i="1">
                                  <a:latin typeface="Cambria Math" panose="02040503050406030204" pitchFamily="18" charset="0"/>
                                </a:rPr>
                                <m:t>𝑡</m:t>
                              </m:r>
                            </m:sub>
                          </m:sSub>
                        </m:e>
                      </m:nary>
                    </m:oMath>
                  </m:oMathPara>
                </a14:m>
                <a:endParaRPr lang="en-US" dirty="0"/>
              </a:p>
              <a:p>
                <a:r>
                  <a:rPr lang="en-US" dirty="0"/>
                  <a:t>To properly characterize the </a:t>
                </a:r>
                <a:r>
                  <a:rPr lang="en-US" dirty="0">
                    <a:solidFill>
                      <a:schemeClr val="accent1"/>
                    </a:solidFill>
                  </a:rPr>
                  <a:t>time horizon </a:t>
                </a:r>
                <a:r>
                  <a:rPr lang="en-US" dirty="0"/>
                  <a:t>of the scenarios:</a:t>
                </a:r>
              </a:p>
              <a:p>
                <a:pPr lvl="1"/>
                <a:r>
                  <a:rPr lang="en-US" dirty="0"/>
                  <a:t>Short run scenario: Actual </a:t>
                </a:r>
                <a:r>
                  <a:rPr lang="en-US" dirty="0">
                    <a:sym typeface="Wingdings" panose="05000000000000000000" pitchFamily="2" charset="2"/>
                  </a:rPr>
                  <a:t> 3 years</a:t>
                </a:r>
              </a:p>
              <a:p>
                <a:pPr lvl="1"/>
                <a:r>
                  <a:rPr lang="en-US" dirty="0"/>
                  <a:t>Medium run scenario: 4 years </a:t>
                </a:r>
                <a:r>
                  <a:rPr lang="en-US" dirty="0">
                    <a:sym typeface="Wingdings" panose="05000000000000000000" pitchFamily="2" charset="2"/>
                  </a:rPr>
                  <a:t> 6 years</a:t>
                </a:r>
              </a:p>
              <a:p>
                <a:pPr lvl="1"/>
                <a:r>
                  <a:rPr lang="en-US" dirty="0">
                    <a:sym typeface="Wingdings" panose="05000000000000000000" pitchFamily="2" charset="2"/>
                  </a:rPr>
                  <a:t>Long run scenario: 7 years  10 years</a:t>
                </a:r>
              </a:p>
              <a:p>
                <a:pPr lvl="1"/>
                <a:endParaRPr lang="en-US" dirty="0"/>
              </a:p>
              <a:p>
                <a:r>
                  <a:rPr lang="en-US" dirty="0">
                    <a:solidFill>
                      <a:schemeClr val="accent1"/>
                    </a:solidFill>
                  </a:rPr>
                  <a:t>Labeling of materials </a:t>
                </a:r>
                <a:r>
                  <a:rPr lang="en-US" dirty="0"/>
                  <a:t>within scenarios according to their impact score among the time specific time horizon scenarios:</a:t>
                </a:r>
              </a:p>
              <a:p>
                <a:pPr lvl="1"/>
                <a:r>
                  <a:rPr lang="en-US" dirty="0"/>
                  <a:t>Low: First quartile of positive impact scores</a:t>
                </a:r>
              </a:p>
              <a:p>
                <a:pPr lvl="1"/>
                <a:r>
                  <a:rPr lang="en-US" dirty="0"/>
                  <a:t>Medium: Second and third quartiles of positive impact scores</a:t>
                </a:r>
              </a:p>
              <a:p>
                <a:pPr lvl="1"/>
                <a:r>
                  <a:rPr lang="en-US" dirty="0"/>
                  <a:t>High: Fourth quartile of positive impact scores</a:t>
                </a:r>
              </a:p>
              <a:p>
                <a:pPr lvl="1"/>
                <a:endParaRPr lang="en-US" dirty="0"/>
              </a:p>
              <a:p>
                <a:endParaRPr lang="en-US" dirty="0"/>
              </a:p>
            </p:txBody>
          </p:sp>
        </mc:Choice>
        <mc:Fallback xmlns="">
          <p:sp>
            <p:nvSpPr>
              <p:cNvPr id="2" name="Content Placeholder 1">
                <a:extLst>
                  <a:ext uri="{FF2B5EF4-FFF2-40B4-BE49-F238E27FC236}">
                    <a16:creationId xmlns:a16="http://schemas.microsoft.com/office/drawing/2014/main" id="{C619E4E4-A480-079C-6876-AA76ECE1E81D}"/>
                  </a:ext>
                </a:extLst>
              </p:cNvPr>
              <p:cNvSpPr>
                <a:spLocks noGrp="1" noRot="1" noChangeAspect="1" noMove="1" noResize="1" noEditPoints="1" noAdjustHandles="1" noChangeArrowheads="1" noChangeShapeType="1" noTextEdit="1"/>
              </p:cNvSpPr>
              <p:nvPr>
                <p:ph idx="13"/>
              </p:nvPr>
            </p:nvSpPr>
            <p:spPr>
              <a:blipFill>
                <a:blip r:embed="rId2"/>
                <a:stretch>
                  <a:fillRect l="-504" t="-192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023FE57-B585-345C-00E7-717BDB1DE932}"/>
              </a:ext>
            </a:extLst>
          </p:cNvPr>
          <p:cNvSpPr>
            <a:spLocks noGrp="1"/>
          </p:cNvSpPr>
          <p:nvPr>
            <p:ph type="title"/>
          </p:nvPr>
        </p:nvSpPr>
        <p:spPr/>
        <p:txBody>
          <a:bodyPr/>
          <a:lstStyle/>
          <a:p>
            <a:r>
              <a:rPr lang="en-US" dirty="0"/>
              <a:t>Joint CRMs price disruption scenarios</a:t>
            </a:r>
          </a:p>
        </p:txBody>
      </p:sp>
      <p:pic>
        <p:nvPicPr>
          <p:cNvPr id="4" name="Picture 3">
            <a:extLst>
              <a:ext uri="{FF2B5EF4-FFF2-40B4-BE49-F238E27FC236}">
                <a16:creationId xmlns:a16="http://schemas.microsoft.com/office/drawing/2014/main" id="{935D672A-B7F6-B154-D5BF-330FEA87A0D8}"/>
              </a:ext>
            </a:extLst>
          </p:cNvPr>
          <p:cNvPicPr>
            <a:picLocks noChangeAspect="1"/>
          </p:cNvPicPr>
          <p:nvPr/>
        </p:nvPicPr>
        <p:blipFill>
          <a:blip r:embed="rId3"/>
          <a:stretch>
            <a:fillRect/>
          </a:stretch>
        </p:blipFill>
        <p:spPr>
          <a:xfrm>
            <a:off x="11156512" y="653158"/>
            <a:ext cx="381645" cy="413896"/>
          </a:xfrm>
          <a:prstGeom prst="rect">
            <a:avLst/>
          </a:prstGeom>
        </p:spPr>
      </p:pic>
      <p:sp>
        <p:nvSpPr>
          <p:cNvPr id="6" name="Right Brace 5">
            <a:extLst>
              <a:ext uri="{FF2B5EF4-FFF2-40B4-BE49-F238E27FC236}">
                <a16:creationId xmlns:a16="http://schemas.microsoft.com/office/drawing/2014/main" id="{B62BE617-6C54-56B1-ED6D-4B769B20A38F}"/>
              </a:ext>
            </a:extLst>
          </p:cNvPr>
          <p:cNvSpPr/>
          <p:nvPr/>
        </p:nvSpPr>
        <p:spPr>
          <a:xfrm>
            <a:off x="6031345" y="3768435"/>
            <a:ext cx="230910" cy="719297"/>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2D684592-252A-7E55-F324-36C6F7365C84}"/>
              </a:ext>
            </a:extLst>
          </p:cNvPr>
          <p:cNvSpPr txBox="1"/>
          <p:nvPr/>
        </p:nvSpPr>
        <p:spPr>
          <a:xfrm>
            <a:off x="6465455" y="3874880"/>
            <a:ext cx="3140363" cy="523220"/>
          </a:xfrm>
          <a:prstGeom prst="rect">
            <a:avLst/>
          </a:prstGeom>
          <a:noFill/>
          <a:ln w="28575">
            <a:solidFill>
              <a:srgbClr val="0C77C3"/>
            </a:solidFill>
          </a:ln>
        </p:spPr>
        <p:txBody>
          <a:bodyPr wrap="square" rtlCol="0">
            <a:spAutoFit/>
          </a:bodyPr>
          <a:lstStyle/>
          <a:p>
            <a:r>
              <a:rPr lang="en-US" sz="1400" dirty="0">
                <a:ln w="0"/>
                <a:solidFill>
                  <a:schemeClr val="accent1"/>
                </a:solidFill>
                <a:effectLst>
                  <a:outerShdw blurRad="38100" dist="25400" dir="5400000" algn="ctr" rotWithShape="0">
                    <a:srgbClr val="6E747A">
                      <a:alpha val="43000"/>
                    </a:srgbClr>
                  </a:outerShdw>
                </a:effectLst>
              </a:rPr>
              <a:t>3 bunches of scenarios characterized by their time-horizons</a:t>
            </a:r>
          </a:p>
        </p:txBody>
      </p:sp>
    </p:spTree>
    <p:extLst>
      <p:ext uri="{BB962C8B-B14F-4D97-AF65-F5344CB8AC3E}">
        <p14:creationId xmlns:p14="http://schemas.microsoft.com/office/powerpoint/2010/main" val="25528667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E8ECD5-4F4E-66E1-6956-AE7EF64DEF84}"/>
              </a:ext>
            </a:extLst>
          </p:cNvPr>
          <p:cNvSpPr>
            <a:spLocks noGrp="1"/>
          </p:cNvSpPr>
          <p:nvPr>
            <p:ph idx="13"/>
          </p:nvPr>
        </p:nvSpPr>
        <p:spPr>
          <a:xfrm>
            <a:off x="653846" y="1204547"/>
            <a:ext cx="10884311" cy="5085417"/>
          </a:xfrm>
        </p:spPr>
        <p:txBody>
          <a:bodyPr>
            <a:normAutofit/>
          </a:bodyPr>
          <a:lstStyle/>
          <a:p>
            <a:r>
              <a:rPr lang="en-US" dirty="0">
                <a:solidFill>
                  <a:schemeClr val="accent1"/>
                </a:solidFill>
              </a:rPr>
              <a:t>No labeling to the clusters</a:t>
            </a:r>
            <a:r>
              <a:rPr lang="en-US" dirty="0"/>
              <a:t>, because they’re not a statistical-significant number, but they will be judged according to their own materials labeling and total impact scores:</a:t>
            </a:r>
          </a:p>
          <a:p>
            <a:pPr lvl="1"/>
            <a:r>
              <a:rPr lang="en-US" dirty="0"/>
              <a:t>i.e. </a:t>
            </a:r>
            <a:r>
              <a:rPr lang="en-US" i="1" dirty="0"/>
              <a:t>A quite disruptive long-run scenario is the one where lithium has a high impact, with also manganese, while many other materials have a medium impact. Total impact score of X explains the severity</a:t>
            </a:r>
          </a:p>
          <a:p>
            <a:pPr lvl="1"/>
            <a:r>
              <a:rPr lang="en-US" dirty="0"/>
              <a:t>Cluster </a:t>
            </a:r>
            <a:r>
              <a:rPr lang="en-US" sz="2000" dirty="0"/>
              <a:t>is a </a:t>
            </a:r>
            <a:r>
              <a:rPr lang="en-US" sz="2000" b="1" dirty="0"/>
              <a:t>regime signature </a:t>
            </a:r>
            <a:r>
              <a:rPr lang="en-US" sz="2000" dirty="0"/>
              <a:t>across materials (a vector of shifts), while m</a:t>
            </a:r>
            <a:r>
              <a:rPr lang="en-US" dirty="0"/>
              <a:t>aterials have different </a:t>
            </a:r>
            <a:r>
              <a:rPr lang="en-US" b="1" dirty="0"/>
              <a:t>behaviors across clusters</a:t>
            </a:r>
            <a:r>
              <a:rPr lang="en-US" dirty="0"/>
              <a:t> (regimes)</a:t>
            </a:r>
          </a:p>
          <a:p>
            <a:pPr lvl="1"/>
            <a:endParaRPr lang="en-US" dirty="0"/>
          </a:p>
          <a:p>
            <a:r>
              <a:rPr lang="en-US" dirty="0"/>
              <a:t>The </a:t>
            </a:r>
            <a:r>
              <a:rPr lang="en-US" dirty="0">
                <a:solidFill>
                  <a:schemeClr val="accent1"/>
                </a:solidFill>
              </a:rPr>
              <a:t>probabilities of disruption </a:t>
            </a:r>
            <a:r>
              <a:rPr lang="en-US" dirty="0"/>
              <a:t>can be shaped starting from the base probabilities:</a:t>
            </a:r>
          </a:p>
          <a:p>
            <a:pPr lvl="1"/>
            <a:r>
              <a:rPr lang="en-US" dirty="0"/>
              <a:t>Possibly, relate them with the EU_SR framework </a:t>
            </a:r>
            <a:r>
              <a:rPr lang="en-US" dirty="0">
                <a:sym typeface="Wingdings" panose="05000000000000000000" pitchFamily="2" charset="2"/>
              </a:rPr>
              <a:t> SR-based factor to express the “exposure level” of a scenario</a:t>
            </a:r>
          </a:p>
          <a:p>
            <a:pPr lvl="1"/>
            <a:r>
              <a:rPr lang="en-US" dirty="0">
                <a:sym typeface="Wingdings" panose="05000000000000000000" pitchFamily="2" charset="2"/>
              </a:rPr>
              <a:t>In TEMOA-stochastic environment, since sum of probabilities must be 1, the </a:t>
            </a:r>
            <a:endParaRPr lang="en-US" dirty="0"/>
          </a:p>
          <a:p>
            <a:pPr lvl="1"/>
            <a:endParaRPr lang="en-US" i="1" dirty="0"/>
          </a:p>
        </p:txBody>
      </p:sp>
      <p:sp>
        <p:nvSpPr>
          <p:cNvPr id="3" name="Title 2">
            <a:extLst>
              <a:ext uri="{FF2B5EF4-FFF2-40B4-BE49-F238E27FC236}">
                <a16:creationId xmlns:a16="http://schemas.microsoft.com/office/drawing/2014/main" id="{84DECB8E-4C08-506D-A74C-D426F9A95AE3}"/>
              </a:ext>
            </a:extLst>
          </p:cNvPr>
          <p:cNvSpPr>
            <a:spLocks noGrp="1"/>
          </p:cNvSpPr>
          <p:nvPr>
            <p:ph type="title"/>
          </p:nvPr>
        </p:nvSpPr>
        <p:spPr/>
        <p:txBody>
          <a:bodyPr/>
          <a:lstStyle/>
          <a:p>
            <a:r>
              <a:rPr lang="en-US" dirty="0"/>
              <a:t>Joint CRMs price disruption scenarios</a:t>
            </a:r>
          </a:p>
        </p:txBody>
      </p:sp>
      <p:pic>
        <p:nvPicPr>
          <p:cNvPr id="5" name="Picture 4">
            <a:extLst>
              <a:ext uri="{FF2B5EF4-FFF2-40B4-BE49-F238E27FC236}">
                <a16:creationId xmlns:a16="http://schemas.microsoft.com/office/drawing/2014/main" id="{3D199583-C2BE-096C-CC67-69C8DA1D5407}"/>
              </a:ext>
            </a:extLst>
          </p:cNvPr>
          <p:cNvPicPr>
            <a:picLocks noChangeAspect="1"/>
          </p:cNvPicPr>
          <p:nvPr/>
        </p:nvPicPr>
        <p:blipFill>
          <a:blip r:embed="rId2"/>
          <a:stretch>
            <a:fillRect/>
          </a:stretch>
        </p:blipFill>
        <p:spPr>
          <a:xfrm>
            <a:off x="11156512" y="653158"/>
            <a:ext cx="381645" cy="413896"/>
          </a:xfrm>
          <a:prstGeom prst="rect">
            <a:avLst/>
          </a:prstGeom>
        </p:spPr>
      </p:pic>
      <p:pic>
        <p:nvPicPr>
          <p:cNvPr id="6" name="Picture 5">
            <a:extLst>
              <a:ext uri="{FF2B5EF4-FFF2-40B4-BE49-F238E27FC236}">
                <a16:creationId xmlns:a16="http://schemas.microsoft.com/office/drawing/2014/main" id="{BC33691B-5EDE-D660-BA27-58BA0D1BD9C4}"/>
              </a:ext>
            </a:extLst>
          </p:cNvPr>
          <p:cNvPicPr>
            <a:picLocks noChangeAspect="1"/>
          </p:cNvPicPr>
          <p:nvPr/>
        </p:nvPicPr>
        <p:blipFill>
          <a:blip r:embed="rId3"/>
          <a:stretch>
            <a:fillRect/>
          </a:stretch>
        </p:blipFill>
        <p:spPr>
          <a:xfrm>
            <a:off x="4854849" y="5159838"/>
            <a:ext cx="215725" cy="215725"/>
          </a:xfrm>
          <a:prstGeom prst="rect">
            <a:avLst/>
          </a:prstGeom>
        </p:spPr>
      </p:pic>
    </p:spTree>
    <p:extLst>
      <p:ext uri="{BB962C8B-B14F-4D97-AF65-F5344CB8AC3E}">
        <p14:creationId xmlns:p14="http://schemas.microsoft.com/office/powerpoint/2010/main" val="32058277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AA64E9-3B48-68C9-69EA-C334CB814823}"/>
              </a:ext>
            </a:extLst>
          </p:cNvPr>
          <p:cNvSpPr>
            <a:spLocks noGrp="1"/>
          </p:cNvSpPr>
          <p:nvPr>
            <p:ph idx="13"/>
          </p:nvPr>
        </p:nvSpPr>
        <p:spPr>
          <a:xfrm>
            <a:off x="653846" y="1204547"/>
            <a:ext cx="10826953" cy="5064369"/>
          </a:xfrm>
        </p:spPr>
        <p:txBody>
          <a:bodyPr>
            <a:normAutofit lnSpcReduction="10000"/>
          </a:bodyPr>
          <a:lstStyle/>
          <a:p>
            <a:r>
              <a:rPr lang="en-US" dirty="0"/>
              <a:t>Actually, </a:t>
            </a:r>
            <a:r>
              <a:rPr lang="en-US" dirty="0">
                <a:solidFill>
                  <a:schemeClr val="accent1"/>
                </a:solidFill>
              </a:rPr>
              <a:t>cluster material centroids </a:t>
            </a:r>
            <a:r>
              <a:rPr lang="en-US" dirty="0"/>
              <a:t>will be the </a:t>
            </a:r>
            <a:r>
              <a:rPr lang="en-US" dirty="0">
                <a:solidFill>
                  <a:schemeClr val="accent1"/>
                </a:solidFill>
              </a:rPr>
              <a:t>input values in TEMOA-stochastic environment. </a:t>
            </a:r>
          </a:p>
          <a:p>
            <a:pPr lvl="1"/>
            <a:r>
              <a:rPr lang="en-US" dirty="0"/>
              <a:t>It should be discussed whether to multiply the centroids or not times the vulnerability factor, or another SR-based multiplier.</a:t>
            </a:r>
          </a:p>
          <a:p>
            <a:pPr lvl="1"/>
            <a:r>
              <a:rPr lang="en-US" dirty="0"/>
              <a:t>Since </a:t>
            </a:r>
            <a:r>
              <a:rPr lang="en-US" dirty="0" err="1"/>
              <a:t>TEMOA_Europe</a:t>
            </a:r>
            <a:r>
              <a:rPr lang="en-US" dirty="0"/>
              <a:t> database doesn’t include a supply-risk factors responsive/dependent structure, and it’s  just dependent to input flows, the SR-based multiplier can be a viable solution.</a:t>
            </a:r>
            <a:endParaRPr lang="en-US" dirty="0">
              <a:solidFill>
                <a:schemeClr val="accent1"/>
              </a:solidFill>
            </a:endParaRPr>
          </a:p>
          <a:p>
            <a:endParaRPr lang="en-US" dirty="0">
              <a:solidFill>
                <a:schemeClr val="accent1"/>
              </a:solidFill>
            </a:endParaRPr>
          </a:p>
          <a:p>
            <a:r>
              <a:rPr lang="en-US" dirty="0">
                <a:solidFill>
                  <a:schemeClr val="accent1"/>
                </a:solidFill>
              </a:rPr>
              <a:t>Price joint </a:t>
            </a:r>
            <a:r>
              <a:rPr lang="en-US" i="1" dirty="0">
                <a:solidFill>
                  <a:schemeClr val="accent1"/>
                </a:solidFill>
              </a:rPr>
              <a:t>disruptive</a:t>
            </a:r>
            <a:r>
              <a:rPr lang="en-US" dirty="0">
                <a:solidFill>
                  <a:schemeClr val="accent1"/>
                </a:solidFill>
              </a:rPr>
              <a:t> scenarios </a:t>
            </a:r>
            <a:r>
              <a:rPr lang="en-US" dirty="0"/>
              <a:t>are thus defined:</a:t>
            </a:r>
          </a:p>
          <a:p>
            <a:pPr lvl="1"/>
            <a:r>
              <a:rPr lang="en-US" dirty="0"/>
              <a:t>Data-driven approach</a:t>
            </a:r>
          </a:p>
          <a:p>
            <a:pPr lvl="1"/>
            <a:r>
              <a:rPr lang="en-US" dirty="0"/>
              <a:t>No need to define a subjective threshold for the concept of </a:t>
            </a:r>
            <a:r>
              <a:rPr lang="en-US" i="1" dirty="0"/>
              <a:t>disruptive</a:t>
            </a:r>
            <a:endParaRPr lang="en-US" dirty="0"/>
          </a:p>
          <a:p>
            <a:pPr lvl="1"/>
            <a:r>
              <a:rPr lang="en-US" dirty="0"/>
              <a:t>The SR granularity is included</a:t>
            </a:r>
          </a:p>
          <a:p>
            <a:pPr lvl="1"/>
            <a:r>
              <a:rPr lang="en-US" dirty="0"/>
              <a:t>Need to justify most impactful scenarios with historical findings:</a:t>
            </a:r>
          </a:p>
          <a:p>
            <a:pPr lvl="2"/>
            <a:r>
              <a:rPr lang="en-US" dirty="0"/>
              <a:t>Disruption events</a:t>
            </a:r>
          </a:p>
          <a:p>
            <a:pPr lvl="2"/>
            <a:r>
              <a:rPr lang="en-US" dirty="0"/>
              <a:t>Cycles</a:t>
            </a:r>
          </a:p>
          <a:p>
            <a:pPr lvl="1"/>
            <a:r>
              <a:rPr lang="en-US" dirty="0"/>
              <a:t>Despite not having clearly defined the disruptive threshold, it’s clear how much critical some scenarios are</a:t>
            </a:r>
          </a:p>
        </p:txBody>
      </p:sp>
      <p:sp>
        <p:nvSpPr>
          <p:cNvPr id="3" name="Title 2">
            <a:extLst>
              <a:ext uri="{FF2B5EF4-FFF2-40B4-BE49-F238E27FC236}">
                <a16:creationId xmlns:a16="http://schemas.microsoft.com/office/drawing/2014/main" id="{88CE0EE9-DDF9-EF51-C96A-A8F8801BF719}"/>
              </a:ext>
            </a:extLst>
          </p:cNvPr>
          <p:cNvSpPr>
            <a:spLocks noGrp="1"/>
          </p:cNvSpPr>
          <p:nvPr>
            <p:ph type="title"/>
          </p:nvPr>
        </p:nvSpPr>
        <p:spPr/>
        <p:txBody>
          <a:bodyPr/>
          <a:lstStyle/>
          <a:p>
            <a:r>
              <a:rPr lang="en-US" dirty="0"/>
              <a:t>Joint CRMs price disruption scenarios</a:t>
            </a:r>
          </a:p>
        </p:txBody>
      </p:sp>
      <p:sp>
        <p:nvSpPr>
          <p:cNvPr id="5" name="Rectangle 4">
            <a:extLst>
              <a:ext uri="{FF2B5EF4-FFF2-40B4-BE49-F238E27FC236}">
                <a16:creationId xmlns:a16="http://schemas.microsoft.com/office/drawing/2014/main" id="{64EE97B6-42D0-AB39-CEBF-4916B4FC9D03}"/>
              </a:ext>
            </a:extLst>
          </p:cNvPr>
          <p:cNvSpPr/>
          <p:nvPr/>
        </p:nvSpPr>
        <p:spPr>
          <a:xfrm>
            <a:off x="1016000" y="3942852"/>
            <a:ext cx="10160000" cy="2261990"/>
          </a:xfrm>
          <a:prstGeom prst="rect">
            <a:avLst/>
          </a:prstGeom>
          <a:noFill/>
          <a:ln w="38100">
            <a:solidFill>
              <a:srgbClr val="70AD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223D9B0-521E-EA19-E897-191D9E798384}"/>
              </a:ext>
            </a:extLst>
          </p:cNvPr>
          <p:cNvPicPr>
            <a:picLocks noChangeAspect="1"/>
          </p:cNvPicPr>
          <p:nvPr/>
        </p:nvPicPr>
        <p:blipFill>
          <a:blip r:embed="rId2"/>
          <a:stretch>
            <a:fillRect/>
          </a:stretch>
        </p:blipFill>
        <p:spPr>
          <a:xfrm>
            <a:off x="11156512" y="653158"/>
            <a:ext cx="381645" cy="413896"/>
          </a:xfrm>
          <a:prstGeom prst="rect">
            <a:avLst/>
          </a:prstGeom>
        </p:spPr>
      </p:pic>
      <p:pic>
        <p:nvPicPr>
          <p:cNvPr id="7" name="Picture 6">
            <a:extLst>
              <a:ext uri="{FF2B5EF4-FFF2-40B4-BE49-F238E27FC236}">
                <a16:creationId xmlns:a16="http://schemas.microsoft.com/office/drawing/2014/main" id="{5CA62E6F-24BE-9189-CD3A-4D1405D5F708}"/>
              </a:ext>
            </a:extLst>
          </p:cNvPr>
          <p:cNvPicPr>
            <a:picLocks noChangeAspect="1"/>
          </p:cNvPicPr>
          <p:nvPr/>
        </p:nvPicPr>
        <p:blipFill>
          <a:blip r:embed="rId3"/>
          <a:stretch>
            <a:fillRect/>
          </a:stretch>
        </p:blipFill>
        <p:spPr>
          <a:xfrm>
            <a:off x="5754350" y="2125905"/>
            <a:ext cx="215725" cy="215725"/>
          </a:xfrm>
          <a:prstGeom prst="rect">
            <a:avLst/>
          </a:prstGeom>
        </p:spPr>
      </p:pic>
    </p:spTree>
    <p:extLst>
      <p:ext uri="{BB962C8B-B14F-4D97-AF65-F5344CB8AC3E}">
        <p14:creationId xmlns:p14="http://schemas.microsoft.com/office/powerpoint/2010/main" val="38952904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D9306E-1BC9-7A6C-06EA-EE09C98FEB6E}"/>
              </a:ext>
            </a:extLst>
          </p:cNvPr>
          <p:cNvSpPr>
            <a:spLocks noGrp="1"/>
          </p:cNvSpPr>
          <p:nvPr>
            <p:ph type="title"/>
          </p:nvPr>
        </p:nvSpPr>
        <p:spPr/>
        <p:txBody>
          <a:bodyPr/>
          <a:lstStyle/>
          <a:p>
            <a:r>
              <a:rPr lang="en-US" dirty="0"/>
              <a:t>CRMs market analysis </a:t>
            </a:r>
            <a:r>
              <a:rPr lang="en-US" dirty="0">
                <a:sym typeface="Wingdings" panose="05000000000000000000" pitchFamily="2" charset="2"/>
              </a:rPr>
              <a:t> Price disruption scenarios: Results</a:t>
            </a:r>
            <a:endParaRPr lang="en-US" dirty="0"/>
          </a:p>
        </p:txBody>
      </p:sp>
      <p:pic>
        <p:nvPicPr>
          <p:cNvPr id="6" name="Content Placeholder 5">
            <a:extLst>
              <a:ext uri="{FF2B5EF4-FFF2-40B4-BE49-F238E27FC236}">
                <a16:creationId xmlns:a16="http://schemas.microsoft.com/office/drawing/2014/main" id="{D4E4DA87-8093-EA6C-08D6-B19A08677DEC}"/>
              </a:ext>
            </a:extLst>
          </p:cNvPr>
          <p:cNvPicPr>
            <a:picLocks noGrp="1" noChangeAspect="1"/>
          </p:cNvPicPr>
          <p:nvPr>
            <p:ph idx="13"/>
          </p:nvPr>
        </p:nvPicPr>
        <p:blipFill>
          <a:blip r:embed="rId2"/>
          <a:stretch>
            <a:fillRect/>
          </a:stretch>
        </p:blipFill>
        <p:spPr>
          <a:xfrm>
            <a:off x="1630244" y="1360055"/>
            <a:ext cx="8931512" cy="4137890"/>
          </a:xfrm>
          <a:prstGeom prst="rect">
            <a:avLst/>
          </a:prstGeom>
        </p:spPr>
      </p:pic>
      <p:pic>
        <p:nvPicPr>
          <p:cNvPr id="2" name="Picture 1">
            <a:extLst>
              <a:ext uri="{FF2B5EF4-FFF2-40B4-BE49-F238E27FC236}">
                <a16:creationId xmlns:a16="http://schemas.microsoft.com/office/drawing/2014/main" id="{843B5317-7D59-7D1C-5169-FDE3547E6828}"/>
              </a:ext>
            </a:extLst>
          </p:cNvPr>
          <p:cNvPicPr>
            <a:picLocks noChangeAspect="1"/>
          </p:cNvPicPr>
          <p:nvPr/>
        </p:nvPicPr>
        <p:blipFill>
          <a:blip r:embed="rId3"/>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28688980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Content Placeholder 18">
            <a:extLst>
              <a:ext uri="{FF2B5EF4-FFF2-40B4-BE49-F238E27FC236}">
                <a16:creationId xmlns:a16="http://schemas.microsoft.com/office/drawing/2014/main" id="{C4AFF44C-BCCD-CDFE-1D21-8A8320E838ED}"/>
              </a:ext>
            </a:extLst>
          </p:cNvPr>
          <p:cNvPicPr>
            <a:picLocks noGrp="1" noChangeAspect="1"/>
          </p:cNvPicPr>
          <p:nvPr>
            <p:ph idx="13"/>
          </p:nvPr>
        </p:nvPicPr>
        <p:blipFill>
          <a:blip r:embed="rId2"/>
          <a:stretch>
            <a:fillRect/>
          </a:stretch>
        </p:blipFill>
        <p:spPr>
          <a:xfrm>
            <a:off x="659723" y="1531598"/>
            <a:ext cx="10826702" cy="4792316"/>
          </a:xfrm>
          <a:prstGeom prst="rect">
            <a:avLst/>
          </a:prstGeom>
        </p:spPr>
      </p:pic>
      <p:sp>
        <p:nvSpPr>
          <p:cNvPr id="3" name="Title 2">
            <a:extLst>
              <a:ext uri="{FF2B5EF4-FFF2-40B4-BE49-F238E27FC236}">
                <a16:creationId xmlns:a16="http://schemas.microsoft.com/office/drawing/2014/main" id="{B316EE69-505C-2488-7B40-8B22F2C56B5F}"/>
              </a:ext>
            </a:extLst>
          </p:cNvPr>
          <p:cNvSpPr>
            <a:spLocks noGrp="1"/>
          </p:cNvSpPr>
          <p:nvPr>
            <p:ph type="title"/>
          </p:nvPr>
        </p:nvSpPr>
        <p:spPr/>
        <p:txBody>
          <a:bodyPr/>
          <a:lstStyle/>
          <a:p>
            <a:r>
              <a:rPr lang="en-US" dirty="0"/>
              <a:t>CRMs market analysis </a:t>
            </a:r>
            <a:r>
              <a:rPr lang="en-US" dirty="0">
                <a:sym typeface="Wingdings" panose="05000000000000000000" pitchFamily="2" charset="2"/>
              </a:rPr>
              <a:t> Price disruption scenarios: Results</a:t>
            </a:r>
            <a:endParaRPr lang="en-US" dirty="0"/>
          </a:p>
        </p:txBody>
      </p:sp>
      <p:grpSp>
        <p:nvGrpSpPr>
          <p:cNvPr id="11" name="Group 10">
            <a:extLst>
              <a:ext uri="{FF2B5EF4-FFF2-40B4-BE49-F238E27FC236}">
                <a16:creationId xmlns:a16="http://schemas.microsoft.com/office/drawing/2014/main" id="{5E7CCFBB-D579-0EAA-FAD3-E5F74D26F8B5}"/>
              </a:ext>
            </a:extLst>
          </p:cNvPr>
          <p:cNvGrpSpPr/>
          <p:nvPr/>
        </p:nvGrpSpPr>
        <p:grpSpPr>
          <a:xfrm>
            <a:off x="4115974" y="2698747"/>
            <a:ext cx="7282873" cy="3221474"/>
            <a:chOff x="4110180" y="2199984"/>
            <a:chExt cx="7282873" cy="3221474"/>
          </a:xfrm>
        </p:grpSpPr>
        <p:sp>
          <p:nvSpPr>
            <p:cNvPr id="6" name="Oval 5">
              <a:extLst>
                <a:ext uri="{FF2B5EF4-FFF2-40B4-BE49-F238E27FC236}">
                  <a16:creationId xmlns:a16="http://schemas.microsoft.com/office/drawing/2014/main" id="{7DA26AEA-D190-57E6-6BDA-C96FB338BA8E}"/>
                </a:ext>
              </a:extLst>
            </p:cNvPr>
            <p:cNvSpPr/>
            <p:nvPr/>
          </p:nvSpPr>
          <p:spPr>
            <a:xfrm>
              <a:off x="4110180" y="2199984"/>
              <a:ext cx="1533238" cy="457199"/>
            </a:xfrm>
            <a:prstGeom prst="ellipse">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Oval 7">
              <a:extLst>
                <a:ext uri="{FF2B5EF4-FFF2-40B4-BE49-F238E27FC236}">
                  <a16:creationId xmlns:a16="http://schemas.microsoft.com/office/drawing/2014/main" id="{1ED7CF2A-F7B8-DA4E-029C-B05C09CB09B6}"/>
                </a:ext>
              </a:extLst>
            </p:cNvPr>
            <p:cNvSpPr/>
            <p:nvPr/>
          </p:nvSpPr>
          <p:spPr>
            <a:xfrm>
              <a:off x="9859815" y="2199984"/>
              <a:ext cx="1533238" cy="457199"/>
            </a:xfrm>
            <a:prstGeom prst="ellipse">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Oval 8">
              <a:extLst>
                <a:ext uri="{FF2B5EF4-FFF2-40B4-BE49-F238E27FC236}">
                  <a16:creationId xmlns:a16="http://schemas.microsoft.com/office/drawing/2014/main" id="{F2A425E0-5C8E-FA63-F46E-C580AA295119}"/>
                </a:ext>
              </a:extLst>
            </p:cNvPr>
            <p:cNvSpPr/>
            <p:nvPr/>
          </p:nvSpPr>
          <p:spPr>
            <a:xfrm>
              <a:off x="4110180" y="4964259"/>
              <a:ext cx="1533238" cy="457199"/>
            </a:xfrm>
            <a:prstGeom prst="ellipse">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Oval 9">
              <a:extLst>
                <a:ext uri="{FF2B5EF4-FFF2-40B4-BE49-F238E27FC236}">
                  <a16:creationId xmlns:a16="http://schemas.microsoft.com/office/drawing/2014/main" id="{F63B94B5-E8FD-F0E7-82F3-F6198A884526}"/>
                </a:ext>
              </a:extLst>
            </p:cNvPr>
            <p:cNvSpPr/>
            <p:nvPr/>
          </p:nvSpPr>
          <p:spPr>
            <a:xfrm>
              <a:off x="9859815" y="4964259"/>
              <a:ext cx="1533238" cy="457199"/>
            </a:xfrm>
            <a:prstGeom prst="ellipse">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CEAB00F-16C9-5288-6DD9-8D52578728AD}"/>
              </a:ext>
            </a:extLst>
          </p:cNvPr>
          <p:cNvGrpSpPr/>
          <p:nvPr/>
        </p:nvGrpSpPr>
        <p:grpSpPr>
          <a:xfrm>
            <a:off x="4765964" y="6022105"/>
            <a:ext cx="5934361" cy="233218"/>
            <a:chOff x="4765964" y="5504875"/>
            <a:chExt cx="5934361" cy="233218"/>
          </a:xfrm>
        </p:grpSpPr>
        <p:sp>
          <p:nvSpPr>
            <p:cNvPr id="12" name="Arrow: Up 11">
              <a:extLst>
                <a:ext uri="{FF2B5EF4-FFF2-40B4-BE49-F238E27FC236}">
                  <a16:creationId xmlns:a16="http://schemas.microsoft.com/office/drawing/2014/main" id="{5CAEAA9E-7999-4E69-B7C0-AA795DFF7DC9}"/>
                </a:ext>
              </a:extLst>
            </p:cNvPr>
            <p:cNvSpPr/>
            <p:nvPr/>
          </p:nvSpPr>
          <p:spPr>
            <a:xfrm>
              <a:off x="4765964" y="5504875"/>
              <a:ext cx="147782" cy="233218"/>
            </a:xfrm>
            <a:prstGeom prst="up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Up 12">
              <a:extLst>
                <a:ext uri="{FF2B5EF4-FFF2-40B4-BE49-F238E27FC236}">
                  <a16:creationId xmlns:a16="http://schemas.microsoft.com/office/drawing/2014/main" id="{038426B9-1D72-82D9-E404-2AB46103B8A6}"/>
                </a:ext>
              </a:extLst>
            </p:cNvPr>
            <p:cNvSpPr/>
            <p:nvPr/>
          </p:nvSpPr>
          <p:spPr>
            <a:xfrm>
              <a:off x="10552543" y="5504875"/>
              <a:ext cx="147782" cy="233218"/>
            </a:xfrm>
            <a:prstGeom prst="up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78DEBB87-6E40-800D-2847-E9BD3C11A3F8}"/>
              </a:ext>
            </a:extLst>
          </p:cNvPr>
          <p:cNvSpPr txBox="1"/>
          <p:nvPr/>
        </p:nvSpPr>
        <p:spPr>
          <a:xfrm>
            <a:off x="659723" y="3600138"/>
            <a:ext cx="10725434" cy="461665"/>
          </a:xfrm>
          <a:prstGeom prst="rect">
            <a:avLst/>
          </a:prstGeom>
          <a:noFill/>
        </p:spPr>
        <p:txBody>
          <a:bodyPr wrap="square" rtlCol="0">
            <a:spAutoFit/>
          </a:bodyPr>
          <a:lstStyle/>
          <a:p>
            <a:r>
              <a:rPr lang="en-US" sz="1200" dirty="0"/>
              <a:t>IS0: Impact scores table with zeros</a:t>
            </a:r>
          </a:p>
          <a:p>
            <a:r>
              <a:rPr lang="en-US" sz="1200" dirty="0"/>
              <a:t>IS: Impact scores table w/o zeros</a:t>
            </a:r>
          </a:p>
        </p:txBody>
      </p:sp>
      <p:sp>
        <p:nvSpPr>
          <p:cNvPr id="20" name="TextBox 19">
            <a:extLst>
              <a:ext uri="{FF2B5EF4-FFF2-40B4-BE49-F238E27FC236}">
                <a16:creationId xmlns:a16="http://schemas.microsoft.com/office/drawing/2014/main" id="{376F4831-5001-CD03-D6FD-EE26A8C483C0}"/>
              </a:ext>
            </a:extLst>
          </p:cNvPr>
          <p:cNvSpPr txBox="1"/>
          <p:nvPr/>
        </p:nvSpPr>
        <p:spPr>
          <a:xfrm>
            <a:off x="659723" y="1018991"/>
            <a:ext cx="10725434" cy="369332"/>
          </a:xfrm>
          <a:prstGeom prst="rect">
            <a:avLst/>
          </a:prstGeom>
          <a:noFill/>
        </p:spPr>
        <p:txBody>
          <a:bodyPr wrap="square" rtlCol="0">
            <a:spAutoFit/>
          </a:bodyPr>
          <a:lstStyle/>
          <a:p>
            <a:r>
              <a:rPr lang="en-US" dirty="0"/>
              <a:t>Aggregate results for all the time horizons</a:t>
            </a:r>
          </a:p>
        </p:txBody>
      </p:sp>
      <p:grpSp>
        <p:nvGrpSpPr>
          <p:cNvPr id="5" name="Group 4">
            <a:extLst>
              <a:ext uri="{FF2B5EF4-FFF2-40B4-BE49-F238E27FC236}">
                <a16:creationId xmlns:a16="http://schemas.microsoft.com/office/drawing/2014/main" id="{C4A1420E-AE12-9B20-2472-AD043E79F13E}"/>
              </a:ext>
            </a:extLst>
          </p:cNvPr>
          <p:cNvGrpSpPr/>
          <p:nvPr/>
        </p:nvGrpSpPr>
        <p:grpSpPr>
          <a:xfrm>
            <a:off x="2295485" y="5575012"/>
            <a:ext cx="984135" cy="233218"/>
            <a:chOff x="2295485" y="5575012"/>
            <a:chExt cx="984135" cy="233218"/>
          </a:xfrm>
        </p:grpSpPr>
        <p:sp>
          <p:nvSpPr>
            <p:cNvPr id="2" name="Arrow: Up 1">
              <a:extLst>
                <a:ext uri="{FF2B5EF4-FFF2-40B4-BE49-F238E27FC236}">
                  <a16:creationId xmlns:a16="http://schemas.microsoft.com/office/drawing/2014/main" id="{FF9D7A3D-5B47-C6AF-14D3-90B7AC3AF143}"/>
                </a:ext>
              </a:extLst>
            </p:cNvPr>
            <p:cNvSpPr/>
            <p:nvPr/>
          </p:nvSpPr>
          <p:spPr>
            <a:xfrm>
              <a:off x="2295485" y="5575012"/>
              <a:ext cx="147782" cy="233218"/>
            </a:xfrm>
            <a:prstGeom prst="up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Up 3">
              <a:extLst>
                <a:ext uri="{FF2B5EF4-FFF2-40B4-BE49-F238E27FC236}">
                  <a16:creationId xmlns:a16="http://schemas.microsoft.com/office/drawing/2014/main" id="{4D32E243-DE90-5A65-50E9-ACF772E4C4D0}"/>
                </a:ext>
              </a:extLst>
            </p:cNvPr>
            <p:cNvSpPr/>
            <p:nvPr/>
          </p:nvSpPr>
          <p:spPr>
            <a:xfrm>
              <a:off x="3131838" y="5575012"/>
              <a:ext cx="147782" cy="233218"/>
            </a:xfrm>
            <a:prstGeom prst="up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5C86ED64-CE28-3093-3FD6-24298A95B07E}"/>
              </a:ext>
            </a:extLst>
          </p:cNvPr>
          <p:cNvGrpSpPr/>
          <p:nvPr/>
        </p:nvGrpSpPr>
        <p:grpSpPr>
          <a:xfrm>
            <a:off x="8035885" y="5565772"/>
            <a:ext cx="984135" cy="233218"/>
            <a:chOff x="2295485" y="5575012"/>
            <a:chExt cx="984135" cy="233218"/>
          </a:xfrm>
        </p:grpSpPr>
        <p:sp>
          <p:nvSpPr>
            <p:cNvPr id="16" name="Arrow: Up 15">
              <a:extLst>
                <a:ext uri="{FF2B5EF4-FFF2-40B4-BE49-F238E27FC236}">
                  <a16:creationId xmlns:a16="http://schemas.microsoft.com/office/drawing/2014/main" id="{B68F00EA-F2F0-CC24-83C7-B8FCE7F658E8}"/>
                </a:ext>
              </a:extLst>
            </p:cNvPr>
            <p:cNvSpPr/>
            <p:nvPr/>
          </p:nvSpPr>
          <p:spPr>
            <a:xfrm>
              <a:off x="2295485" y="5575012"/>
              <a:ext cx="147782" cy="233218"/>
            </a:xfrm>
            <a:prstGeom prst="up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Up 16">
              <a:extLst>
                <a:ext uri="{FF2B5EF4-FFF2-40B4-BE49-F238E27FC236}">
                  <a16:creationId xmlns:a16="http://schemas.microsoft.com/office/drawing/2014/main" id="{F5643545-3B3B-835C-8A80-76BB26A7673D}"/>
                </a:ext>
              </a:extLst>
            </p:cNvPr>
            <p:cNvSpPr/>
            <p:nvPr/>
          </p:nvSpPr>
          <p:spPr>
            <a:xfrm>
              <a:off x="3131838" y="5575012"/>
              <a:ext cx="147782" cy="233218"/>
            </a:xfrm>
            <a:prstGeom prst="up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900971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46768B-6BDD-6263-7AE0-CFAA1AF2C68C}"/>
              </a:ext>
            </a:extLst>
          </p:cNvPr>
          <p:cNvSpPr>
            <a:spLocks noGrp="1"/>
          </p:cNvSpPr>
          <p:nvPr>
            <p:ph type="title"/>
          </p:nvPr>
        </p:nvSpPr>
        <p:spPr/>
        <p:txBody>
          <a:bodyPr/>
          <a:lstStyle/>
          <a:p>
            <a:r>
              <a:rPr lang="en-US" dirty="0"/>
              <a:t>CRMs market analysis </a:t>
            </a:r>
            <a:r>
              <a:rPr lang="en-US" dirty="0">
                <a:sym typeface="Wingdings" panose="05000000000000000000" pitchFamily="2" charset="2"/>
              </a:rPr>
              <a:t> Price disruption scenarios: Results</a:t>
            </a:r>
            <a:endParaRPr lang="en-US" dirty="0"/>
          </a:p>
        </p:txBody>
      </p:sp>
      <p:sp>
        <p:nvSpPr>
          <p:cNvPr id="11" name="TextBox 10">
            <a:extLst>
              <a:ext uri="{FF2B5EF4-FFF2-40B4-BE49-F238E27FC236}">
                <a16:creationId xmlns:a16="http://schemas.microsoft.com/office/drawing/2014/main" id="{1BF8A8E1-8306-EF8C-51BA-6FB31201BC83}"/>
              </a:ext>
            </a:extLst>
          </p:cNvPr>
          <p:cNvSpPr txBox="1"/>
          <p:nvPr/>
        </p:nvSpPr>
        <p:spPr>
          <a:xfrm>
            <a:off x="659723" y="1018991"/>
            <a:ext cx="10725434" cy="369332"/>
          </a:xfrm>
          <a:prstGeom prst="rect">
            <a:avLst/>
          </a:prstGeom>
          <a:noFill/>
        </p:spPr>
        <p:txBody>
          <a:bodyPr wrap="square" rtlCol="0">
            <a:spAutoFit/>
          </a:bodyPr>
          <a:lstStyle/>
          <a:p>
            <a:r>
              <a:rPr lang="en-US" dirty="0"/>
              <a:t>Aggregate results for short-term horizon</a:t>
            </a:r>
          </a:p>
        </p:txBody>
      </p:sp>
      <p:pic>
        <p:nvPicPr>
          <p:cNvPr id="14" name="Content Placeholder 13">
            <a:extLst>
              <a:ext uri="{FF2B5EF4-FFF2-40B4-BE49-F238E27FC236}">
                <a16:creationId xmlns:a16="http://schemas.microsoft.com/office/drawing/2014/main" id="{4394D10A-D802-D8BC-1DD8-1688156BFF66}"/>
              </a:ext>
            </a:extLst>
          </p:cNvPr>
          <p:cNvPicPr>
            <a:picLocks noGrp="1" noChangeAspect="1"/>
          </p:cNvPicPr>
          <p:nvPr>
            <p:ph idx="13"/>
          </p:nvPr>
        </p:nvPicPr>
        <p:blipFill>
          <a:blip r:embed="rId2"/>
          <a:stretch>
            <a:fillRect/>
          </a:stretch>
        </p:blipFill>
        <p:spPr>
          <a:xfrm>
            <a:off x="2587800" y="1419604"/>
            <a:ext cx="7016400" cy="4456232"/>
          </a:xfrm>
          <a:prstGeom prst="rect">
            <a:avLst/>
          </a:prstGeom>
        </p:spPr>
      </p:pic>
      <p:pic>
        <p:nvPicPr>
          <p:cNvPr id="2" name="Picture 1">
            <a:extLst>
              <a:ext uri="{FF2B5EF4-FFF2-40B4-BE49-F238E27FC236}">
                <a16:creationId xmlns:a16="http://schemas.microsoft.com/office/drawing/2014/main" id="{2B227125-3D77-4582-694D-33788D10788D}"/>
              </a:ext>
            </a:extLst>
          </p:cNvPr>
          <p:cNvPicPr>
            <a:picLocks noChangeAspect="1"/>
          </p:cNvPicPr>
          <p:nvPr/>
        </p:nvPicPr>
        <p:blipFill>
          <a:blip r:embed="rId3"/>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21088311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D3C617-8D41-10F3-BC82-B7D29D4020DC}"/>
              </a:ext>
            </a:extLst>
          </p:cNvPr>
          <p:cNvSpPr>
            <a:spLocks noGrp="1"/>
          </p:cNvSpPr>
          <p:nvPr>
            <p:ph type="title"/>
          </p:nvPr>
        </p:nvSpPr>
        <p:spPr/>
        <p:txBody>
          <a:bodyPr/>
          <a:lstStyle/>
          <a:p>
            <a:r>
              <a:rPr lang="en-US" dirty="0"/>
              <a:t>CRMs market analysis </a:t>
            </a:r>
            <a:r>
              <a:rPr lang="en-US" dirty="0">
                <a:sym typeface="Wingdings" panose="05000000000000000000" pitchFamily="2" charset="2"/>
              </a:rPr>
              <a:t> Price disruption scenarios: Results</a:t>
            </a:r>
            <a:endParaRPr lang="en-US" dirty="0"/>
          </a:p>
        </p:txBody>
      </p:sp>
      <p:sp>
        <p:nvSpPr>
          <p:cNvPr id="4" name="TextBox 3">
            <a:extLst>
              <a:ext uri="{FF2B5EF4-FFF2-40B4-BE49-F238E27FC236}">
                <a16:creationId xmlns:a16="http://schemas.microsoft.com/office/drawing/2014/main" id="{70C33E3B-4139-4BD3-A0CF-73779BA76E80}"/>
              </a:ext>
            </a:extLst>
          </p:cNvPr>
          <p:cNvSpPr txBox="1"/>
          <p:nvPr/>
        </p:nvSpPr>
        <p:spPr>
          <a:xfrm>
            <a:off x="659723" y="1018991"/>
            <a:ext cx="10725434" cy="369332"/>
          </a:xfrm>
          <a:prstGeom prst="rect">
            <a:avLst/>
          </a:prstGeom>
          <a:noFill/>
        </p:spPr>
        <p:txBody>
          <a:bodyPr wrap="square" rtlCol="0">
            <a:spAutoFit/>
          </a:bodyPr>
          <a:lstStyle/>
          <a:p>
            <a:r>
              <a:rPr lang="en-US" dirty="0"/>
              <a:t>Aggregate results for medium-term horizon</a:t>
            </a:r>
          </a:p>
        </p:txBody>
      </p:sp>
      <p:pic>
        <p:nvPicPr>
          <p:cNvPr id="5" name="Picture 4">
            <a:extLst>
              <a:ext uri="{FF2B5EF4-FFF2-40B4-BE49-F238E27FC236}">
                <a16:creationId xmlns:a16="http://schemas.microsoft.com/office/drawing/2014/main" id="{9DB67A7F-9C9B-993B-16FB-0D0863427AE6}"/>
              </a:ext>
            </a:extLst>
          </p:cNvPr>
          <p:cNvPicPr>
            <a:picLocks noChangeAspect="1"/>
          </p:cNvPicPr>
          <p:nvPr/>
        </p:nvPicPr>
        <p:blipFill>
          <a:blip r:embed="rId2"/>
          <a:stretch>
            <a:fillRect/>
          </a:stretch>
        </p:blipFill>
        <p:spPr>
          <a:xfrm>
            <a:off x="2587800" y="1419604"/>
            <a:ext cx="7016400" cy="4456233"/>
          </a:xfrm>
          <a:prstGeom prst="rect">
            <a:avLst/>
          </a:prstGeom>
        </p:spPr>
      </p:pic>
      <p:pic>
        <p:nvPicPr>
          <p:cNvPr id="2" name="Picture 1">
            <a:extLst>
              <a:ext uri="{FF2B5EF4-FFF2-40B4-BE49-F238E27FC236}">
                <a16:creationId xmlns:a16="http://schemas.microsoft.com/office/drawing/2014/main" id="{A6FCE160-A0F6-6149-AB93-D1ED66671DD8}"/>
              </a:ext>
            </a:extLst>
          </p:cNvPr>
          <p:cNvPicPr>
            <a:picLocks noChangeAspect="1"/>
          </p:cNvPicPr>
          <p:nvPr/>
        </p:nvPicPr>
        <p:blipFill>
          <a:blip r:embed="rId3"/>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24196757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F14D03-F148-09FC-C443-F112E12FB098}"/>
              </a:ext>
            </a:extLst>
          </p:cNvPr>
          <p:cNvSpPr>
            <a:spLocks noGrp="1"/>
          </p:cNvSpPr>
          <p:nvPr>
            <p:ph type="title"/>
          </p:nvPr>
        </p:nvSpPr>
        <p:spPr/>
        <p:txBody>
          <a:bodyPr/>
          <a:lstStyle/>
          <a:p>
            <a:r>
              <a:rPr lang="en-US" dirty="0"/>
              <a:t>CRMs market analysis </a:t>
            </a:r>
            <a:r>
              <a:rPr lang="en-US" dirty="0">
                <a:sym typeface="Wingdings" panose="05000000000000000000" pitchFamily="2" charset="2"/>
              </a:rPr>
              <a:t> Price disruption scenarios: Results</a:t>
            </a:r>
            <a:endParaRPr lang="en-US" dirty="0"/>
          </a:p>
        </p:txBody>
      </p:sp>
      <p:sp>
        <p:nvSpPr>
          <p:cNvPr id="4" name="TextBox 3">
            <a:extLst>
              <a:ext uri="{FF2B5EF4-FFF2-40B4-BE49-F238E27FC236}">
                <a16:creationId xmlns:a16="http://schemas.microsoft.com/office/drawing/2014/main" id="{79F42CF3-A296-DACF-1241-1CF202BDB82F}"/>
              </a:ext>
            </a:extLst>
          </p:cNvPr>
          <p:cNvSpPr txBox="1"/>
          <p:nvPr/>
        </p:nvSpPr>
        <p:spPr>
          <a:xfrm>
            <a:off x="659723" y="1018991"/>
            <a:ext cx="10725434" cy="369332"/>
          </a:xfrm>
          <a:prstGeom prst="rect">
            <a:avLst/>
          </a:prstGeom>
          <a:noFill/>
        </p:spPr>
        <p:txBody>
          <a:bodyPr wrap="square" rtlCol="0">
            <a:spAutoFit/>
          </a:bodyPr>
          <a:lstStyle/>
          <a:p>
            <a:r>
              <a:rPr lang="en-US" dirty="0"/>
              <a:t>Aggregate results for long-term horizon</a:t>
            </a:r>
          </a:p>
        </p:txBody>
      </p:sp>
      <p:pic>
        <p:nvPicPr>
          <p:cNvPr id="7" name="Picture 6">
            <a:extLst>
              <a:ext uri="{FF2B5EF4-FFF2-40B4-BE49-F238E27FC236}">
                <a16:creationId xmlns:a16="http://schemas.microsoft.com/office/drawing/2014/main" id="{CBE38508-368F-691D-F6D1-025A5DB41D92}"/>
              </a:ext>
            </a:extLst>
          </p:cNvPr>
          <p:cNvPicPr>
            <a:picLocks noChangeAspect="1"/>
          </p:cNvPicPr>
          <p:nvPr/>
        </p:nvPicPr>
        <p:blipFill>
          <a:blip r:embed="rId2"/>
          <a:stretch>
            <a:fillRect/>
          </a:stretch>
        </p:blipFill>
        <p:spPr>
          <a:xfrm>
            <a:off x="2587800" y="1419604"/>
            <a:ext cx="7016400" cy="4456232"/>
          </a:xfrm>
          <a:prstGeom prst="rect">
            <a:avLst/>
          </a:prstGeom>
        </p:spPr>
      </p:pic>
      <p:pic>
        <p:nvPicPr>
          <p:cNvPr id="2" name="Picture 1">
            <a:extLst>
              <a:ext uri="{FF2B5EF4-FFF2-40B4-BE49-F238E27FC236}">
                <a16:creationId xmlns:a16="http://schemas.microsoft.com/office/drawing/2014/main" id="{A304BA6B-2758-B191-72F8-C8673094C262}"/>
              </a:ext>
            </a:extLst>
          </p:cNvPr>
          <p:cNvPicPr>
            <a:picLocks noChangeAspect="1"/>
          </p:cNvPicPr>
          <p:nvPr/>
        </p:nvPicPr>
        <p:blipFill>
          <a:blip r:embed="rId3"/>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42597483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7716F2-C42E-3052-DBCE-E5616114777B}"/>
              </a:ext>
            </a:extLst>
          </p:cNvPr>
          <p:cNvSpPr>
            <a:spLocks noGrp="1"/>
          </p:cNvSpPr>
          <p:nvPr>
            <p:ph type="title"/>
          </p:nvPr>
        </p:nvSpPr>
        <p:spPr/>
        <p:txBody>
          <a:bodyPr/>
          <a:lstStyle/>
          <a:p>
            <a:r>
              <a:rPr lang="en-US" dirty="0"/>
              <a:t>CRMs market analysis </a:t>
            </a:r>
            <a:r>
              <a:rPr lang="en-US" dirty="0">
                <a:sym typeface="Wingdings" panose="05000000000000000000" pitchFamily="2" charset="2"/>
              </a:rPr>
              <a:t> Price disruption scenarios: Results</a:t>
            </a:r>
            <a:endParaRPr lang="en-US" dirty="0"/>
          </a:p>
        </p:txBody>
      </p:sp>
      <p:grpSp>
        <p:nvGrpSpPr>
          <p:cNvPr id="12" name="Group 11">
            <a:extLst>
              <a:ext uri="{FF2B5EF4-FFF2-40B4-BE49-F238E27FC236}">
                <a16:creationId xmlns:a16="http://schemas.microsoft.com/office/drawing/2014/main" id="{BCE0C0EB-0676-6BEB-1DB7-AA4A35498E4D}"/>
              </a:ext>
            </a:extLst>
          </p:cNvPr>
          <p:cNvGrpSpPr/>
          <p:nvPr/>
        </p:nvGrpSpPr>
        <p:grpSpPr>
          <a:xfrm>
            <a:off x="6266378" y="2252292"/>
            <a:ext cx="5333603" cy="3206402"/>
            <a:chOff x="6114340" y="2035759"/>
            <a:chExt cx="5476403" cy="3284385"/>
          </a:xfrm>
        </p:grpSpPr>
        <p:pic>
          <p:nvPicPr>
            <p:cNvPr id="5" name="Picture 4">
              <a:extLst>
                <a:ext uri="{FF2B5EF4-FFF2-40B4-BE49-F238E27FC236}">
                  <a16:creationId xmlns:a16="http://schemas.microsoft.com/office/drawing/2014/main" id="{371F7C85-E50F-D20F-A144-B654CCF71C2F}"/>
                </a:ext>
              </a:extLst>
            </p:cNvPr>
            <p:cNvPicPr>
              <a:picLocks noChangeAspect="1"/>
            </p:cNvPicPr>
            <p:nvPr/>
          </p:nvPicPr>
          <p:blipFill>
            <a:blip r:embed="rId2"/>
            <a:stretch>
              <a:fillRect/>
            </a:stretch>
          </p:blipFill>
          <p:spPr>
            <a:xfrm>
              <a:off x="6114340" y="2035759"/>
              <a:ext cx="5476403" cy="3284385"/>
            </a:xfrm>
            <a:prstGeom prst="rect">
              <a:avLst/>
            </a:prstGeom>
          </p:spPr>
        </p:pic>
        <p:cxnSp>
          <p:nvCxnSpPr>
            <p:cNvPr id="7" name="Straight Arrow Connector 6">
              <a:extLst>
                <a:ext uri="{FF2B5EF4-FFF2-40B4-BE49-F238E27FC236}">
                  <a16:creationId xmlns:a16="http://schemas.microsoft.com/office/drawing/2014/main" id="{C3B7810F-4D15-8013-4AB5-C234DF5DAB26}"/>
                </a:ext>
              </a:extLst>
            </p:cNvPr>
            <p:cNvCxnSpPr>
              <a:cxnSpLocks/>
            </p:cNvCxnSpPr>
            <p:nvPr/>
          </p:nvCxnSpPr>
          <p:spPr>
            <a:xfrm>
              <a:off x="7093527" y="3186545"/>
              <a:ext cx="517237" cy="424873"/>
            </a:xfrm>
            <a:prstGeom prst="straightConnector1">
              <a:avLst/>
            </a:prstGeom>
            <a:ln w="38100">
              <a:solidFill>
                <a:srgbClr val="70AD47"/>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FAA73FD-775E-E188-41BD-BD531816B1B7}"/>
                </a:ext>
              </a:extLst>
            </p:cNvPr>
            <p:cNvCxnSpPr>
              <a:cxnSpLocks/>
            </p:cNvCxnSpPr>
            <p:nvPr/>
          </p:nvCxnSpPr>
          <p:spPr>
            <a:xfrm>
              <a:off x="8316832" y="2581563"/>
              <a:ext cx="517237" cy="424873"/>
            </a:xfrm>
            <a:prstGeom prst="straightConnector1">
              <a:avLst/>
            </a:prstGeom>
            <a:ln w="38100">
              <a:solidFill>
                <a:srgbClr val="70AD47"/>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59CE52C-11CB-8995-5F25-7C61D0566C96}"/>
                </a:ext>
              </a:extLst>
            </p:cNvPr>
            <p:cNvCxnSpPr>
              <a:cxnSpLocks/>
            </p:cNvCxnSpPr>
            <p:nvPr/>
          </p:nvCxnSpPr>
          <p:spPr>
            <a:xfrm>
              <a:off x="9522177" y="3348181"/>
              <a:ext cx="517237" cy="424873"/>
            </a:xfrm>
            <a:prstGeom prst="straightConnector1">
              <a:avLst/>
            </a:prstGeom>
            <a:ln w="38100">
              <a:solidFill>
                <a:srgbClr val="70AD47"/>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12F0987-7B15-EC36-6A13-FA1A2D588A2C}"/>
                </a:ext>
              </a:extLst>
            </p:cNvPr>
            <p:cNvCxnSpPr>
              <a:cxnSpLocks/>
            </p:cNvCxnSpPr>
            <p:nvPr/>
          </p:nvCxnSpPr>
          <p:spPr>
            <a:xfrm>
              <a:off x="10653632" y="3020290"/>
              <a:ext cx="517237" cy="424873"/>
            </a:xfrm>
            <a:prstGeom prst="straightConnector1">
              <a:avLst/>
            </a:prstGeom>
            <a:ln w="38100">
              <a:solidFill>
                <a:srgbClr val="70AD47"/>
              </a:solidFill>
              <a:tailEnd type="triangle"/>
            </a:ln>
          </p:spPr>
          <p:style>
            <a:lnRef idx="1">
              <a:schemeClr val="accent1"/>
            </a:lnRef>
            <a:fillRef idx="0">
              <a:schemeClr val="accent1"/>
            </a:fillRef>
            <a:effectRef idx="0">
              <a:schemeClr val="accent1"/>
            </a:effectRef>
            <a:fontRef idx="minor">
              <a:schemeClr val="tx1"/>
            </a:fontRef>
          </p:style>
        </p:cxnSp>
      </p:grpSp>
      <p:pic>
        <p:nvPicPr>
          <p:cNvPr id="13" name="Picture 12">
            <a:extLst>
              <a:ext uri="{FF2B5EF4-FFF2-40B4-BE49-F238E27FC236}">
                <a16:creationId xmlns:a16="http://schemas.microsoft.com/office/drawing/2014/main" id="{AD75B4AD-3A7D-E3C4-632D-0928B35DD692}"/>
              </a:ext>
            </a:extLst>
          </p:cNvPr>
          <p:cNvPicPr>
            <a:picLocks noChangeAspect="1"/>
          </p:cNvPicPr>
          <p:nvPr/>
        </p:nvPicPr>
        <p:blipFill>
          <a:blip r:embed="rId3"/>
          <a:stretch>
            <a:fillRect/>
          </a:stretch>
        </p:blipFill>
        <p:spPr>
          <a:xfrm>
            <a:off x="6266378" y="1082043"/>
            <a:ext cx="5333603" cy="1120617"/>
          </a:xfrm>
          <a:prstGeom prst="rect">
            <a:avLst/>
          </a:prstGeom>
        </p:spPr>
      </p:pic>
      <p:pic>
        <p:nvPicPr>
          <p:cNvPr id="16" name="Picture 15">
            <a:extLst>
              <a:ext uri="{FF2B5EF4-FFF2-40B4-BE49-F238E27FC236}">
                <a16:creationId xmlns:a16="http://schemas.microsoft.com/office/drawing/2014/main" id="{E4396080-3533-3994-980A-1FB124ADC001}"/>
              </a:ext>
            </a:extLst>
          </p:cNvPr>
          <p:cNvPicPr>
            <a:picLocks noChangeAspect="1"/>
          </p:cNvPicPr>
          <p:nvPr/>
        </p:nvPicPr>
        <p:blipFill>
          <a:blip r:embed="rId4"/>
          <a:stretch>
            <a:fillRect/>
          </a:stretch>
        </p:blipFill>
        <p:spPr>
          <a:xfrm>
            <a:off x="212437" y="1082043"/>
            <a:ext cx="5745018" cy="763736"/>
          </a:xfrm>
          <a:prstGeom prst="rect">
            <a:avLst/>
          </a:prstGeom>
        </p:spPr>
      </p:pic>
      <p:cxnSp>
        <p:nvCxnSpPr>
          <p:cNvPr id="18" name="Straight Arrow Connector 17">
            <a:extLst>
              <a:ext uri="{FF2B5EF4-FFF2-40B4-BE49-F238E27FC236}">
                <a16:creationId xmlns:a16="http://schemas.microsoft.com/office/drawing/2014/main" id="{DE318D5C-E458-9A01-1047-B46473415145}"/>
              </a:ext>
            </a:extLst>
          </p:cNvPr>
          <p:cNvCxnSpPr>
            <a:cxnSpLocks/>
            <a:stCxn id="16" idx="2"/>
            <a:endCxn id="19" idx="0"/>
          </p:cNvCxnSpPr>
          <p:nvPr/>
        </p:nvCxnSpPr>
        <p:spPr>
          <a:xfrm flipH="1">
            <a:off x="3084940" y="1845779"/>
            <a:ext cx="6" cy="257574"/>
          </a:xfrm>
          <a:prstGeom prst="straightConnector1">
            <a:avLst/>
          </a:prstGeom>
          <a:ln w="381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8594D471-078D-1CA3-59C9-1FE48CAF6639}"/>
              </a:ext>
            </a:extLst>
          </p:cNvPr>
          <p:cNvGrpSpPr/>
          <p:nvPr/>
        </p:nvGrpSpPr>
        <p:grpSpPr>
          <a:xfrm>
            <a:off x="212431" y="2103353"/>
            <a:ext cx="5745018" cy="1849945"/>
            <a:chOff x="203194" y="2890016"/>
            <a:chExt cx="5745018" cy="1849945"/>
          </a:xfrm>
        </p:grpSpPr>
        <p:sp>
          <p:nvSpPr>
            <p:cNvPr id="19" name="TextBox 18">
              <a:extLst>
                <a:ext uri="{FF2B5EF4-FFF2-40B4-BE49-F238E27FC236}">
                  <a16:creationId xmlns:a16="http://schemas.microsoft.com/office/drawing/2014/main" id="{D2F7C831-990D-DDA0-5226-37CCEA4DD20E}"/>
                </a:ext>
              </a:extLst>
            </p:cNvPr>
            <p:cNvSpPr txBox="1"/>
            <p:nvPr/>
          </p:nvSpPr>
          <p:spPr>
            <a:xfrm>
              <a:off x="203194" y="2890016"/>
              <a:ext cx="5745018" cy="1200329"/>
            </a:xfrm>
            <a:prstGeom prst="rect">
              <a:avLst/>
            </a:prstGeom>
            <a:noFill/>
            <a:ln w="38100">
              <a:solidFill>
                <a:schemeClr val="accent6">
                  <a:lumMod val="60000"/>
                  <a:lumOff val="40000"/>
                </a:schemeClr>
              </a:solidFill>
            </a:ln>
          </p:spPr>
          <p:txBody>
            <a:bodyPr wrap="square" rtlCol="0">
              <a:spAutoFit/>
            </a:bodyPr>
            <a:lstStyle/>
            <a:p>
              <a:r>
                <a:rPr lang="en-US" dirty="0"/>
                <a:t>The </a:t>
              </a:r>
              <a:r>
                <a:rPr lang="en-US" dirty="0" err="1"/>
                <a:t>stdev</a:t>
              </a:r>
              <a:r>
                <a:rPr lang="en-US" dirty="0"/>
                <a:t> of a CRM historical price or Δ for a specific time-horizon is higher (in module) than the one of the previous time-horizon, for the </a:t>
              </a:r>
              <a:r>
                <a:rPr lang="en-US" b="1" dirty="0"/>
                <a:t>74% of the times</a:t>
              </a:r>
            </a:p>
            <a:p>
              <a:r>
                <a:rPr lang="en-US" dirty="0">
                  <a:sym typeface="Wingdings" panose="05000000000000000000" pitchFamily="2" charset="2"/>
                </a:rPr>
                <a:t> </a:t>
              </a:r>
              <a:r>
                <a:rPr lang="en-US" dirty="0">
                  <a:solidFill>
                    <a:schemeClr val="accent1"/>
                  </a:solidFill>
                  <a:sym typeface="Wingdings" panose="05000000000000000000" pitchFamily="2" charset="2"/>
                </a:rPr>
                <a:t>Increasing volatility with time horizon</a:t>
              </a:r>
              <a:endParaRPr lang="en-US" dirty="0">
                <a:solidFill>
                  <a:schemeClr val="accent1"/>
                </a:solidFill>
              </a:endParaRPr>
            </a:p>
          </p:txBody>
        </p:sp>
        <p:cxnSp>
          <p:nvCxnSpPr>
            <p:cNvPr id="21" name="Straight Arrow Connector 20">
              <a:extLst>
                <a:ext uri="{FF2B5EF4-FFF2-40B4-BE49-F238E27FC236}">
                  <a16:creationId xmlns:a16="http://schemas.microsoft.com/office/drawing/2014/main" id="{DD677E40-4716-E1CF-1148-9BE3F7ADF10C}"/>
                </a:ext>
              </a:extLst>
            </p:cNvPr>
            <p:cNvCxnSpPr>
              <a:cxnSpLocks/>
              <a:stCxn id="19" idx="2"/>
              <a:endCxn id="32" idx="0"/>
            </p:cNvCxnSpPr>
            <p:nvPr/>
          </p:nvCxnSpPr>
          <p:spPr>
            <a:xfrm>
              <a:off x="3075703" y="4090345"/>
              <a:ext cx="0" cy="64961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cxnSp>
        <p:nvCxnSpPr>
          <p:cNvPr id="23" name="Straight Arrow Connector 22">
            <a:extLst>
              <a:ext uri="{FF2B5EF4-FFF2-40B4-BE49-F238E27FC236}">
                <a16:creationId xmlns:a16="http://schemas.microsoft.com/office/drawing/2014/main" id="{0876A3D9-7E3E-45D7-73E5-1AC0A05F69E5}"/>
              </a:ext>
            </a:extLst>
          </p:cNvPr>
          <p:cNvCxnSpPr>
            <a:cxnSpLocks/>
          </p:cNvCxnSpPr>
          <p:nvPr/>
        </p:nvCxnSpPr>
        <p:spPr>
          <a:xfrm flipH="1">
            <a:off x="3084940" y="3628232"/>
            <a:ext cx="3181438" cy="51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89B7B2A2-C947-DBCA-1431-8AB8A2B46193}"/>
              </a:ext>
            </a:extLst>
          </p:cNvPr>
          <p:cNvSpPr txBox="1"/>
          <p:nvPr/>
        </p:nvSpPr>
        <p:spPr>
          <a:xfrm>
            <a:off x="212431" y="3953298"/>
            <a:ext cx="5745018" cy="1200329"/>
          </a:xfrm>
          <a:prstGeom prst="rect">
            <a:avLst/>
          </a:prstGeom>
          <a:noFill/>
          <a:ln w="38100">
            <a:solidFill>
              <a:schemeClr val="accent6">
                <a:lumMod val="60000"/>
                <a:lumOff val="40000"/>
              </a:schemeClr>
            </a:solidFill>
          </a:ln>
        </p:spPr>
        <p:txBody>
          <a:bodyPr wrap="square" rtlCol="0">
            <a:spAutoFit/>
          </a:bodyPr>
          <a:lstStyle/>
          <a:p>
            <a:r>
              <a:rPr lang="en-US" dirty="0"/>
              <a:t>What about </a:t>
            </a:r>
            <a:r>
              <a:rPr lang="en-US" dirty="0">
                <a:solidFill>
                  <a:schemeClr val="accent1"/>
                </a:solidFill>
              </a:rPr>
              <a:t>extreme price events</a:t>
            </a:r>
            <a:r>
              <a:rPr lang="en-US" dirty="0"/>
              <a:t>?</a:t>
            </a:r>
          </a:p>
          <a:p>
            <a:r>
              <a:rPr lang="en-US" b="1" dirty="0"/>
              <a:t>Max z-scores </a:t>
            </a:r>
            <a:r>
              <a:rPr lang="en-US" dirty="0"/>
              <a:t>are increasing just </a:t>
            </a:r>
            <a:r>
              <a:rPr lang="en-US" b="1" dirty="0"/>
              <a:t>30% of the times </a:t>
            </a:r>
            <a:r>
              <a:rPr lang="en-US" dirty="0"/>
              <a:t>with increasing time horizon, while </a:t>
            </a:r>
            <a:r>
              <a:rPr lang="en-US" b="1" dirty="0"/>
              <a:t>max spikes </a:t>
            </a:r>
            <a:r>
              <a:rPr lang="en-US" dirty="0"/>
              <a:t>are increasing </a:t>
            </a:r>
            <a:r>
              <a:rPr lang="en-US" b="1" dirty="0"/>
              <a:t>40% of the times</a:t>
            </a:r>
          </a:p>
        </p:txBody>
      </p:sp>
      <p:pic>
        <p:nvPicPr>
          <p:cNvPr id="2" name="Picture 1">
            <a:extLst>
              <a:ext uri="{FF2B5EF4-FFF2-40B4-BE49-F238E27FC236}">
                <a16:creationId xmlns:a16="http://schemas.microsoft.com/office/drawing/2014/main" id="{E0FA7A2B-39B2-99D5-7F1B-35AE72E3E6C1}"/>
              </a:ext>
            </a:extLst>
          </p:cNvPr>
          <p:cNvPicPr>
            <a:picLocks noChangeAspect="1"/>
          </p:cNvPicPr>
          <p:nvPr/>
        </p:nvPicPr>
        <p:blipFill>
          <a:blip r:embed="rId5"/>
          <a:stretch>
            <a:fillRect/>
          </a:stretch>
        </p:blipFill>
        <p:spPr>
          <a:xfrm>
            <a:off x="212437" y="5564383"/>
            <a:ext cx="5745018" cy="801886"/>
          </a:xfrm>
          <a:prstGeom prst="rect">
            <a:avLst/>
          </a:prstGeom>
        </p:spPr>
      </p:pic>
      <p:cxnSp>
        <p:nvCxnSpPr>
          <p:cNvPr id="17" name="Straight Arrow Connector 16">
            <a:extLst>
              <a:ext uri="{FF2B5EF4-FFF2-40B4-BE49-F238E27FC236}">
                <a16:creationId xmlns:a16="http://schemas.microsoft.com/office/drawing/2014/main" id="{35D0E2D6-CDD2-D18C-7C1D-700393C3F8E5}"/>
              </a:ext>
            </a:extLst>
          </p:cNvPr>
          <p:cNvCxnSpPr>
            <a:cxnSpLocks/>
            <a:stCxn id="2" idx="0"/>
            <a:endCxn id="32" idx="2"/>
          </p:cNvCxnSpPr>
          <p:nvPr/>
        </p:nvCxnSpPr>
        <p:spPr>
          <a:xfrm flipH="1" flipV="1">
            <a:off x="3084940" y="5153627"/>
            <a:ext cx="6" cy="410756"/>
          </a:xfrm>
          <a:prstGeom prst="straightConnector1">
            <a:avLst/>
          </a:prstGeom>
          <a:ln w="381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B2434617-9756-AA0C-0BD2-0C20E4A77B60}"/>
              </a:ext>
            </a:extLst>
          </p:cNvPr>
          <p:cNvPicPr>
            <a:picLocks noChangeAspect="1"/>
          </p:cNvPicPr>
          <p:nvPr/>
        </p:nvPicPr>
        <p:blipFill>
          <a:blip r:embed="rId6"/>
          <a:stretch>
            <a:fillRect/>
          </a:stretch>
        </p:blipFill>
        <p:spPr>
          <a:xfrm>
            <a:off x="6096000" y="5534442"/>
            <a:ext cx="5745018" cy="801886"/>
          </a:xfrm>
          <a:prstGeom prst="rect">
            <a:avLst/>
          </a:prstGeom>
        </p:spPr>
      </p:pic>
      <p:cxnSp>
        <p:nvCxnSpPr>
          <p:cNvPr id="37" name="Straight Arrow Connector 36">
            <a:extLst>
              <a:ext uri="{FF2B5EF4-FFF2-40B4-BE49-F238E27FC236}">
                <a16:creationId xmlns:a16="http://schemas.microsoft.com/office/drawing/2014/main" id="{D9A58580-F22F-EB84-1969-30FC828E3D55}"/>
              </a:ext>
            </a:extLst>
          </p:cNvPr>
          <p:cNvCxnSpPr>
            <a:cxnSpLocks/>
          </p:cNvCxnSpPr>
          <p:nvPr/>
        </p:nvCxnSpPr>
        <p:spPr>
          <a:xfrm flipH="1" flipV="1">
            <a:off x="5832507" y="5153627"/>
            <a:ext cx="402046" cy="380815"/>
          </a:xfrm>
          <a:prstGeom prst="straightConnector1">
            <a:avLst/>
          </a:prstGeom>
          <a:ln w="381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3532C279-F598-E72C-4F82-55619D519C34}"/>
              </a:ext>
            </a:extLst>
          </p:cNvPr>
          <p:cNvSpPr/>
          <p:nvPr/>
        </p:nvSpPr>
        <p:spPr>
          <a:xfrm>
            <a:off x="6234553" y="987710"/>
            <a:ext cx="5397241" cy="4546732"/>
          </a:xfrm>
          <a:prstGeom prst="rect">
            <a:avLst/>
          </a:prstGeom>
          <a:noFill/>
          <a:ln w="3810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1" name="TextBox 40">
            <a:extLst>
              <a:ext uri="{FF2B5EF4-FFF2-40B4-BE49-F238E27FC236}">
                <a16:creationId xmlns:a16="http://schemas.microsoft.com/office/drawing/2014/main" id="{582EDBC2-DFD8-D038-5E33-824265B45B00}"/>
              </a:ext>
            </a:extLst>
          </p:cNvPr>
          <p:cNvSpPr txBox="1"/>
          <p:nvPr/>
        </p:nvSpPr>
        <p:spPr>
          <a:xfrm>
            <a:off x="6478191" y="5205116"/>
            <a:ext cx="4873995" cy="307777"/>
          </a:xfrm>
          <a:prstGeom prst="rect">
            <a:avLst/>
          </a:prstGeom>
          <a:noFill/>
        </p:spPr>
        <p:txBody>
          <a:bodyPr wrap="square" rtlCol="0">
            <a:spAutoFit/>
          </a:bodyPr>
          <a:lstStyle/>
          <a:p>
            <a:pPr algn="ctr"/>
            <a:r>
              <a:rPr lang="en-US" sz="1400" b="1" dirty="0">
                <a:solidFill>
                  <a:schemeClr val="accent2"/>
                </a:solidFill>
              </a:rPr>
              <a:t>Joint price disruption scenarios results</a:t>
            </a:r>
          </a:p>
        </p:txBody>
      </p:sp>
      <p:pic>
        <p:nvPicPr>
          <p:cNvPr id="42" name="Picture 41">
            <a:extLst>
              <a:ext uri="{FF2B5EF4-FFF2-40B4-BE49-F238E27FC236}">
                <a16:creationId xmlns:a16="http://schemas.microsoft.com/office/drawing/2014/main" id="{31EA315A-834A-99DF-C9FB-AAD4F5967743}"/>
              </a:ext>
            </a:extLst>
          </p:cNvPr>
          <p:cNvPicPr>
            <a:picLocks noChangeAspect="1"/>
          </p:cNvPicPr>
          <p:nvPr/>
        </p:nvPicPr>
        <p:blipFill>
          <a:blip r:embed="rId7"/>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42436950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5F00C9-B854-4499-9FAB-D93717EC8F1C}"/>
              </a:ext>
            </a:extLst>
          </p:cNvPr>
          <p:cNvSpPr>
            <a:spLocks noGrp="1"/>
          </p:cNvSpPr>
          <p:nvPr>
            <p:ph idx="13"/>
          </p:nvPr>
        </p:nvSpPr>
        <p:spPr/>
        <p:txBody>
          <a:bodyPr/>
          <a:lstStyle/>
          <a:p>
            <a:r>
              <a:rPr lang="en-US" dirty="0"/>
              <a:t>Short, medium, long term results for one material (i.e. REE H-minmax)</a:t>
            </a:r>
          </a:p>
        </p:txBody>
      </p:sp>
      <p:sp>
        <p:nvSpPr>
          <p:cNvPr id="3" name="Title 2">
            <a:extLst>
              <a:ext uri="{FF2B5EF4-FFF2-40B4-BE49-F238E27FC236}">
                <a16:creationId xmlns:a16="http://schemas.microsoft.com/office/drawing/2014/main" id="{ECB50FDB-EFC6-7196-E57A-304332E9F3A1}"/>
              </a:ext>
            </a:extLst>
          </p:cNvPr>
          <p:cNvSpPr>
            <a:spLocks noGrp="1"/>
          </p:cNvSpPr>
          <p:nvPr>
            <p:ph type="title"/>
          </p:nvPr>
        </p:nvSpPr>
        <p:spPr/>
        <p:txBody>
          <a:bodyPr/>
          <a:lstStyle/>
          <a:p>
            <a:r>
              <a:rPr lang="en-US" dirty="0"/>
              <a:t>CRMs market analysis </a:t>
            </a:r>
            <a:r>
              <a:rPr lang="en-US" dirty="0">
                <a:sym typeface="Wingdings" panose="05000000000000000000" pitchFamily="2" charset="2"/>
              </a:rPr>
              <a:t> Price disruption scenarios: Results</a:t>
            </a:r>
            <a:endParaRPr lang="en-US" dirty="0"/>
          </a:p>
        </p:txBody>
      </p:sp>
      <p:pic>
        <p:nvPicPr>
          <p:cNvPr id="4" name="Picture 3">
            <a:extLst>
              <a:ext uri="{FF2B5EF4-FFF2-40B4-BE49-F238E27FC236}">
                <a16:creationId xmlns:a16="http://schemas.microsoft.com/office/drawing/2014/main" id="{F000BCFD-207B-92DE-80D6-5E9E0FD353BF}"/>
              </a:ext>
            </a:extLst>
          </p:cNvPr>
          <p:cNvPicPr>
            <a:picLocks noChangeAspect="1"/>
          </p:cNvPicPr>
          <p:nvPr/>
        </p:nvPicPr>
        <p:blipFill>
          <a:blip r:embed="rId2"/>
          <a:stretch>
            <a:fillRect/>
          </a:stretch>
        </p:blipFill>
        <p:spPr>
          <a:xfrm>
            <a:off x="1743816" y="1817600"/>
            <a:ext cx="8704367" cy="3918980"/>
          </a:xfrm>
          <a:prstGeom prst="rect">
            <a:avLst/>
          </a:prstGeom>
        </p:spPr>
      </p:pic>
      <p:pic>
        <p:nvPicPr>
          <p:cNvPr id="5" name="Picture 4">
            <a:extLst>
              <a:ext uri="{FF2B5EF4-FFF2-40B4-BE49-F238E27FC236}">
                <a16:creationId xmlns:a16="http://schemas.microsoft.com/office/drawing/2014/main" id="{7D858EA7-38E6-3D75-B077-31C2F5C49137}"/>
              </a:ext>
            </a:extLst>
          </p:cNvPr>
          <p:cNvPicPr>
            <a:picLocks noChangeAspect="1"/>
          </p:cNvPicPr>
          <p:nvPr/>
        </p:nvPicPr>
        <p:blipFill>
          <a:blip r:embed="rId3"/>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22554722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ADB32DF-5A33-3340-0ED4-3D84D8CDD132}"/>
              </a:ext>
            </a:extLst>
          </p:cNvPr>
          <p:cNvPicPr>
            <a:picLocks noGrp="1" noChangeAspect="1"/>
          </p:cNvPicPr>
          <p:nvPr>
            <p:ph idx="13"/>
          </p:nvPr>
        </p:nvPicPr>
        <p:blipFill>
          <a:blip r:embed="rId2"/>
          <a:stretch>
            <a:fillRect/>
          </a:stretch>
        </p:blipFill>
        <p:spPr>
          <a:xfrm>
            <a:off x="1646405" y="1803400"/>
            <a:ext cx="8899189" cy="3251200"/>
          </a:xfrm>
          <a:prstGeom prst="rect">
            <a:avLst/>
          </a:prstGeom>
        </p:spPr>
      </p:pic>
      <p:sp>
        <p:nvSpPr>
          <p:cNvPr id="3" name="Title 2">
            <a:extLst>
              <a:ext uri="{FF2B5EF4-FFF2-40B4-BE49-F238E27FC236}">
                <a16:creationId xmlns:a16="http://schemas.microsoft.com/office/drawing/2014/main" id="{980A3C94-151C-9291-C61C-F641EFF3AA99}"/>
              </a:ext>
            </a:extLst>
          </p:cNvPr>
          <p:cNvSpPr>
            <a:spLocks noGrp="1"/>
          </p:cNvSpPr>
          <p:nvPr>
            <p:ph type="title"/>
          </p:nvPr>
        </p:nvSpPr>
        <p:spPr/>
        <p:txBody>
          <a:bodyPr/>
          <a:lstStyle/>
          <a:p>
            <a:r>
              <a:rPr lang="en-US" dirty="0"/>
              <a:t>CRMs market analysis </a:t>
            </a:r>
            <a:r>
              <a:rPr lang="en-US" dirty="0">
                <a:sym typeface="Wingdings" panose="05000000000000000000" pitchFamily="2" charset="2"/>
              </a:rPr>
              <a:t> Price disruption scenarios: Results</a:t>
            </a:r>
            <a:endParaRPr lang="en-US" dirty="0"/>
          </a:p>
        </p:txBody>
      </p:sp>
      <p:pic>
        <p:nvPicPr>
          <p:cNvPr id="5" name="Picture 4">
            <a:extLst>
              <a:ext uri="{FF2B5EF4-FFF2-40B4-BE49-F238E27FC236}">
                <a16:creationId xmlns:a16="http://schemas.microsoft.com/office/drawing/2014/main" id="{2D7B608D-1001-1C77-AAFD-6C88BAE16564}"/>
              </a:ext>
            </a:extLst>
          </p:cNvPr>
          <p:cNvPicPr>
            <a:picLocks noChangeAspect="1"/>
          </p:cNvPicPr>
          <p:nvPr/>
        </p:nvPicPr>
        <p:blipFill>
          <a:blip r:embed="rId3"/>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28123524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BE6C00D-6B4E-D5FE-FE4B-041CD11D4FB7}"/>
              </a:ext>
            </a:extLst>
          </p:cNvPr>
          <p:cNvPicPr>
            <a:picLocks noGrp="1" noChangeAspect="1"/>
          </p:cNvPicPr>
          <p:nvPr>
            <p:ph idx="13"/>
          </p:nvPr>
        </p:nvPicPr>
        <p:blipFill>
          <a:blip r:embed="rId2"/>
          <a:stretch>
            <a:fillRect/>
          </a:stretch>
        </p:blipFill>
        <p:spPr>
          <a:xfrm>
            <a:off x="1759158" y="1440873"/>
            <a:ext cx="8673683" cy="4433454"/>
          </a:xfrm>
          <a:prstGeom prst="rect">
            <a:avLst/>
          </a:prstGeom>
        </p:spPr>
      </p:pic>
      <p:sp>
        <p:nvSpPr>
          <p:cNvPr id="3" name="Title 2">
            <a:extLst>
              <a:ext uri="{FF2B5EF4-FFF2-40B4-BE49-F238E27FC236}">
                <a16:creationId xmlns:a16="http://schemas.microsoft.com/office/drawing/2014/main" id="{F5FAA8D1-1C8A-309D-188A-F20DCF4EAB2D}"/>
              </a:ext>
            </a:extLst>
          </p:cNvPr>
          <p:cNvSpPr>
            <a:spLocks noGrp="1"/>
          </p:cNvSpPr>
          <p:nvPr>
            <p:ph type="title"/>
          </p:nvPr>
        </p:nvSpPr>
        <p:spPr/>
        <p:txBody>
          <a:bodyPr/>
          <a:lstStyle/>
          <a:p>
            <a:r>
              <a:rPr lang="en-US" dirty="0"/>
              <a:t>CRMs market analysis </a:t>
            </a:r>
            <a:r>
              <a:rPr lang="en-US" dirty="0">
                <a:sym typeface="Wingdings" panose="05000000000000000000" pitchFamily="2" charset="2"/>
              </a:rPr>
              <a:t> Price disruption scenarios: Results</a:t>
            </a:r>
            <a:endParaRPr lang="en-US" dirty="0"/>
          </a:p>
        </p:txBody>
      </p:sp>
      <p:pic>
        <p:nvPicPr>
          <p:cNvPr id="5" name="Picture 4">
            <a:extLst>
              <a:ext uri="{FF2B5EF4-FFF2-40B4-BE49-F238E27FC236}">
                <a16:creationId xmlns:a16="http://schemas.microsoft.com/office/drawing/2014/main" id="{4294A650-C976-684D-D42B-D8A936D42B78}"/>
              </a:ext>
            </a:extLst>
          </p:cNvPr>
          <p:cNvPicPr>
            <a:picLocks noChangeAspect="1"/>
          </p:cNvPicPr>
          <p:nvPr/>
        </p:nvPicPr>
        <p:blipFill>
          <a:blip r:embed="rId3"/>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11462095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B71F91-9234-63C7-E527-FC1E55CFC60E}"/>
              </a:ext>
            </a:extLst>
          </p:cNvPr>
          <p:cNvSpPr>
            <a:spLocks noGrp="1"/>
          </p:cNvSpPr>
          <p:nvPr>
            <p:ph type="title"/>
          </p:nvPr>
        </p:nvSpPr>
        <p:spPr/>
        <p:txBody>
          <a:bodyPr/>
          <a:lstStyle/>
          <a:p>
            <a:r>
              <a:rPr lang="en-US" dirty="0"/>
              <a:t>CRMs market analysis </a:t>
            </a:r>
            <a:r>
              <a:rPr lang="en-US" dirty="0">
                <a:sym typeface="Wingdings" panose="05000000000000000000" pitchFamily="2" charset="2"/>
              </a:rPr>
              <a:t> Price disruption scenarios: Results</a:t>
            </a:r>
            <a:endParaRPr lang="en-US" dirty="0"/>
          </a:p>
        </p:txBody>
      </p:sp>
      <p:pic>
        <p:nvPicPr>
          <p:cNvPr id="4" name="Picture 3">
            <a:extLst>
              <a:ext uri="{FF2B5EF4-FFF2-40B4-BE49-F238E27FC236}">
                <a16:creationId xmlns:a16="http://schemas.microsoft.com/office/drawing/2014/main" id="{9B606C56-D8AB-2A4D-5476-16E582E6FB81}"/>
              </a:ext>
            </a:extLst>
          </p:cNvPr>
          <p:cNvPicPr>
            <a:picLocks noChangeAspect="1"/>
          </p:cNvPicPr>
          <p:nvPr/>
        </p:nvPicPr>
        <p:blipFill>
          <a:blip r:embed="rId2"/>
          <a:stretch>
            <a:fillRect/>
          </a:stretch>
        </p:blipFill>
        <p:spPr>
          <a:xfrm>
            <a:off x="2038551" y="1422400"/>
            <a:ext cx="8114897" cy="4747490"/>
          </a:xfrm>
          <a:prstGeom prst="rect">
            <a:avLst/>
          </a:prstGeom>
        </p:spPr>
      </p:pic>
      <p:pic>
        <p:nvPicPr>
          <p:cNvPr id="5" name="Picture 4">
            <a:extLst>
              <a:ext uri="{FF2B5EF4-FFF2-40B4-BE49-F238E27FC236}">
                <a16:creationId xmlns:a16="http://schemas.microsoft.com/office/drawing/2014/main" id="{CBFFD061-ECC9-F7E7-4A69-B3A4985B0C50}"/>
              </a:ext>
            </a:extLst>
          </p:cNvPr>
          <p:cNvPicPr>
            <a:picLocks noChangeAspect="1"/>
          </p:cNvPicPr>
          <p:nvPr/>
        </p:nvPicPr>
        <p:blipFill>
          <a:blip r:embed="rId3"/>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38268231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6E8009-34F7-3A88-4923-EC6F62ABFCCE}"/>
              </a:ext>
            </a:extLst>
          </p:cNvPr>
          <p:cNvSpPr>
            <a:spLocks noGrp="1"/>
          </p:cNvSpPr>
          <p:nvPr>
            <p:ph idx="13"/>
          </p:nvPr>
        </p:nvSpPr>
        <p:spPr>
          <a:xfrm>
            <a:off x="653846" y="1204547"/>
            <a:ext cx="10697645" cy="4688253"/>
          </a:xfrm>
        </p:spPr>
        <p:txBody>
          <a:bodyPr>
            <a:normAutofit/>
          </a:bodyPr>
          <a:lstStyle/>
          <a:p>
            <a:pPr marL="0" indent="0">
              <a:buNone/>
            </a:pPr>
            <a:r>
              <a:rPr lang="en-US" sz="2400" dirty="0"/>
              <a:t>The study on rolling-windows delta-price panels and clustering are aligned with </a:t>
            </a:r>
            <a:r>
              <a:rPr lang="en-US" sz="2400" b="1" dirty="0"/>
              <a:t>persistent episodes </a:t>
            </a:r>
            <a:r>
              <a:rPr lang="en-US" sz="2400" dirty="0"/>
              <a:t>rather than transitory spikes:</a:t>
            </a:r>
          </a:p>
          <a:p>
            <a:r>
              <a:rPr lang="en-US" dirty="0"/>
              <a:t>Disruptions: </a:t>
            </a:r>
            <a:r>
              <a:rPr lang="en-US" dirty="0">
                <a:sym typeface="Wingdings" panose="05000000000000000000" pitchFamily="2" charset="2"/>
              </a:rPr>
              <a:t>Supply disruptions: supply shortages modeled in TEMOA by means of </a:t>
            </a:r>
            <a:r>
              <a:rPr lang="en-US" dirty="0" err="1">
                <a:sym typeface="Wingdings" panose="05000000000000000000" pitchFamily="2" charset="2"/>
              </a:rPr>
              <a:t>maxActivity</a:t>
            </a:r>
            <a:r>
              <a:rPr lang="en-US" dirty="0">
                <a:sym typeface="Wingdings" panose="05000000000000000000" pitchFamily="2" charset="2"/>
              </a:rPr>
              <a:t> constraints</a:t>
            </a:r>
            <a:endParaRPr lang="en-US" dirty="0"/>
          </a:p>
          <a:p>
            <a:r>
              <a:rPr lang="en-US" dirty="0"/>
              <a:t>Business cycles:</a:t>
            </a:r>
          </a:p>
          <a:p>
            <a:pPr lvl="1"/>
            <a:r>
              <a:rPr lang="en-US" dirty="0">
                <a:sym typeface="Wingdings" panose="05000000000000000000" pitchFamily="2" charset="2"/>
              </a:rPr>
              <a:t>They’re more linked to the change in technology costs; in TEMOA these dynamics are modeled through the capacity-cost relation</a:t>
            </a:r>
          </a:p>
          <a:p>
            <a:pPr lvl="1"/>
            <a:r>
              <a:rPr lang="en-US" dirty="0">
                <a:sym typeface="Wingdings" panose="05000000000000000000" pitchFamily="2" charset="2"/>
              </a:rPr>
              <a:t>CRMs cost shares needed for each technology  EU CRMs framework database</a:t>
            </a:r>
          </a:p>
          <a:p>
            <a:pPr lvl="2"/>
            <a:r>
              <a:rPr lang="en-US" dirty="0">
                <a:sym typeface="Wingdings" panose="05000000000000000000" pitchFamily="2" charset="2"/>
              </a:rPr>
              <a:t>Still, the costs constraints aren’t modeled in TEMOA</a:t>
            </a:r>
          </a:p>
        </p:txBody>
      </p:sp>
      <p:sp>
        <p:nvSpPr>
          <p:cNvPr id="3" name="Title 2">
            <a:extLst>
              <a:ext uri="{FF2B5EF4-FFF2-40B4-BE49-F238E27FC236}">
                <a16:creationId xmlns:a16="http://schemas.microsoft.com/office/drawing/2014/main" id="{66416F73-A501-F7A8-B3D1-E4E5C7EDB4BE}"/>
              </a:ext>
            </a:extLst>
          </p:cNvPr>
          <p:cNvSpPr>
            <a:spLocks noGrp="1"/>
          </p:cNvSpPr>
          <p:nvPr>
            <p:ph type="title"/>
          </p:nvPr>
        </p:nvSpPr>
        <p:spPr/>
        <p:txBody>
          <a:bodyPr>
            <a:normAutofit/>
          </a:bodyPr>
          <a:lstStyle/>
          <a:p>
            <a:pPr>
              <a:lnSpc>
                <a:spcPct val="100000"/>
              </a:lnSpc>
            </a:pPr>
            <a:r>
              <a:rPr lang="en-US" dirty="0"/>
              <a:t>CRMs market analysis –</a:t>
            </a:r>
            <a:br>
              <a:rPr lang="en-US" dirty="0"/>
            </a:br>
            <a:r>
              <a:rPr lang="en-US" dirty="0"/>
              <a:t>Clustering rationale</a:t>
            </a:r>
            <a:endParaRPr lang="en-US" sz="2800" dirty="0"/>
          </a:p>
        </p:txBody>
      </p:sp>
    </p:spTree>
    <p:extLst>
      <p:ext uri="{BB962C8B-B14F-4D97-AF65-F5344CB8AC3E}">
        <p14:creationId xmlns:p14="http://schemas.microsoft.com/office/powerpoint/2010/main" val="14743976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405958-9A35-A62E-7816-D4F11DFB0C6F}"/>
              </a:ext>
            </a:extLst>
          </p:cNvPr>
          <p:cNvSpPr>
            <a:spLocks noGrp="1"/>
          </p:cNvSpPr>
          <p:nvPr>
            <p:ph type="title"/>
          </p:nvPr>
        </p:nvSpPr>
        <p:spPr/>
        <p:txBody>
          <a:bodyPr/>
          <a:lstStyle/>
          <a:p>
            <a:r>
              <a:rPr lang="en-US" dirty="0"/>
              <a:t>Price elasticity of demand and supply</a:t>
            </a:r>
          </a:p>
        </p:txBody>
      </p:sp>
      <p:grpSp>
        <p:nvGrpSpPr>
          <p:cNvPr id="57" name="Group 56">
            <a:extLst>
              <a:ext uri="{FF2B5EF4-FFF2-40B4-BE49-F238E27FC236}">
                <a16:creationId xmlns:a16="http://schemas.microsoft.com/office/drawing/2014/main" id="{559937F6-E128-53CD-5FF1-5A473D98FF7E}"/>
              </a:ext>
            </a:extLst>
          </p:cNvPr>
          <p:cNvGrpSpPr/>
          <p:nvPr/>
        </p:nvGrpSpPr>
        <p:grpSpPr>
          <a:xfrm>
            <a:off x="1089891" y="1524000"/>
            <a:ext cx="10169236" cy="3953163"/>
            <a:chOff x="1696117" y="1738903"/>
            <a:chExt cx="9042009" cy="3442204"/>
          </a:xfrm>
        </p:grpSpPr>
        <p:grpSp>
          <p:nvGrpSpPr>
            <p:cNvPr id="4" name="Group 3">
              <a:extLst>
                <a:ext uri="{FF2B5EF4-FFF2-40B4-BE49-F238E27FC236}">
                  <a16:creationId xmlns:a16="http://schemas.microsoft.com/office/drawing/2014/main" id="{FC162EDD-3AE9-5506-4634-F8849FEEC141}"/>
                </a:ext>
              </a:extLst>
            </p:cNvPr>
            <p:cNvGrpSpPr/>
            <p:nvPr/>
          </p:nvGrpSpPr>
          <p:grpSpPr>
            <a:xfrm>
              <a:off x="1696117" y="3794171"/>
              <a:ext cx="4125831" cy="1022545"/>
              <a:chOff x="1425290" y="5303057"/>
              <a:chExt cx="4125831" cy="1022545"/>
            </a:xfrm>
          </p:grpSpPr>
          <p:grpSp>
            <p:nvGrpSpPr>
              <p:cNvPr id="5" name="Group 4">
                <a:extLst>
                  <a:ext uri="{FF2B5EF4-FFF2-40B4-BE49-F238E27FC236}">
                    <a16:creationId xmlns:a16="http://schemas.microsoft.com/office/drawing/2014/main" id="{3174344E-BDC5-7EB1-458B-9BDBBD7E7B61}"/>
                  </a:ext>
                </a:extLst>
              </p:cNvPr>
              <p:cNvGrpSpPr/>
              <p:nvPr/>
            </p:nvGrpSpPr>
            <p:grpSpPr>
              <a:xfrm>
                <a:off x="1425290" y="5303057"/>
                <a:ext cx="4125831" cy="1022545"/>
                <a:chOff x="1425290" y="5303057"/>
                <a:chExt cx="4125831" cy="1022545"/>
              </a:xfrm>
            </p:grpSpPr>
            <p:sp>
              <p:nvSpPr>
                <p:cNvPr id="7" name="Arrow: Down 6">
                  <a:extLst>
                    <a:ext uri="{FF2B5EF4-FFF2-40B4-BE49-F238E27FC236}">
                      <a16:creationId xmlns:a16="http://schemas.microsoft.com/office/drawing/2014/main" id="{A6FE5B73-A861-D7F8-8C6F-4CF0A588F8E0}"/>
                    </a:ext>
                  </a:extLst>
                </p:cNvPr>
                <p:cNvSpPr/>
                <p:nvPr/>
              </p:nvSpPr>
              <p:spPr>
                <a:xfrm rot="16200000">
                  <a:off x="5024623" y="5517163"/>
                  <a:ext cx="133898" cy="919099"/>
                </a:xfrm>
                <a:prstGeom prst="downArrow">
                  <a:avLst/>
                </a:prstGeom>
                <a:solidFill>
                  <a:srgbClr val="4472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486D789-F78B-524E-9A93-24FB08FBC41F}"/>
                    </a:ext>
                  </a:extLst>
                </p:cNvPr>
                <p:cNvGrpSpPr/>
                <p:nvPr/>
              </p:nvGrpSpPr>
              <p:grpSpPr>
                <a:xfrm>
                  <a:off x="1425290" y="5303057"/>
                  <a:ext cx="3831205" cy="1022545"/>
                  <a:chOff x="1425290" y="5303057"/>
                  <a:chExt cx="3831205" cy="1022545"/>
                </a:xfrm>
              </p:grpSpPr>
              <p:sp>
                <p:nvSpPr>
                  <p:cNvPr id="9" name="Arrow: Down 8">
                    <a:extLst>
                      <a:ext uri="{FF2B5EF4-FFF2-40B4-BE49-F238E27FC236}">
                        <a16:creationId xmlns:a16="http://schemas.microsoft.com/office/drawing/2014/main" id="{1B61512C-31D7-86D7-C968-6528FB112AC0}"/>
                      </a:ext>
                    </a:extLst>
                  </p:cNvPr>
                  <p:cNvSpPr/>
                  <p:nvPr/>
                </p:nvSpPr>
                <p:spPr>
                  <a:xfrm rot="15121539" flipH="1">
                    <a:off x="4814878" y="4997556"/>
                    <a:ext cx="136116" cy="747118"/>
                  </a:xfrm>
                  <a:prstGeom prst="downArrow">
                    <a:avLst/>
                  </a:prstGeom>
                  <a:solidFill>
                    <a:srgbClr val="4472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BEC405-6C90-7679-7322-977B842F1E8B}"/>
                      </a:ext>
                    </a:extLst>
                  </p:cNvPr>
                  <p:cNvSpPr/>
                  <p:nvPr/>
                </p:nvSpPr>
                <p:spPr>
                  <a:xfrm>
                    <a:off x="1425290" y="5355421"/>
                    <a:ext cx="3218868" cy="970181"/>
                  </a:xfrm>
                  <a:prstGeom prst="rect">
                    <a:avLst/>
                  </a:prstGeom>
                  <a:ln w="28575"/>
                </p:spPr>
                <p:style>
                  <a:lnRef idx="2">
                    <a:schemeClr val="accent1"/>
                  </a:lnRef>
                  <a:fillRef idx="1">
                    <a:schemeClr val="lt1"/>
                  </a:fillRef>
                  <a:effectRef idx="0">
                    <a:schemeClr val="accent1"/>
                  </a:effectRef>
                  <a:fontRef idx="minor">
                    <a:schemeClr val="dk1"/>
                  </a:fontRef>
                </p:style>
                <p:txBody>
                  <a:bodyPr rtlCol="0" anchor="ctr"/>
                  <a:lstStyle/>
                  <a:p>
                    <a:r>
                      <a:rPr lang="en-US" sz="1100" dirty="0"/>
                      <a:t>Price elasticity of the supply/demand of CRMs:</a:t>
                    </a:r>
                  </a:p>
                  <a:p>
                    <a:pPr marL="171450" indent="-171450">
                      <a:buFont typeface="Arial" panose="020B0604020202020204" pitchFamily="34" charset="0"/>
                      <a:buChar char="•"/>
                    </a:pPr>
                    <a:r>
                      <a:rPr lang="en-US" sz="1100" dirty="0"/>
                      <a:t>How CRMs markets and supply chains behave</a:t>
                    </a:r>
                  </a:p>
                  <a:p>
                    <a:pPr marL="171450" indent="-171450">
                      <a:buFont typeface="Arial" panose="020B0604020202020204" pitchFamily="34" charset="0"/>
                      <a:buChar char="•"/>
                    </a:pPr>
                    <a:r>
                      <a:rPr lang="en-US" sz="1100" dirty="0"/>
                      <a:t>Key methodologies</a:t>
                    </a:r>
                  </a:p>
                  <a:p>
                    <a:pPr marL="171450" indent="-171450">
                      <a:buFont typeface="Arial" panose="020B0604020202020204" pitchFamily="34" charset="0"/>
                      <a:buChar char="•"/>
                    </a:pPr>
                    <a:r>
                      <a:rPr lang="en-US" sz="1100" dirty="0"/>
                      <a:t>Supply or demand elasticity?</a:t>
                    </a:r>
                  </a:p>
                  <a:p>
                    <a:pPr marL="171450" indent="-171450">
                      <a:buFont typeface="Arial" panose="020B0604020202020204" pitchFamily="34" charset="0"/>
                      <a:buChar char="•"/>
                    </a:pPr>
                    <a:r>
                      <a:rPr lang="en-US" sz="1100" dirty="0"/>
                      <a:t>Short-run or long-run elasticity?</a:t>
                    </a:r>
                  </a:p>
                </p:txBody>
              </p:sp>
            </p:grpSp>
          </p:grpSp>
          <p:pic>
            <p:nvPicPr>
              <p:cNvPr id="6" name="Picture 5">
                <a:extLst>
                  <a:ext uri="{FF2B5EF4-FFF2-40B4-BE49-F238E27FC236}">
                    <a16:creationId xmlns:a16="http://schemas.microsoft.com/office/drawing/2014/main" id="{FC986D87-71BA-02AD-542D-9279E92B368D}"/>
                  </a:ext>
                </a:extLst>
              </p:cNvPr>
              <p:cNvPicPr>
                <a:picLocks noChangeAspect="1"/>
              </p:cNvPicPr>
              <p:nvPr/>
            </p:nvPicPr>
            <p:blipFill>
              <a:blip r:embed="rId2"/>
              <a:stretch>
                <a:fillRect/>
              </a:stretch>
            </p:blipFill>
            <p:spPr>
              <a:xfrm>
                <a:off x="4180532" y="5904249"/>
                <a:ext cx="290077" cy="280348"/>
              </a:xfrm>
              <a:prstGeom prst="rect">
                <a:avLst/>
              </a:prstGeom>
            </p:spPr>
          </p:pic>
        </p:grpSp>
        <p:grpSp>
          <p:nvGrpSpPr>
            <p:cNvPr id="11" name="Group 10">
              <a:extLst>
                <a:ext uri="{FF2B5EF4-FFF2-40B4-BE49-F238E27FC236}">
                  <a16:creationId xmlns:a16="http://schemas.microsoft.com/office/drawing/2014/main" id="{47700A25-999B-46CF-86F7-A15341F65467}"/>
                </a:ext>
              </a:extLst>
            </p:cNvPr>
            <p:cNvGrpSpPr/>
            <p:nvPr/>
          </p:nvGrpSpPr>
          <p:grpSpPr>
            <a:xfrm>
              <a:off x="5531446" y="2369725"/>
              <a:ext cx="3027194" cy="1697239"/>
              <a:chOff x="5429498" y="3663375"/>
              <a:chExt cx="3027194" cy="1697239"/>
            </a:xfrm>
          </p:grpSpPr>
          <p:sp>
            <p:nvSpPr>
              <p:cNvPr id="12" name="Arrow: Right 11">
                <a:extLst>
                  <a:ext uri="{FF2B5EF4-FFF2-40B4-BE49-F238E27FC236}">
                    <a16:creationId xmlns:a16="http://schemas.microsoft.com/office/drawing/2014/main" id="{A8EA13D5-8BF3-55B1-8B51-6C5ED83A998C}"/>
                  </a:ext>
                </a:extLst>
              </p:cNvPr>
              <p:cNvSpPr/>
              <p:nvPr/>
            </p:nvSpPr>
            <p:spPr>
              <a:xfrm rot="5400000">
                <a:off x="6744388" y="5003383"/>
                <a:ext cx="338883" cy="375580"/>
              </a:xfrm>
              <a:prstGeom prst="rightArrow">
                <a:avLst/>
              </a:prstGeom>
              <a:ln w="19050">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13" name="Group 12">
                <a:extLst>
                  <a:ext uri="{FF2B5EF4-FFF2-40B4-BE49-F238E27FC236}">
                    <a16:creationId xmlns:a16="http://schemas.microsoft.com/office/drawing/2014/main" id="{6A591045-8627-CD71-E8BE-3CF1207AF82A}"/>
                  </a:ext>
                </a:extLst>
              </p:cNvPr>
              <p:cNvGrpSpPr/>
              <p:nvPr/>
            </p:nvGrpSpPr>
            <p:grpSpPr>
              <a:xfrm>
                <a:off x="5429498" y="3663375"/>
                <a:ext cx="3027194" cy="1478243"/>
                <a:chOff x="5429498" y="3663375"/>
                <a:chExt cx="3027194" cy="1478243"/>
              </a:xfrm>
            </p:grpSpPr>
            <p:grpSp>
              <p:nvGrpSpPr>
                <p:cNvPr id="14" name="Group 13">
                  <a:extLst>
                    <a:ext uri="{FF2B5EF4-FFF2-40B4-BE49-F238E27FC236}">
                      <a16:creationId xmlns:a16="http://schemas.microsoft.com/office/drawing/2014/main" id="{66059F0B-7AF1-790A-5784-B7B9BAAF6DFD}"/>
                    </a:ext>
                  </a:extLst>
                </p:cNvPr>
                <p:cNvGrpSpPr/>
                <p:nvPr/>
              </p:nvGrpSpPr>
              <p:grpSpPr>
                <a:xfrm>
                  <a:off x="5429498" y="3663375"/>
                  <a:ext cx="2976932" cy="1478243"/>
                  <a:chOff x="5429498" y="3663375"/>
                  <a:chExt cx="2976932" cy="1478243"/>
                </a:xfrm>
              </p:grpSpPr>
              <p:grpSp>
                <p:nvGrpSpPr>
                  <p:cNvPr id="17" name="Group 16">
                    <a:extLst>
                      <a:ext uri="{FF2B5EF4-FFF2-40B4-BE49-F238E27FC236}">
                        <a16:creationId xmlns:a16="http://schemas.microsoft.com/office/drawing/2014/main" id="{91ED7C02-925B-285A-3AAE-9D59A7F796EA}"/>
                      </a:ext>
                    </a:extLst>
                  </p:cNvPr>
                  <p:cNvGrpSpPr/>
                  <p:nvPr/>
                </p:nvGrpSpPr>
                <p:grpSpPr>
                  <a:xfrm>
                    <a:off x="5429498" y="3663375"/>
                    <a:ext cx="2976932" cy="1478243"/>
                    <a:chOff x="5429498" y="3663375"/>
                    <a:chExt cx="2976932" cy="1478243"/>
                  </a:xfrm>
                </p:grpSpPr>
                <p:sp>
                  <p:nvSpPr>
                    <p:cNvPr id="21" name="Rectangle: Rounded Corners 20">
                      <a:extLst>
                        <a:ext uri="{FF2B5EF4-FFF2-40B4-BE49-F238E27FC236}">
                          <a16:creationId xmlns:a16="http://schemas.microsoft.com/office/drawing/2014/main" id="{D9865DA2-E7C3-2218-A67B-7E8980C2448E}"/>
                        </a:ext>
                      </a:extLst>
                    </p:cNvPr>
                    <p:cNvSpPr/>
                    <p:nvPr/>
                  </p:nvSpPr>
                  <p:spPr>
                    <a:xfrm>
                      <a:off x="5429498" y="3663375"/>
                      <a:ext cx="2976932" cy="1478243"/>
                    </a:xfrm>
                    <a:prstGeom prst="roundRect">
                      <a:avLst/>
                    </a:prstGeom>
                    <a:solidFill>
                      <a:schemeClr val="bg1"/>
                    </a:solidFill>
                    <a:ln w="1905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07596EF5-6BC8-D4AC-40FD-7EFC0469DE2E}"/>
                        </a:ext>
                      </a:extLst>
                    </p:cNvPr>
                    <p:cNvSpPr txBox="1"/>
                    <p:nvPr/>
                  </p:nvSpPr>
                  <p:spPr>
                    <a:xfrm>
                      <a:off x="5620088" y="3684408"/>
                      <a:ext cx="2597727" cy="276999"/>
                    </a:xfrm>
                    <a:prstGeom prst="rect">
                      <a:avLst/>
                    </a:prstGeom>
                    <a:noFill/>
                  </p:spPr>
                  <p:txBody>
                    <a:bodyPr wrap="square" rtlCol="0">
                      <a:spAutoFit/>
                    </a:bodyPr>
                    <a:lstStyle/>
                    <a:p>
                      <a:pPr algn="ctr"/>
                      <a:r>
                        <a:rPr lang="en-US" sz="1200" b="1" dirty="0"/>
                        <a:t>EU-framework price elasticities</a:t>
                      </a:r>
                    </a:p>
                  </p:txBody>
                </p:sp>
              </p:grpSp>
              <p:grpSp>
                <p:nvGrpSpPr>
                  <p:cNvPr id="18" name="Group 17">
                    <a:extLst>
                      <a:ext uri="{FF2B5EF4-FFF2-40B4-BE49-F238E27FC236}">
                        <a16:creationId xmlns:a16="http://schemas.microsoft.com/office/drawing/2014/main" id="{7B536B44-BA67-1B8F-B707-EC7EF94FCADF}"/>
                      </a:ext>
                    </a:extLst>
                  </p:cNvPr>
                  <p:cNvGrpSpPr/>
                  <p:nvPr/>
                </p:nvGrpSpPr>
                <p:grpSpPr>
                  <a:xfrm>
                    <a:off x="5430823" y="3941398"/>
                    <a:ext cx="382788" cy="694003"/>
                    <a:chOff x="5430823" y="3941398"/>
                    <a:chExt cx="382788" cy="694003"/>
                  </a:xfrm>
                </p:grpSpPr>
                <p:pic>
                  <p:nvPicPr>
                    <p:cNvPr id="19" name="Picture 18">
                      <a:extLst>
                        <a:ext uri="{FF2B5EF4-FFF2-40B4-BE49-F238E27FC236}">
                          <a16:creationId xmlns:a16="http://schemas.microsoft.com/office/drawing/2014/main" id="{E7497E4A-5391-6DD9-56DB-F0F9EB4A8903}"/>
                        </a:ext>
                      </a:extLst>
                    </p:cNvPr>
                    <p:cNvPicPr>
                      <a:picLocks noChangeAspect="1"/>
                    </p:cNvPicPr>
                    <p:nvPr/>
                  </p:nvPicPr>
                  <p:blipFill>
                    <a:blip r:embed="rId3"/>
                    <a:stretch>
                      <a:fillRect/>
                    </a:stretch>
                  </p:blipFill>
                  <p:spPr>
                    <a:xfrm>
                      <a:off x="5485361" y="3941398"/>
                      <a:ext cx="269454" cy="269454"/>
                    </a:xfrm>
                    <a:prstGeom prst="rect">
                      <a:avLst/>
                    </a:prstGeom>
                  </p:spPr>
                </p:pic>
                <p:pic>
                  <p:nvPicPr>
                    <p:cNvPr id="20" name="Picture 19">
                      <a:extLst>
                        <a:ext uri="{FF2B5EF4-FFF2-40B4-BE49-F238E27FC236}">
                          <a16:creationId xmlns:a16="http://schemas.microsoft.com/office/drawing/2014/main" id="{29063BD1-B355-1F92-0B68-475936EF4AE3}"/>
                        </a:ext>
                      </a:extLst>
                    </p:cNvPr>
                    <p:cNvPicPr>
                      <a:picLocks noChangeAspect="1"/>
                    </p:cNvPicPr>
                    <p:nvPr/>
                  </p:nvPicPr>
                  <p:blipFill>
                    <a:blip r:embed="rId4"/>
                    <a:stretch>
                      <a:fillRect/>
                    </a:stretch>
                  </p:blipFill>
                  <p:spPr>
                    <a:xfrm>
                      <a:off x="5430823" y="4248193"/>
                      <a:ext cx="382788" cy="387208"/>
                    </a:xfrm>
                    <a:prstGeom prst="rect">
                      <a:avLst/>
                    </a:prstGeom>
                  </p:spPr>
                </p:pic>
              </p:grpSp>
            </p:grpSp>
            <p:sp>
              <p:nvSpPr>
                <p:cNvPr id="15" name="TextBox 14">
                  <a:extLst>
                    <a:ext uri="{FF2B5EF4-FFF2-40B4-BE49-F238E27FC236}">
                      <a16:creationId xmlns:a16="http://schemas.microsoft.com/office/drawing/2014/main" id="{344AAB76-707A-372E-7B60-2986B31DF307}"/>
                    </a:ext>
                  </a:extLst>
                </p:cNvPr>
                <p:cNvSpPr txBox="1"/>
                <p:nvPr/>
              </p:nvSpPr>
              <p:spPr>
                <a:xfrm>
                  <a:off x="5725010" y="3853691"/>
                  <a:ext cx="2731682" cy="1277273"/>
                </a:xfrm>
                <a:prstGeom prst="rect">
                  <a:avLst/>
                </a:prstGeom>
                <a:noFill/>
              </p:spPr>
              <p:txBody>
                <a:bodyPr wrap="square" rtlCol="0">
                  <a:spAutoFit/>
                </a:bodyPr>
                <a:lstStyle/>
                <a:p>
                  <a:pPr marL="171450" indent="-171450">
                    <a:buFont typeface="Arial" panose="020B0604020202020204" pitchFamily="34" charset="0"/>
                    <a:buChar char="•"/>
                  </a:pPr>
                  <a:r>
                    <a:rPr lang="en-US" sz="1100" dirty="0"/>
                    <a:t>All CRMs PED and PES</a:t>
                  </a:r>
                </a:p>
                <a:p>
                  <a:r>
                    <a:rPr lang="en-US" sz="1100" dirty="0"/>
                    <a:t>Database (Eurostat, SCRREEN, RMIS, …)</a:t>
                  </a:r>
                </a:p>
                <a:p>
                  <a:pPr marL="171450" indent="-171450">
                    <a:buFont typeface="Arial" panose="020B0604020202020204" pitchFamily="34" charset="0"/>
                    <a:buChar char="•"/>
                  </a:pPr>
                  <a:r>
                    <a:rPr lang="en-US" sz="1100" dirty="0"/>
                    <a:t>HS codes + Production</a:t>
                  </a:r>
                </a:p>
                <a:p>
                  <a:pPr marL="171450" indent="-171450">
                    <a:buFont typeface="Arial" panose="020B0604020202020204" pitchFamily="34" charset="0"/>
                    <a:buChar char="•"/>
                  </a:pPr>
                  <a:r>
                    <a:rPr lang="en-US" sz="1100" dirty="0"/>
                    <a:t>Sectoral value added</a:t>
                  </a:r>
                </a:p>
                <a:p>
                  <a:pPr marL="171450" indent="-171450">
                    <a:buFont typeface="Arial" panose="020B0604020202020204" pitchFamily="34" charset="0"/>
                    <a:buChar char="•"/>
                  </a:pPr>
                  <a:r>
                    <a:rPr lang="en-US" sz="1100" dirty="0"/>
                    <a:t>EU GDP and </a:t>
                  </a:r>
                  <a:r>
                    <a:rPr lang="en-US" sz="1100" dirty="0" err="1"/>
                    <a:t>usd_eur</a:t>
                  </a:r>
                  <a:r>
                    <a:rPr lang="en-US" sz="1100" dirty="0"/>
                    <a:t> exchange rate</a:t>
                  </a:r>
                </a:p>
                <a:p>
                  <a:pPr marL="171450" indent="-171450">
                    <a:buFont typeface="Arial" panose="020B0604020202020204" pitchFamily="34" charset="0"/>
                    <a:buChar char="•"/>
                  </a:pPr>
                  <a:r>
                    <a:rPr lang="en-US" sz="1100" dirty="0"/>
                    <a:t>Export restrictions, strikes</a:t>
                  </a:r>
                </a:p>
                <a:p>
                  <a:pPr marL="171450" indent="-171450">
                    <a:buFont typeface="Arial" panose="020B0604020202020204" pitchFamily="34" charset="0"/>
                    <a:buChar char="•"/>
                  </a:pPr>
                  <a:r>
                    <a:rPr lang="en-US" sz="1100" dirty="0"/>
                    <a:t>Mine-level, industrial-level variables</a:t>
                  </a:r>
                </a:p>
              </p:txBody>
            </p:sp>
            <p:pic>
              <p:nvPicPr>
                <p:cNvPr id="16" name="Picture 15">
                  <a:extLst>
                    <a:ext uri="{FF2B5EF4-FFF2-40B4-BE49-F238E27FC236}">
                      <a16:creationId xmlns:a16="http://schemas.microsoft.com/office/drawing/2014/main" id="{A56D78FA-4801-2BEF-3B16-91DEA4CF79CB}"/>
                    </a:ext>
                  </a:extLst>
                </p:cNvPr>
                <p:cNvPicPr>
                  <a:picLocks noChangeAspect="1"/>
                </p:cNvPicPr>
                <p:nvPr/>
              </p:nvPicPr>
              <p:blipFill>
                <a:blip r:embed="rId5"/>
                <a:stretch>
                  <a:fillRect/>
                </a:stretch>
              </p:blipFill>
              <p:spPr>
                <a:xfrm>
                  <a:off x="5460183" y="4686473"/>
                  <a:ext cx="335020" cy="301956"/>
                </a:xfrm>
                <a:prstGeom prst="rect">
                  <a:avLst/>
                </a:prstGeom>
              </p:spPr>
            </p:pic>
          </p:grpSp>
        </p:grpSp>
        <p:grpSp>
          <p:nvGrpSpPr>
            <p:cNvPr id="23" name="Group 22">
              <a:extLst>
                <a:ext uri="{FF2B5EF4-FFF2-40B4-BE49-F238E27FC236}">
                  <a16:creationId xmlns:a16="http://schemas.microsoft.com/office/drawing/2014/main" id="{3F497D38-1D3E-5E83-2C63-E3B5F045B63A}"/>
                </a:ext>
              </a:extLst>
            </p:cNvPr>
            <p:cNvGrpSpPr/>
            <p:nvPr/>
          </p:nvGrpSpPr>
          <p:grpSpPr>
            <a:xfrm>
              <a:off x="5834001" y="4086099"/>
              <a:ext cx="2947384" cy="1078247"/>
              <a:chOff x="5866063" y="5331164"/>
              <a:chExt cx="2947384" cy="1078247"/>
            </a:xfrm>
          </p:grpSpPr>
          <p:sp>
            <p:nvSpPr>
              <p:cNvPr id="24" name="Arrow: Right 23">
                <a:extLst>
                  <a:ext uri="{FF2B5EF4-FFF2-40B4-BE49-F238E27FC236}">
                    <a16:creationId xmlns:a16="http://schemas.microsoft.com/office/drawing/2014/main" id="{DB50AA9B-9B82-5AA3-0EBA-2DF74A9BED5B}"/>
                  </a:ext>
                </a:extLst>
              </p:cNvPr>
              <p:cNvSpPr/>
              <p:nvPr/>
            </p:nvSpPr>
            <p:spPr>
              <a:xfrm>
                <a:off x="7968416" y="5767633"/>
                <a:ext cx="845031" cy="153143"/>
              </a:xfrm>
              <a:prstGeom prst="rightArrow">
                <a:avLst/>
              </a:prstGeom>
              <a:solidFill>
                <a:srgbClr val="C00000"/>
              </a:solid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55ACB44B-3209-6EB8-A752-29029DEFD26C}"/>
                  </a:ext>
                </a:extLst>
              </p:cNvPr>
              <p:cNvGrpSpPr/>
              <p:nvPr/>
            </p:nvGrpSpPr>
            <p:grpSpPr>
              <a:xfrm>
                <a:off x="5866063" y="5331164"/>
                <a:ext cx="2346176" cy="1078247"/>
                <a:chOff x="5866063" y="5248038"/>
                <a:chExt cx="2346176" cy="1078247"/>
              </a:xfrm>
            </p:grpSpPr>
            <p:sp>
              <p:nvSpPr>
                <p:cNvPr id="26" name="Rectangle: Rounded Corners 25">
                  <a:extLst>
                    <a:ext uri="{FF2B5EF4-FFF2-40B4-BE49-F238E27FC236}">
                      <a16:creationId xmlns:a16="http://schemas.microsoft.com/office/drawing/2014/main" id="{CA9AB2E1-926C-5547-F62F-86171CA22953}"/>
                    </a:ext>
                  </a:extLst>
                </p:cNvPr>
                <p:cNvSpPr/>
                <p:nvPr/>
              </p:nvSpPr>
              <p:spPr>
                <a:xfrm>
                  <a:off x="5866063" y="5248038"/>
                  <a:ext cx="2244380" cy="1078247"/>
                </a:xfrm>
                <a:prstGeom prst="roundRect">
                  <a:avLst/>
                </a:prstGeom>
                <a:solidFill>
                  <a:schemeClr val="bg1"/>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7DC167A0-01E3-F4D4-8554-E7DEE9D28256}"/>
                    </a:ext>
                  </a:extLst>
                </p:cNvPr>
                <p:cNvSpPr txBox="1"/>
                <p:nvPr/>
              </p:nvSpPr>
              <p:spPr>
                <a:xfrm>
                  <a:off x="6204093" y="5297593"/>
                  <a:ext cx="1570183" cy="369332"/>
                </a:xfrm>
                <a:prstGeom prst="rect">
                  <a:avLst/>
                </a:prstGeom>
                <a:noFill/>
              </p:spPr>
              <p:txBody>
                <a:bodyPr wrap="square" rtlCol="0">
                  <a:spAutoFit/>
                </a:bodyPr>
                <a:lstStyle/>
                <a:p>
                  <a:r>
                    <a:rPr lang="en-US" b="1" dirty="0">
                      <a:solidFill>
                        <a:srgbClr val="C00000"/>
                      </a:solidFill>
                    </a:rPr>
                    <a:t>ELASTICITY</a:t>
                  </a:r>
                </a:p>
              </p:txBody>
            </p:sp>
            <p:pic>
              <p:nvPicPr>
                <p:cNvPr id="28" name="Picture 27">
                  <a:extLst>
                    <a:ext uri="{FF2B5EF4-FFF2-40B4-BE49-F238E27FC236}">
                      <a16:creationId xmlns:a16="http://schemas.microsoft.com/office/drawing/2014/main" id="{E4C783B3-8DE0-F6FA-AAE1-C8BDD617FB26}"/>
                    </a:ext>
                  </a:extLst>
                </p:cNvPr>
                <p:cNvPicPr>
                  <a:picLocks noChangeAspect="1"/>
                </p:cNvPicPr>
                <p:nvPr/>
              </p:nvPicPr>
              <p:blipFill>
                <a:blip r:embed="rId6"/>
                <a:stretch>
                  <a:fillRect/>
                </a:stretch>
              </p:blipFill>
              <p:spPr>
                <a:xfrm>
                  <a:off x="5949706" y="5299427"/>
                  <a:ext cx="324858" cy="324858"/>
                </a:xfrm>
                <a:prstGeom prst="rect">
                  <a:avLst/>
                </a:prstGeom>
              </p:spPr>
            </p:pic>
            <p:sp>
              <p:nvSpPr>
                <p:cNvPr id="29" name="TextBox 28">
                  <a:extLst>
                    <a:ext uri="{FF2B5EF4-FFF2-40B4-BE49-F238E27FC236}">
                      <a16:creationId xmlns:a16="http://schemas.microsoft.com/office/drawing/2014/main" id="{B7508F5B-CBBA-6492-5F22-CD33B56390AA}"/>
                    </a:ext>
                  </a:extLst>
                </p:cNvPr>
                <p:cNvSpPr txBox="1"/>
                <p:nvPr/>
              </p:nvSpPr>
              <p:spPr>
                <a:xfrm>
                  <a:off x="5941972" y="5609275"/>
                  <a:ext cx="2270267" cy="646331"/>
                </a:xfrm>
                <a:prstGeom prst="rect">
                  <a:avLst/>
                </a:prstGeom>
                <a:noFill/>
              </p:spPr>
              <p:txBody>
                <a:bodyPr wrap="square" rtlCol="0">
                  <a:spAutoFit/>
                </a:bodyPr>
                <a:lstStyle/>
                <a:p>
                  <a:r>
                    <a:rPr lang="en-US" sz="1200" dirty="0"/>
                    <a:t>PED and PES for main CRMs</a:t>
                  </a:r>
                </a:p>
                <a:p>
                  <a:r>
                    <a:rPr lang="en-US" sz="1200" dirty="0"/>
                    <a:t>Elasticity ranges</a:t>
                  </a:r>
                </a:p>
                <a:p>
                  <a:r>
                    <a:rPr lang="en-US" sz="1200" dirty="0"/>
                    <a:t>Short and long run elasticities</a:t>
                  </a:r>
                </a:p>
              </p:txBody>
            </p:sp>
          </p:grpSp>
        </p:grpSp>
        <p:grpSp>
          <p:nvGrpSpPr>
            <p:cNvPr id="30" name="Group 29">
              <a:extLst>
                <a:ext uri="{FF2B5EF4-FFF2-40B4-BE49-F238E27FC236}">
                  <a16:creationId xmlns:a16="http://schemas.microsoft.com/office/drawing/2014/main" id="{97266B18-6837-53E7-053D-0307A96C1CC7}"/>
                </a:ext>
              </a:extLst>
            </p:cNvPr>
            <p:cNvGrpSpPr/>
            <p:nvPr/>
          </p:nvGrpSpPr>
          <p:grpSpPr>
            <a:xfrm>
              <a:off x="8621139" y="3982290"/>
              <a:ext cx="2116987" cy="1198817"/>
              <a:chOff x="8456595" y="5062219"/>
              <a:chExt cx="1621158" cy="1198817"/>
            </a:xfrm>
          </p:grpSpPr>
          <p:grpSp>
            <p:nvGrpSpPr>
              <p:cNvPr id="31" name="Group 30">
                <a:extLst>
                  <a:ext uri="{FF2B5EF4-FFF2-40B4-BE49-F238E27FC236}">
                    <a16:creationId xmlns:a16="http://schemas.microsoft.com/office/drawing/2014/main" id="{C8D7F046-BD31-D0E9-05C4-D6F2A48C9F49}"/>
                  </a:ext>
                </a:extLst>
              </p:cNvPr>
              <p:cNvGrpSpPr/>
              <p:nvPr/>
            </p:nvGrpSpPr>
            <p:grpSpPr>
              <a:xfrm>
                <a:off x="8590316" y="5208182"/>
                <a:ext cx="1487437" cy="1052854"/>
                <a:chOff x="8821838" y="1812110"/>
                <a:chExt cx="2423287" cy="1052854"/>
              </a:xfrm>
            </p:grpSpPr>
            <p:sp>
              <p:nvSpPr>
                <p:cNvPr id="35" name="Rectangle 34">
                  <a:extLst>
                    <a:ext uri="{FF2B5EF4-FFF2-40B4-BE49-F238E27FC236}">
                      <a16:creationId xmlns:a16="http://schemas.microsoft.com/office/drawing/2014/main" id="{CF6484C5-D4E5-4C80-F394-85E9627D32B7}"/>
                    </a:ext>
                  </a:extLst>
                </p:cNvPr>
                <p:cNvSpPr/>
                <p:nvPr/>
              </p:nvSpPr>
              <p:spPr>
                <a:xfrm>
                  <a:off x="8821838" y="1812110"/>
                  <a:ext cx="2423287" cy="917507"/>
                </a:xfrm>
                <a:prstGeom prst="rect">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9BD274F-D1E3-8423-482E-98C6F9D8E0C9}"/>
                    </a:ext>
                  </a:extLst>
                </p:cNvPr>
                <p:cNvSpPr txBox="1"/>
                <p:nvPr/>
              </p:nvSpPr>
              <p:spPr>
                <a:xfrm>
                  <a:off x="9034666" y="1812110"/>
                  <a:ext cx="2210459" cy="461665"/>
                </a:xfrm>
                <a:prstGeom prst="rect">
                  <a:avLst/>
                </a:prstGeom>
                <a:noFill/>
              </p:spPr>
              <p:txBody>
                <a:bodyPr wrap="square" rtlCol="0">
                  <a:spAutoFit/>
                </a:bodyPr>
                <a:lstStyle/>
                <a:p>
                  <a:pPr algn="ctr"/>
                  <a:r>
                    <a:rPr lang="en-US" sz="1200" b="1" dirty="0"/>
                    <a:t>Elasticity database</a:t>
                  </a:r>
                </a:p>
              </p:txBody>
            </p:sp>
            <p:sp>
              <p:nvSpPr>
                <p:cNvPr id="37" name="TextBox 36">
                  <a:extLst>
                    <a:ext uri="{FF2B5EF4-FFF2-40B4-BE49-F238E27FC236}">
                      <a16:creationId xmlns:a16="http://schemas.microsoft.com/office/drawing/2014/main" id="{D140F77D-FFA2-663C-BF54-F740035DD6E4}"/>
                    </a:ext>
                  </a:extLst>
                </p:cNvPr>
                <p:cNvSpPr txBox="1"/>
                <p:nvPr/>
              </p:nvSpPr>
              <p:spPr>
                <a:xfrm>
                  <a:off x="8863316" y="2218633"/>
                  <a:ext cx="2381809"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a:t>High/mid/low levels</a:t>
                  </a:r>
                </a:p>
                <a:p>
                  <a:pPr marL="171450" indent="-171450">
                    <a:buFont typeface="Arial" panose="020B0604020202020204" pitchFamily="34" charset="0"/>
                    <a:buChar char="•"/>
                  </a:pPr>
                  <a:r>
                    <a:rPr lang="en-US" sz="1200" dirty="0"/>
                    <a:t>Short/long run</a:t>
                  </a:r>
                </a:p>
              </p:txBody>
            </p:sp>
          </p:grpSp>
          <p:grpSp>
            <p:nvGrpSpPr>
              <p:cNvPr id="32" name="Group 31">
                <a:extLst>
                  <a:ext uri="{FF2B5EF4-FFF2-40B4-BE49-F238E27FC236}">
                    <a16:creationId xmlns:a16="http://schemas.microsoft.com/office/drawing/2014/main" id="{9DB0F7C4-CDD2-6A76-E2F9-9DDEE5308D6C}"/>
                  </a:ext>
                </a:extLst>
              </p:cNvPr>
              <p:cNvGrpSpPr/>
              <p:nvPr/>
            </p:nvGrpSpPr>
            <p:grpSpPr>
              <a:xfrm>
                <a:off x="8456595" y="5062219"/>
                <a:ext cx="398064" cy="412248"/>
                <a:chOff x="8946794" y="3941764"/>
                <a:chExt cx="501567" cy="512258"/>
              </a:xfrm>
            </p:grpSpPr>
            <p:sp>
              <p:nvSpPr>
                <p:cNvPr id="33" name="Rectangle 32">
                  <a:extLst>
                    <a:ext uri="{FF2B5EF4-FFF2-40B4-BE49-F238E27FC236}">
                      <a16:creationId xmlns:a16="http://schemas.microsoft.com/office/drawing/2014/main" id="{A47769FB-FB71-5D5B-DD82-C3EBB58169A4}"/>
                    </a:ext>
                  </a:extLst>
                </p:cNvPr>
                <p:cNvSpPr/>
                <p:nvPr/>
              </p:nvSpPr>
              <p:spPr>
                <a:xfrm>
                  <a:off x="8946794" y="3941764"/>
                  <a:ext cx="501567" cy="512258"/>
                </a:xfrm>
                <a:prstGeom prst="rect">
                  <a:avLst/>
                </a:prstGeom>
                <a:solidFill>
                  <a:schemeClr val="bg1"/>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7D809AA1-A92E-FCD7-426E-D165F3E3C5EA}"/>
                    </a:ext>
                  </a:extLst>
                </p:cNvPr>
                <p:cNvPicPr>
                  <a:picLocks noChangeAspect="1"/>
                </p:cNvPicPr>
                <p:nvPr/>
              </p:nvPicPr>
              <p:blipFill>
                <a:blip r:embed="rId7"/>
                <a:stretch>
                  <a:fillRect/>
                </a:stretch>
              </p:blipFill>
              <p:spPr>
                <a:xfrm>
                  <a:off x="9001019" y="4011183"/>
                  <a:ext cx="355003" cy="442839"/>
                </a:xfrm>
                <a:prstGeom prst="rect">
                  <a:avLst/>
                </a:prstGeom>
              </p:spPr>
            </p:pic>
          </p:grpSp>
        </p:grpSp>
        <p:grpSp>
          <p:nvGrpSpPr>
            <p:cNvPr id="42" name="Group 41">
              <a:extLst>
                <a:ext uri="{FF2B5EF4-FFF2-40B4-BE49-F238E27FC236}">
                  <a16:creationId xmlns:a16="http://schemas.microsoft.com/office/drawing/2014/main" id="{4701BAF9-0194-42E0-122E-70110C29EF6D}"/>
                </a:ext>
              </a:extLst>
            </p:cNvPr>
            <p:cNvGrpSpPr/>
            <p:nvPr/>
          </p:nvGrpSpPr>
          <p:grpSpPr>
            <a:xfrm>
              <a:off x="2632250" y="1738903"/>
              <a:ext cx="4438763" cy="1624374"/>
              <a:chOff x="2730032" y="2855145"/>
              <a:chExt cx="4438763" cy="1624374"/>
            </a:xfrm>
          </p:grpSpPr>
          <p:grpSp>
            <p:nvGrpSpPr>
              <p:cNvPr id="43" name="Group 42">
                <a:extLst>
                  <a:ext uri="{FF2B5EF4-FFF2-40B4-BE49-F238E27FC236}">
                    <a16:creationId xmlns:a16="http://schemas.microsoft.com/office/drawing/2014/main" id="{62FEA144-59A7-03C3-6567-0025ABF6AEDB}"/>
                  </a:ext>
                </a:extLst>
              </p:cNvPr>
              <p:cNvGrpSpPr/>
              <p:nvPr/>
            </p:nvGrpSpPr>
            <p:grpSpPr>
              <a:xfrm>
                <a:off x="2730032" y="2855145"/>
                <a:ext cx="4438763" cy="1624374"/>
                <a:chOff x="2730032" y="2855145"/>
                <a:chExt cx="4438763" cy="1624374"/>
              </a:xfrm>
            </p:grpSpPr>
            <p:sp>
              <p:nvSpPr>
                <p:cNvPr id="45" name="Arrow: Bent-Up 44">
                  <a:extLst>
                    <a:ext uri="{FF2B5EF4-FFF2-40B4-BE49-F238E27FC236}">
                      <a16:creationId xmlns:a16="http://schemas.microsoft.com/office/drawing/2014/main" id="{A6A31D62-0A8E-C195-7193-604351847F98}"/>
                    </a:ext>
                  </a:extLst>
                </p:cNvPr>
                <p:cNvSpPr/>
                <p:nvPr/>
              </p:nvSpPr>
              <p:spPr>
                <a:xfrm flipV="1">
                  <a:off x="5062295" y="3284162"/>
                  <a:ext cx="2106500" cy="198129"/>
                </a:xfrm>
                <a:prstGeom prst="bentUpArrow">
                  <a:avLst/>
                </a:prstGeom>
                <a:solidFill>
                  <a:schemeClr val="accent6"/>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a:extLst>
                    <a:ext uri="{FF2B5EF4-FFF2-40B4-BE49-F238E27FC236}">
                      <a16:creationId xmlns:a16="http://schemas.microsoft.com/office/drawing/2014/main" id="{2BD77826-5E03-3255-1CC8-E850FB480838}"/>
                    </a:ext>
                  </a:extLst>
                </p:cNvPr>
                <p:cNvGrpSpPr/>
                <p:nvPr/>
              </p:nvGrpSpPr>
              <p:grpSpPr>
                <a:xfrm>
                  <a:off x="2730032" y="2855145"/>
                  <a:ext cx="2869094" cy="1624374"/>
                  <a:chOff x="2730032" y="3086046"/>
                  <a:chExt cx="2869094" cy="1624374"/>
                </a:xfrm>
              </p:grpSpPr>
              <p:grpSp>
                <p:nvGrpSpPr>
                  <p:cNvPr id="47" name="Group 46">
                    <a:extLst>
                      <a:ext uri="{FF2B5EF4-FFF2-40B4-BE49-F238E27FC236}">
                        <a16:creationId xmlns:a16="http://schemas.microsoft.com/office/drawing/2014/main" id="{E8812F53-EF7F-E507-EFD4-1EA7A51DAF55}"/>
                      </a:ext>
                    </a:extLst>
                  </p:cNvPr>
                  <p:cNvGrpSpPr/>
                  <p:nvPr/>
                </p:nvGrpSpPr>
                <p:grpSpPr>
                  <a:xfrm>
                    <a:off x="2730032" y="3086046"/>
                    <a:ext cx="2869094" cy="1624374"/>
                    <a:chOff x="2730032" y="3039713"/>
                    <a:chExt cx="2869094" cy="1624374"/>
                  </a:xfrm>
                </p:grpSpPr>
                <p:grpSp>
                  <p:nvGrpSpPr>
                    <p:cNvPr id="49" name="Group 48">
                      <a:extLst>
                        <a:ext uri="{FF2B5EF4-FFF2-40B4-BE49-F238E27FC236}">
                          <a16:creationId xmlns:a16="http://schemas.microsoft.com/office/drawing/2014/main" id="{E8ACE982-20A0-CF3C-37FA-73423DE15ACC}"/>
                        </a:ext>
                      </a:extLst>
                    </p:cNvPr>
                    <p:cNvGrpSpPr/>
                    <p:nvPr/>
                  </p:nvGrpSpPr>
                  <p:grpSpPr>
                    <a:xfrm>
                      <a:off x="2730032" y="3039713"/>
                      <a:ext cx="2869094" cy="1624374"/>
                      <a:chOff x="6823934" y="2514639"/>
                      <a:chExt cx="2345756" cy="1915806"/>
                    </a:xfrm>
                  </p:grpSpPr>
                  <p:grpSp>
                    <p:nvGrpSpPr>
                      <p:cNvPr id="51" name="Group 50">
                        <a:extLst>
                          <a:ext uri="{FF2B5EF4-FFF2-40B4-BE49-F238E27FC236}">
                            <a16:creationId xmlns:a16="http://schemas.microsoft.com/office/drawing/2014/main" id="{7211741B-85AD-3688-B129-3DC93FA933BF}"/>
                          </a:ext>
                        </a:extLst>
                      </p:cNvPr>
                      <p:cNvGrpSpPr/>
                      <p:nvPr/>
                    </p:nvGrpSpPr>
                    <p:grpSpPr>
                      <a:xfrm>
                        <a:off x="6823934" y="2514639"/>
                        <a:ext cx="2345756" cy="1915806"/>
                        <a:chOff x="6823934" y="2514639"/>
                        <a:chExt cx="2345756" cy="1915806"/>
                      </a:xfrm>
                    </p:grpSpPr>
                    <p:sp>
                      <p:nvSpPr>
                        <p:cNvPr id="55" name="Scroll: Vertical 54">
                          <a:extLst>
                            <a:ext uri="{FF2B5EF4-FFF2-40B4-BE49-F238E27FC236}">
                              <a16:creationId xmlns:a16="http://schemas.microsoft.com/office/drawing/2014/main" id="{8FF90CD2-5A78-26A2-C038-10CEE1427309}"/>
                            </a:ext>
                          </a:extLst>
                        </p:cNvPr>
                        <p:cNvSpPr/>
                        <p:nvPr/>
                      </p:nvSpPr>
                      <p:spPr>
                        <a:xfrm>
                          <a:off x="6823934" y="2514639"/>
                          <a:ext cx="2345756" cy="1915806"/>
                        </a:xfrm>
                        <a:prstGeom prst="verticalScroll">
                          <a:avLst/>
                        </a:prstGeom>
                        <a:solidFill>
                          <a:schemeClr val="accent6">
                            <a:lumMod val="40000"/>
                            <a:lumOff val="60000"/>
                          </a:schemeClr>
                        </a:solidFill>
                        <a:ln w="28575">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6" name="TextBox 55">
                          <a:extLst>
                            <a:ext uri="{FF2B5EF4-FFF2-40B4-BE49-F238E27FC236}">
                              <a16:creationId xmlns:a16="http://schemas.microsoft.com/office/drawing/2014/main" id="{FB6FA261-197D-0FCA-CC3E-88A4B4992DC5}"/>
                            </a:ext>
                          </a:extLst>
                        </p:cNvPr>
                        <p:cNvSpPr txBox="1"/>
                        <p:nvPr/>
                      </p:nvSpPr>
                      <p:spPr>
                        <a:xfrm>
                          <a:off x="7056167" y="2807668"/>
                          <a:ext cx="2113521" cy="307777"/>
                        </a:xfrm>
                        <a:prstGeom prst="rect">
                          <a:avLst/>
                        </a:prstGeom>
                        <a:noFill/>
                      </p:spPr>
                      <p:txBody>
                        <a:bodyPr wrap="square" rtlCol="0">
                          <a:spAutoFit/>
                        </a:bodyPr>
                        <a:lstStyle/>
                        <a:p>
                          <a:pPr algn="ctr"/>
                          <a:r>
                            <a:rPr lang="en-US" sz="1400" b="1" dirty="0"/>
                            <a:t>EU_CRM framework</a:t>
                          </a:r>
                        </a:p>
                      </p:txBody>
                    </p:sp>
                  </p:grpSp>
                  <p:sp>
                    <p:nvSpPr>
                      <p:cNvPr id="52" name="TextBox 51">
                        <a:extLst>
                          <a:ext uri="{FF2B5EF4-FFF2-40B4-BE49-F238E27FC236}">
                            <a16:creationId xmlns:a16="http://schemas.microsoft.com/office/drawing/2014/main" id="{227FE14F-FA82-133C-5636-FABF455215B1}"/>
                          </a:ext>
                        </a:extLst>
                      </p:cNvPr>
                      <p:cNvSpPr txBox="1"/>
                      <p:nvPr/>
                    </p:nvSpPr>
                    <p:spPr>
                      <a:xfrm>
                        <a:off x="7378468" y="3093474"/>
                        <a:ext cx="1629178" cy="544493"/>
                      </a:xfrm>
                      <a:prstGeom prst="rect">
                        <a:avLst/>
                      </a:prstGeom>
                      <a:noFill/>
                    </p:spPr>
                    <p:txBody>
                      <a:bodyPr wrap="square" rtlCol="0">
                        <a:spAutoFit/>
                      </a:bodyPr>
                      <a:lstStyle/>
                      <a:p>
                        <a:r>
                          <a:rPr lang="en-US" sz="1200" dirty="0"/>
                          <a:t>Methodology</a:t>
                        </a:r>
                      </a:p>
                      <a:p>
                        <a:r>
                          <a:rPr lang="en-US" sz="1200" dirty="0"/>
                          <a:t>Projects (RMIS, SCRREEN)</a:t>
                        </a:r>
                      </a:p>
                    </p:txBody>
                  </p:sp>
                  <p:pic>
                    <p:nvPicPr>
                      <p:cNvPr id="53" name="Picture 52">
                        <a:extLst>
                          <a:ext uri="{FF2B5EF4-FFF2-40B4-BE49-F238E27FC236}">
                            <a16:creationId xmlns:a16="http://schemas.microsoft.com/office/drawing/2014/main" id="{698AE271-1FCF-9BB0-7764-101DC527BFA3}"/>
                          </a:ext>
                        </a:extLst>
                      </p:cNvPr>
                      <p:cNvPicPr>
                        <a:picLocks noChangeAspect="1"/>
                      </p:cNvPicPr>
                      <p:nvPr/>
                    </p:nvPicPr>
                    <p:blipFill>
                      <a:blip r:embed="rId5"/>
                      <a:stretch>
                        <a:fillRect/>
                      </a:stretch>
                    </p:blipFill>
                    <p:spPr>
                      <a:xfrm>
                        <a:off x="7069174" y="3687081"/>
                        <a:ext cx="265742" cy="345510"/>
                      </a:xfrm>
                      <a:prstGeom prst="rect">
                        <a:avLst/>
                      </a:prstGeom>
                    </p:spPr>
                  </p:pic>
                  <p:sp>
                    <p:nvSpPr>
                      <p:cNvPr id="54" name="Rectangle: Rounded Corners 53">
                        <a:extLst>
                          <a:ext uri="{FF2B5EF4-FFF2-40B4-BE49-F238E27FC236}">
                            <a16:creationId xmlns:a16="http://schemas.microsoft.com/office/drawing/2014/main" id="{3158BD96-F7DC-BDAE-9B63-B446627DD373}"/>
                          </a:ext>
                        </a:extLst>
                      </p:cNvPr>
                      <p:cNvSpPr/>
                      <p:nvPr/>
                    </p:nvSpPr>
                    <p:spPr>
                      <a:xfrm>
                        <a:off x="7361048" y="3646501"/>
                        <a:ext cx="1565868" cy="656476"/>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100" dirty="0">
                            <a:solidFill>
                              <a:schemeClr val="tx1"/>
                            </a:solidFill>
                          </a:rPr>
                          <a:t>Supply Risk</a:t>
                        </a:r>
                      </a:p>
                      <a:p>
                        <a:pPr marL="171450" indent="-171450">
                          <a:buFont typeface="Arial" panose="020B0604020202020204" pitchFamily="34" charset="0"/>
                          <a:buChar char="•"/>
                        </a:pPr>
                        <a:r>
                          <a:rPr lang="en-US" sz="1100" dirty="0">
                            <a:solidFill>
                              <a:schemeClr val="tx1"/>
                            </a:solidFill>
                          </a:rPr>
                          <a:t>Economic Importance</a:t>
                        </a:r>
                      </a:p>
                      <a:p>
                        <a:pPr marL="171450" indent="-171450">
                          <a:buFont typeface="Arial" panose="020B0604020202020204" pitchFamily="34" charset="0"/>
                          <a:buChar char="•"/>
                        </a:pPr>
                        <a:r>
                          <a:rPr lang="en-US" sz="1100" dirty="0">
                            <a:solidFill>
                              <a:schemeClr val="tx1"/>
                            </a:solidFill>
                          </a:rPr>
                          <a:t>HHI, SI, IR, EOL</a:t>
                        </a:r>
                        <a:r>
                          <a:rPr lang="en-US" sz="600" dirty="0">
                            <a:solidFill>
                              <a:schemeClr val="tx1"/>
                            </a:solidFill>
                          </a:rPr>
                          <a:t>RIR</a:t>
                        </a:r>
                        <a:endParaRPr lang="en-US" sz="1100" dirty="0">
                          <a:solidFill>
                            <a:schemeClr val="tx1"/>
                          </a:solidFill>
                        </a:endParaRPr>
                      </a:p>
                    </p:txBody>
                  </p:sp>
                </p:grpSp>
                <p:pic>
                  <p:nvPicPr>
                    <p:cNvPr id="50" name="Picture 49">
                      <a:extLst>
                        <a:ext uri="{FF2B5EF4-FFF2-40B4-BE49-F238E27FC236}">
                          <a16:creationId xmlns:a16="http://schemas.microsoft.com/office/drawing/2014/main" id="{715813B5-36D6-44D8-11C7-F407FABFDD5D}"/>
                        </a:ext>
                      </a:extLst>
                    </p:cNvPr>
                    <p:cNvPicPr>
                      <a:picLocks noChangeAspect="1"/>
                    </p:cNvPicPr>
                    <p:nvPr/>
                  </p:nvPicPr>
                  <p:blipFill>
                    <a:blip r:embed="rId8"/>
                    <a:stretch>
                      <a:fillRect/>
                    </a:stretch>
                  </p:blipFill>
                  <p:spPr>
                    <a:xfrm>
                      <a:off x="3060663" y="3316447"/>
                      <a:ext cx="260085" cy="260085"/>
                    </a:xfrm>
                    <a:prstGeom prst="rect">
                      <a:avLst/>
                    </a:prstGeom>
                  </p:spPr>
                </p:pic>
              </p:grpSp>
              <p:pic>
                <p:nvPicPr>
                  <p:cNvPr id="48" name="Picture 47" descr="A red triangle with a white exclamation mark on a yellow rectangular object&#10;&#10;Description automatically generated">
                    <a:extLst>
                      <a:ext uri="{FF2B5EF4-FFF2-40B4-BE49-F238E27FC236}">
                        <a16:creationId xmlns:a16="http://schemas.microsoft.com/office/drawing/2014/main" id="{0CDA6405-537A-66BC-9A66-681BC92BB89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97515" y="4032734"/>
                    <a:ext cx="278807" cy="278807"/>
                  </a:xfrm>
                  <a:prstGeom prst="rect">
                    <a:avLst/>
                  </a:prstGeom>
                </p:spPr>
              </p:pic>
            </p:grpSp>
          </p:grpSp>
          <p:pic>
            <p:nvPicPr>
              <p:cNvPr id="44" name="Picture 43">
                <a:extLst>
                  <a:ext uri="{FF2B5EF4-FFF2-40B4-BE49-F238E27FC236}">
                    <a16:creationId xmlns:a16="http://schemas.microsoft.com/office/drawing/2014/main" id="{82937291-98EE-AB90-ACD4-FB07FE89BCA9}"/>
                  </a:ext>
                </a:extLst>
              </p:cNvPr>
              <p:cNvPicPr>
                <a:picLocks noChangeAspect="1"/>
              </p:cNvPicPr>
              <p:nvPr/>
            </p:nvPicPr>
            <p:blipFill>
              <a:blip r:embed="rId2"/>
              <a:stretch>
                <a:fillRect/>
              </a:stretch>
            </p:blipFill>
            <p:spPr>
              <a:xfrm>
                <a:off x="3034935" y="3450242"/>
                <a:ext cx="293875" cy="284019"/>
              </a:xfrm>
              <a:prstGeom prst="rect">
                <a:avLst/>
              </a:prstGeom>
            </p:spPr>
          </p:pic>
        </p:grpSp>
      </p:grpSp>
    </p:spTree>
    <p:extLst>
      <p:ext uri="{BB962C8B-B14F-4D97-AF65-F5344CB8AC3E}">
        <p14:creationId xmlns:p14="http://schemas.microsoft.com/office/powerpoint/2010/main" val="28718265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36ABC1-8624-76DE-0350-69C86177147C}"/>
              </a:ext>
            </a:extLst>
          </p:cNvPr>
          <p:cNvSpPr>
            <a:spLocks noGrp="1"/>
          </p:cNvSpPr>
          <p:nvPr>
            <p:ph type="title"/>
          </p:nvPr>
        </p:nvSpPr>
        <p:spPr/>
        <p:txBody>
          <a:bodyPr/>
          <a:lstStyle/>
          <a:p>
            <a:r>
              <a:rPr lang="en-US" dirty="0"/>
              <a:t>Price elasticity of demand and supply - Index</a:t>
            </a:r>
          </a:p>
        </p:txBody>
      </p:sp>
      <p:sp>
        <p:nvSpPr>
          <p:cNvPr id="4" name="Content Placeholder 1">
            <a:extLst>
              <a:ext uri="{FF2B5EF4-FFF2-40B4-BE49-F238E27FC236}">
                <a16:creationId xmlns:a16="http://schemas.microsoft.com/office/drawing/2014/main" id="{811DB714-0181-5AB2-3951-A21C2B277D80}"/>
              </a:ext>
            </a:extLst>
          </p:cNvPr>
          <p:cNvSpPr>
            <a:spLocks noGrp="1"/>
          </p:cNvSpPr>
          <p:nvPr>
            <p:ph idx="13"/>
          </p:nvPr>
        </p:nvSpPr>
        <p:spPr>
          <a:xfrm>
            <a:off x="653846" y="1204547"/>
            <a:ext cx="10937789" cy="5064369"/>
          </a:xfrm>
        </p:spPr>
        <p:txBody>
          <a:bodyPr/>
          <a:lstStyle/>
          <a:p>
            <a:endParaRPr dirty="0"/>
          </a:p>
          <a:p>
            <a:r>
              <a:rPr dirty="0"/>
              <a:t>Context</a:t>
            </a:r>
          </a:p>
          <a:p>
            <a:r>
              <a:rPr dirty="0"/>
              <a:t>Conceptual foundations of elasticity analysis (PED/PES, horizons, substitution)</a:t>
            </a:r>
          </a:p>
          <a:p>
            <a:r>
              <a:rPr dirty="0"/>
              <a:t>Recent literature review (2017–2025) and data collection</a:t>
            </a:r>
          </a:p>
          <a:p>
            <a:r>
              <a:rPr dirty="0"/>
              <a:t>Key methodological outputs and elasticity results</a:t>
            </a:r>
          </a:p>
          <a:p>
            <a:r>
              <a:rPr lang="en-US" dirty="0"/>
              <a:t>Post-processing of elasticity database</a:t>
            </a:r>
          </a:p>
          <a:p>
            <a:r>
              <a:rPr dirty="0"/>
              <a:t>Application of elasticity results on TEMOA-stochastic framework</a:t>
            </a:r>
          </a:p>
          <a:p>
            <a:r>
              <a:rPr dirty="0"/>
              <a:t>Open issues &amp; next steps</a:t>
            </a:r>
          </a:p>
        </p:txBody>
      </p:sp>
    </p:spTree>
    <p:extLst>
      <p:ext uri="{BB962C8B-B14F-4D97-AF65-F5344CB8AC3E}">
        <p14:creationId xmlns:p14="http://schemas.microsoft.com/office/powerpoint/2010/main" val="15614282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lstStyle/>
          <a:p>
            <a:endParaRPr dirty="0"/>
          </a:p>
          <a:p>
            <a:r>
              <a:rPr dirty="0"/>
              <a:t>Goal: </a:t>
            </a:r>
            <a:r>
              <a:rPr dirty="0">
                <a:solidFill>
                  <a:schemeClr val="accent1"/>
                </a:solidFill>
              </a:rPr>
              <a:t>translate price shocks into quantity shocks </a:t>
            </a:r>
            <a:r>
              <a:rPr dirty="0"/>
              <a:t>compliant with TEMOA‑stochastic (</a:t>
            </a:r>
            <a:r>
              <a:rPr dirty="0" err="1"/>
              <a:t>TEMOA_Europe</a:t>
            </a:r>
            <a:r>
              <a:rPr dirty="0"/>
              <a:t> database).</a:t>
            </a:r>
          </a:p>
          <a:p>
            <a:r>
              <a:rPr dirty="0"/>
              <a:t>Medium: </a:t>
            </a:r>
            <a:r>
              <a:rPr dirty="0">
                <a:solidFill>
                  <a:schemeClr val="accent1"/>
                </a:solidFill>
              </a:rPr>
              <a:t>robust, recent</a:t>
            </a:r>
            <a:r>
              <a:rPr dirty="0"/>
              <a:t> estimates of demand (</a:t>
            </a:r>
            <a:r>
              <a:rPr b="1" dirty="0"/>
              <a:t>PED</a:t>
            </a:r>
            <a:r>
              <a:rPr dirty="0"/>
              <a:t>) and supply (</a:t>
            </a:r>
            <a:r>
              <a:rPr b="1" dirty="0"/>
              <a:t>PES</a:t>
            </a:r>
            <a:r>
              <a:rPr dirty="0"/>
              <a:t>) elasticities for key CRMs.</a:t>
            </a:r>
          </a:p>
          <a:p>
            <a:r>
              <a:rPr dirty="0"/>
              <a:t>Approach: combine comprehensive but dated database results (Dahl MEDS) with modern econometrics (</a:t>
            </a:r>
            <a:r>
              <a:rPr dirty="0" err="1"/>
              <a:t>Divisia</a:t>
            </a:r>
            <a:r>
              <a:rPr dirty="0"/>
              <a:t>, ECM, SVECM, GIV, mine‑level local projections).</a:t>
            </a:r>
          </a:p>
          <a:p>
            <a:r>
              <a:rPr dirty="0"/>
              <a:t>Results: </a:t>
            </a:r>
            <a:r>
              <a:rPr dirty="0">
                <a:solidFill>
                  <a:schemeClr val="accent1"/>
                </a:solidFill>
              </a:rPr>
              <a:t>Short run vs Long run elasticity ranges </a:t>
            </a:r>
            <a:r>
              <a:rPr dirty="0"/>
              <a:t>+ </a:t>
            </a:r>
            <a:r>
              <a:rPr dirty="0">
                <a:solidFill>
                  <a:schemeClr val="accent1"/>
                </a:solidFill>
              </a:rPr>
              <a:t>severity classes </a:t>
            </a:r>
            <a:r>
              <a:rPr dirty="0"/>
              <a:t>to parameterize scenario trees linked with different disruption scenarios coming from clustering analysis</a:t>
            </a:r>
          </a:p>
        </p:txBody>
      </p:sp>
      <p:sp>
        <p:nvSpPr>
          <p:cNvPr id="3" name="Title 2"/>
          <p:cNvSpPr>
            <a:spLocks noGrp="1"/>
          </p:cNvSpPr>
          <p:nvPr>
            <p:ph type="title"/>
          </p:nvPr>
        </p:nvSpPr>
        <p:spPr/>
        <p:txBody>
          <a:bodyPr/>
          <a:lstStyle/>
          <a:p>
            <a:r>
              <a:rPr lang="en-US" dirty="0"/>
              <a:t>Price elasticity of demand and supply - </a:t>
            </a:r>
            <a:r>
              <a:rPr lang="it-IT" dirty="0"/>
              <a:t>Roadmap</a:t>
            </a:r>
            <a:endParaRPr dirty="0"/>
          </a:p>
        </p:txBody>
      </p:sp>
      <p:pic>
        <p:nvPicPr>
          <p:cNvPr id="4" name="Picture 3">
            <a:extLst>
              <a:ext uri="{FF2B5EF4-FFF2-40B4-BE49-F238E27FC236}">
                <a16:creationId xmlns:a16="http://schemas.microsoft.com/office/drawing/2014/main" id="{B68D18CA-0E7E-A3DB-8EE7-F4A62B21A5EF}"/>
              </a:ext>
            </a:extLst>
          </p:cNvPr>
          <p:cNvPicPr>
            <a:picLocks noChangeAspect="1"/>
          </p:cNvPicPr>
          <p:nvPr/>
        </p:nvPicPr>
        <p:blipFill>
          <a:blip r:embed="rId2"/>
          <a:stretch>
            <a:fillRect/>
          </a:stretch>
        </p:blipFill>
        <p:spPr>
          <a:xfrm>
            <a:off x="11156512" y="682233"/>
            <a:ext cx="381645" cy="413896"/>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Price elasticity of demand and supply - </a:t>
            </a:r>
            <a:r>
              <a:rPr lang="it-IT" dirty="0"/>
              <a:t>Sources</a:t>
            </a:r>
            <a:endParaRPr dirty="0"/>
          </a:p>
        </p:txBody>
      </p:sp>
      <p:sp>
        <p:nvSpPr>
          <p:cNvPr id="4" name="Subtitle 2"/>
          <p:cNvSpPr>
            <a:spLocks noGrp="1"/>
          </p:cNvSpPr>
          <p:nvPr>
            <p:ph idx="13"/>
          </p:nvPr>
        </p:nvSpPr>
        <p:spPr>
          <a:xfrm>
            <a:off x="654050" y="1204913"/>
            <a:ext cx="10883900" cy="5064125"/>
          </a:xfrm>
        </p:spPr>
        <p:txBody>
          <a:bodyPr wrap="square">
            <a:noAutofit/>
          </a:bodyPr>
          <a:lstStyle/>
          <a:p>
            <a:pPr>
              <a:lnSpc>
                <a:spcPct val="105000"/>
              </a:lnSpc>
              <a:spcAft>
                <a:spcPts val="600"/>
              </a:spcAft>
            </a:pPr>
            <a:r>
              <a:rPr sz="1700" dirty="0"/>
              <a:t>Sullivan, L. R., Moore, E. A., Ho, P., Wang, A. A., </a:t>
            </a:r>
            <a:r>
              <a:rPr sz="1700" dirty="0" err="1"/>
              <a:t>Tangog</a:t>
            </a:r>
            <a:r>
              <a:rPr sz="1700" dirty="0"/>
              <a:t>, G. M., </a:t>
            </a:r>
            <a:r>
              <a:rPr sz="1700" dirty="0" err="1"/>
              <a:t>Bhuwalka</a:t>
            </a:r>
            <a:r>
              <a:rPr sz="1700" dirty="0"/>
              <a:t>, K., Olivetti, E., &amp; Roth, R. (2025). Analysis of the impact of automaker strategies on lithium price elasticity using a novel bottom-up demand model (Working paper). Materials Systems Laboratory, MIT. https://phuongmho.github.io/LiDemand.pdf</a:t>
            </a:r>
          </a:p>
          <a:p>
            <a:pPr>
              <a:lnSpc>
                <a:spcPct val="105000"/>
              </a:lnSpc>
              <a:spcAft>
                <a:spcPts val="600"/>
              </a:spcAft>
            </a:pPr>
            <a:r>
              <a:rPr sz="1700" dirty="0"/>
              <a:t>Tilton, J. E. (1984). Economics of metal markets (IIASA Working Paper WP-84-034). International Institute for Applied Systems Analysis. http://pure.iiasa.ac.at/id/eprint/2484/</a:t>
            </a:r>
          </a:p>
          <a:p>
            <a:pPr>
              <a:lnSpc>
                <a:spcPct val="105000"/>
              </a:lnSpc>
              <a:spcAft>
                <a:spcPts val="600"/>
              </a:spcAft>
            </a:pPr>
            <a:r>
              <a:rPr sz="1700" dirty="0" err="1"/>
              <a:t>Atakhanova</a:t>
            </a:r>
            <a:r>
              <a:rPr sz="1700" dirty="0"/>
              <a:t>, Z., Howie, P., </a:t>
            </a:r>
            <a:r>
              <a:rPr sz="1700" dirty="0" err="1"/>
              <a:t>Madani</a:t>
            </a:r>
            <a:r>
              <a:rPr sz="1700" dirty="0"/>
              <a:t>, N., &amp; </a:t>
            </a:r>
            <a:r>
              <a:rPr sz="1700" dirty="0" err="1"/>
              <a:t>Azhibay</a:t>
            </a:r>
            <a:r>
              <a:rPr sz="1700" dirty="0"/>
              <a:t>, S. (2025, May 28). Productive capacities and exports of critical minerals: The case of copper. Mineral Economics. https://doi.org/10.1007/s13563-025-00521-x</a:t>
            </a:r>
          </a:p>
          <a:p>
            <a:pPr>
              <a:lnSpc>
                <a:spcPct val="105000"/>
              </a:lnSpc>
              <a:spcAft>
                <a:spcPts val="600"/>
              </a:spcAft>
            </a:pPr>
            <a:r>
              <a:rPr sz="1700" dirty="0" err="1"/>
              <a:t>Shojaeddini</a:t>
            </a:r>
            <a:r>
              <a:rPr sz="1700" dirty="0"/>
              <a:t>, E., Alonso, E., &amp; Nassar, N. T. (2024). Estimating price elasticity of demand for mineral commodities used in lithium-ion batteries in the face of surging demand. Resources, Conservation and Recycling, 107664. https://doi.org/10.1016/j.resconrec.2024.107664</a:t>
            </a:r>
          </a:p>
          <a:p>
            <a:pPr>
              <a:lnSpc>
                <a:spcPct val="105000"/>
              </a:lnSpc>
              <a:spcAft>
                <a:spcPts val="600"/>
              </a:spcAft>
            </a:pPr>
            <a:r>
              <a:rPr sz="1700" dirty="0"/>
              <a:t>Severson, M. H., Nguyen, R. T., Ormerod, J., &amp; Williams, S. (2023). An integrated supply chain analysis for cobalt and rare earth elements under global electrification and constrained resources. Resources, Conservation and Recycling, 189, 106761. https://doi.org/10.1016/j.resconrec.2022.106761</a:t>
            </a:r>
          </a:p>
        </p:txBody>
      </p:sp>
      <p:sp>
        <p:nvSpPr>
          <p:cNvPr id="5" name="Subtitle 2"/>
          <p:cNvSpPr txBox="1">
            <a:spLocks/>
          </p:cNvSpPr>
          <p:nvPr/>
        </p:nvSpPr>
        <p:spPr>
          <a:xfrm>
            <a:off x="1237672" y="6269038"/>
            <a:ext cx="9144000" cy="1547530"/>
          </a:xfrm>
          <a:prstGeom prst="rect">
            <a:avLst/>
          </a:prstGeom>
        </p:spPr>
        <p:txBody>
          <a:bodyPr wrap="square">
            <a:noAutofit/>
          </a:bodyPr>
          <a:lst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5000"/>
              </a:lnSpc>
              <a:spcAft>
                <a:spcPts val="600"/>
              </a:spcAft>
            </a:pPr>
            <a:endParaRPr lang="it-IT" sz="1000" dirty="0"/>
          </a:p>
        </p:txBody>
      </p:sp>
      <p:pic>
        <p:nvPicPr>
          <p:cNvPr id="2" name="Picture 1">
            <a:extLst>
              <a:ext uri="{FF2B5EF4-FFF2-40B4-BE49-F238E27FC236}">
                <a16:creationId xmlns:a16="http://schemas.microsoft.com/office/drawing/2014/main" id="{C32BE79D-60E1-47D9-F70C-20B15366E2E2}"/>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20644628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Price elasticity of demand and supply - </a:t>
            </a:r>
            <a:r>
              <a:rPr lang="it-IT" dirty="0"/>
              <a:t>Sources</a:t>
            </a:r>
            <a:endParaRPr dirty="0"/>
          </a:p>
        </p:txBody>
      </p:sp>
      <p:sp>
        <p:nvSpPr>
          <p:cNvPr id="5" name="Subtitle 2"/>
          <p:cNvSpPr txBox="1">
            <a:spLocks/>
          </p:cNvSpPr>
          <p:nvPr/>
        </p:nvSpPr>
        <p:spPr>
          <a:xfrm>
            <a:off x="1237672" y="6269038"/>
            <a:ext cx="9144000" cy="1547530"/>
          </a:xfrm>
          <a:prstGeom prst="rect">
            <a:avLst/>
          </a:prstGeom>
        </p:spPr>
        <p:txBody>
          <a:bodyPr wrap="square">
            <a:noAutofit/>
          </a:bodyPr>
          <a:lst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5000"/>
              </a:lnSpc>
              <a:spcAft>
                <a:spcPts val="600"/>
              </a:spcAft>
            </a:pPr>
            <a:endParaRPr lang="it-IT" sz="1000" dirty="0"/>
          </a:p>
        </p:txBody>
      </p:sp>
      <p:sp>
        <p:nvSpPr>
          <p:cNvPr id="6" name="Content Placeholder 5">
            <a:extLst>
              <a:ext uri="{FF2B5EF4-FFF2-40B4-BE49-F238E27FC236}">
                <a16:creationId xmlns:a16="http://schemas.microsoft.com/office/drawing/2014/main" id="{CD12A8F9-90C1-3975-C1D7-456B81B8C1DB}"/>
              </a:ext>
            </a:extLst>
          </p:cNvPr>
          <p:cNvSpPr>
            <a:spLocks noGrp="1"/>
          </p:cNvSpPr>
          <p:nvPr>
            <p:ph idx="13"/>
          </p:nvPr>
        </p:nvSpPr>
        <p:spPr/>
        <p:txBody>
          <a:bodyPr>
            <a:normAutofit fontScale="70000" lnSpcReduction="20000"/>
          </a:bodyPr>
          <a:lstStyle/>
          <a:p>
            <a:pPr>
              <a:lnSpc>
                <a:spcPct val="105000"/>
              </a:lnSpc>
              <a:spcAft>
                <a:spcPts val="600"/>
              </a:spcAft>
            </a:pPr>
            <a:r>
              <a:rPr lang="it-IT" sz="2400" dirty="0" err="1"/>
              <a:t>Bogmans</a:t>
            </a:r>
            <a:r>
              <a:rPr lang="it-IT" sz="2400" dirty="0"/>
              <a:t>, C., Pescatori, A., Petrella, I., Prifti, E., &amp; </a:t>
            </a:r>
            <a:r>
              <a:rPr lang="it-IT" sz="2400" dirty="0" err="1"/>
              <a:t>Stuermer</a:t>
            </a:r>
            <a:r>
              <a:rPr lang="it-IT" sz="2400" dirty="0"/>
              <a:t>, M. (2024). The power of prices: How fast do commodity markets </a:t>
            </a:r>
            <a:r>
              <a:rPr lang="it-IT" sz="2400" dirty="0" err="1"/>
              <a:t>adjust</a:t>
            </a:r>
            <a:r>
              <a:rPr lang="it-IT" sz="2400" dirty="0"/>
              <a:t> to shocks? IMF Working Paper 2024/077. </a:t>
            </a:r>
            <a:r>
              <a:rPr lang="it-IT" sz="2400" dirty="0">
                <a:hlinkClick r:id="rId2"/>
              </a:rPr>
              <a:t>https://doi.org/10.5089/9798400271953.001</a:t>
            </a:r>
            <a:endParaRPr lang="it-IT" sz="2400" dirty="0"/>
          </a:p>
          <a:p>
            <a:pPr>
              <a:lnSpc>
                <a:spcPct val="105000"/>
              </a:lnSpc>
              <a:spcAft>
                <a:spcPts val="600"/>
              </a:spcAft>
            </a:pPr>
            <a:r>
              <a:rPr lang="it-IT" sz="2400" dirty="0" err="1"/>
              <a:t>Stuermer</a:t>
            </a:r>
            <a:r>
              <a:rPr lang="it-IT" sz="2400" dirty="0"/>
              <a:t>, M. (2017). </a:t>
            </a:r>
            <a:r>
              <a:rPr lang="it-IT" sz="2400" dirty="0" err="1"/>
              <a:t>Industrialization</a:t>
            </a:r>
            <a:r>
              <a:rPr lang="it-IT" sz="2400" dirty="0"/>
              <a:t> and the demand for </a:t>
            </a:r>
            <a:r>
              <a:rPr lang="it-IT" sz="2400" dirty="0" err="1"/>
              <a:t>mineral</a:t>
            </a:r>
            <a:r>
              <a:rPr lang="it-IT" sz="2400" dirty="0"/>
              <a:t> commodities. Journal of International Money and Finance, 76, 16–27. https://doi.org/10.1016/j.jimonfin.2017.04.006</a:t>
            </a:r>
          </a:p>
          <a:p>
            <a:pPr>
              <a:lnSpc>
                <a:spcPct val="105000"/>
              </a:lnSpc>
              <a:spcAft>
                <a:spcPts val="600"/>
              </a:spcAft>
            </a:pPr>
            <a:r>
              <a:rPr lang="it-IT" sz="2400" dirty="0"/>
              <a:t>Evans, M., &amp; Lewis, A. C. (2003). </a:t>
            </a:r>
            <a:r>
              <a:rPr lang="it-IT" sz="2400" dirty="0" err="1"/>
              <a:t>Is</a:t>
            </a:r>
            <a:r>
              <a:rPr lang="it-IT" sz="2400" dirty="0"/>
              <a:t> </a:t>
            </a:r>
            <a:r>
              <a:rPr lang="it-IT" sz="2400" dirty="0" err="1"/>
              <a:t>there</a:t>
            </a:r>
            <a:r>
              <a:rPr lang="it-IT" sz="2400" dirty="0"/>
              <a:t> a common metals demand curve? </a:t>
            </a:r>
            <a:r>
              <a:rPr lang="it-IT" sz="2400" dirty="0" err="1"/>
              <a:t>Resources</a:t>
            </a:r>
            <a:r>
              <a:rPr lang="it-IT" sz="2400" dirty="0"/>
              <a:t> Policy, 28(3–4), 95–104.</a:t>
            </a:r>
          </a:p>
          <a:p>
            <a:pPr>
              <a:lnSpc>
                <a:spcPct val="105000"/>
              </a:lnSpc>
              <a:spcAft>
                <a:spcPts val="600"/>
              </a:spcAft>
            </a:pPr>
            <a:r>
              <a:rPr lang="it-IT" sz="2400" dirty="0" err="1"/>
              <a:t>Shojaeinia</a:t>
            </a:r>
            <a:r>
              <a:rPr lang="it-IT" sz="2400" dirty="0"/>
              <a:t>, S. (2023). Metal market </a:t>
            </a:r>
            <a:r>
              <a:rPr lang="it-IT" sz="2400" dirty="0" err="1"/>
              <a:t>analysis</a:t>
            </a:r>
            <a:r>
              <a:rPr lang="it-IT" sz="2400" dirty="0"/>
              <a:t>: An </a:t>
            </a:r>
            <a:r>
              <a:rPr lang="it-IT" sz="2400" dirty="0" err="1"/>
              <a:t>empirical</a:t>
            </a:r>
            <a:r>
              <a:rPr lang="it-IT" sz="2400" dirty="0"/>
              <a:t> model for </a:t>
            </a:r>
            <a:r>
              <a:rPr lang="it-IT" sz="2400" dirty="0" err="1"/>
              <a:t>copper</a:t>
            </a:r>
            <a:r>
              <a:rPr lang="it-IT" sz="2400" dirty="0"/>
              <a:t> supply and demand in US market. </a:t>
            </a:r>
            <a:r>
              <a:rPr lang="it-IT" sz="2400" dirty="0" err="1"/>
              <a:t>Mineral</a:t>
            </a:r>
            <a:r>
              <a:rPr lang="it-IT" sz="2400" dirty="0"/>
              <a:t> </a:t>
            </a:r>
            <a:r>
              <a:rPr lang="it-IT" sz="2400" dirty="0" err="1"/>
              <a:t>Economics</a:t>
            </a:r>
            <a:r>
              <a:rPr lang="it-IT" sz="2400" dirty="0"/>
              <a:t>, 36(3), 509–517. https://doi.org/10.1007/s13563-023-00371-5</a:t>
            </a:r>
          </a:p>
          <a:p>
            <a:pPr>
              <a:lnSpc>
                <a:spcPct val="105000"/>
              </a:lnSpc>
              <a:spcAft>
                <a:spcPts val="600"/>
              </a:spcAft>
            </a:pPr>
            <a:r>
              <a:rPr lang="it-IT" sz="2400" dirty="0" err="1"/>
              <a:t>Ryter</a:t>
            </a:r>
            <a:r>
              <a:rPr lang="it-IT" sz="2400" dirty="0"/>
              <a:t>, J., </a:t>
            </a:r>
            <a:r>
              <a:rPr lang="it-IT" sz="2400" dirty="0" err="1"/>
              <a:t>Bhuwalka</a:t>
            </a:r>
            <a:r>
              <a:rPr lang="it-IT" sz="2400" dirty="0"/>
              <a:t>, K., Roth, R., Olivetti, E., Buarque-Andrade, L., </a:t>
            </a:r>
            <a:r>
              <a:rPr lang="it-IT" sz="2400" dirty="0" err="1"/>
              <a:t>Frenzel</a:t>
            </a:r>
            <a:r>
              <a:rPr lang="it-IT" sz="2400" dirty="0"/>
              <a:t>, M., </a:t>
            </a:r>
            <a:r>
              <a:rPr lang="it-IT" sz="2400" dirty="0" err="1"/>
              <a:t>Shojaeddini</a:t>
            </a:r>
            <a:r>
              <a:rPr lang="it-IT" sz="2400" dirty="0"/>
              <a:t>, E., Alonso, E., &amp; Nassar, N. (2025). </a:t>
            </a:r>
            <a:r>
              <a:rPr lang="it-IT" sz="2400" dirty="0" err="1"/>
              <a:t>Modeling</a:t>
            </a:r>
            <a:r>
              <a:rPr lang="it-IT" sz="2400" dirty="0"/>
              <a:t> </a:t>
            </a:r>
            <a:r>
              <a:rPr lang="it-IT" sz="2400" dirty="0" err="1"/>
              <a:t>interconnected</a:t>
            </a:r>
            <a:r>
              <a:rPr lang="it-IT" sz="2400" dirty="0"/>
              <a:t> </a:t>
            </a:r>
            <a:r>
              <a:rPr lang="it-IT" sz="2400" dirty="0" err="1"/>
              <a:t>minerals</a:t>
            </a:r>
            <a:r>
              <a:rPr lang="it-IT" sz="2400" dirty="0"/>
              <a:t> markets with </a:t>
            </a:r>
            <a:r>
              <a:rPr lang="it-IT" sz="2400" dirty="0" err="1"/>
              <a:t>multicommodity</a:t>
            </a:r>
            <a:r>
              <a:rPr lang="it-IT" sz="2400" dirty="0"/>
              <a:t> supply </a:t>
            </a:r>
            <a:r>
              <a:rPr lang="it-IT" sz="2400" dirty="0" err="1"/>
              <a:t>curves</a:t>
            </a:r>
            <a:r>
              <a:rPr lang="it-IT" sz="2400" dirty="0"/>
              <a:t>: </a:t>
            </a:r>
            <a:r>
              <a:rPr lang="it-IT" sz="2400" dirty="0" err="1"/>
              <a:t>Examining</a:t>
            </a:r>
            <a:r>
              <a:rPr lang="it-IT" sz="2400" dirty="0"/>
              <a:t> the </a:t>
            </a:r>
            <a:r>
              <a:rPr lang="it-IT" sz="2400" dirty="0" err="1"/>
              <a:t>copper</a:t>
            </a:r>
            <a:r>
              <a:rPr lang="it-IT" sz="2400" dirty="0"/>
              <a:t>–</a:t>
            </a:r>
            <a:r>
              <a:rPr lang="it-IT" sz="2400" dirty="0" err="1"/>
              <a:t>cobalt</a:t>
            </a:r>
            <a:r>
              <a:rPr lang="it-IT" sz="2400" dirty="0"/>
              <a:t>–nickel system. Nature Communications, 16, 7302. https://doi.org/10.1038/s41467-025-62570-8</a:t>
            </a:r>
          </a:p>
          <a:p>
            <a:pPr>
              <a:lnSpc>
                <a:spcPct val="105000"/>
              </a:lnSpc>
              <a:spcAft>
                <a:spcPts val="600"/>
              </a:spcAft>
            </a:pPr>
            <a:r>
              <a:rPr lang="it-IT" sz="2400" dirty="0"/>
              <a:t>Fernández, V. (2018). Price and </a:t>
            </a:r>
            <a:r>
              <a:rPr lang="it-IT" sz="2400" dirty="0" err="1"/>
              <a:t>income</a:t>
            </a:r>
            <a:r>
              <a:rPr lang="it-IT" sz="2400" dirty="0"/>
              <a:t> </a:t>
            </a:r>
            <a:r>
              <a:rPr lang="it-IT" sz="2400" dirty="0" err="1"/>
              <a:t>elasticity</a:t>
            </a:r>
            <a:r>
              <a:rPr lang="it-IT" sz="2400" dirty="0"/>
              <a:t> of demand for </a:t>
            </a:r>
            <a:r>
              <a:rPr lang="it-IT" sz="2400" dirty="0" err="1"/>
              <a:t>mineral</a:t>
            </a:r>
            <a:r>
              <a:rPr lang="it-IT" sz="2400" dirty="0"/>
              <a:t> commodities. </a:t>
            </a:r>
            <a:r>
              <a:rPr lang="it-IT" sz="2400" dirty="0" err="1"/>
              <a:t>Resources</a:t>
            </a:r>
            <a:r>
              <a:rPr lang="it-IT" sz="2400" dirty="0"/>
              <a:t> Policy, 59, 160–183. https://doi.org/10.1016/j.resourpol.2018.06.013</a:t>
            </a:r>
          </a:p>
          <a:p>
            <a:pPr>
              <a:lnSpc>
                <a:spcPct val="105000"/>
              </a:lnSpc>
              <a:spcAft>
                <a:spcPts val="600"/>
              </a:spcAft>
            </a:pPr>
            <a:r>
              <a:rPr lang="it-IT" sz="2400" dirty="0" err="1"/>
              <a:t>Cuddington</a:t>
            </a:r>
            <a:r>
              <a:rPr lang="it-IT" sz="2400" dirty="0"/>
              <a:t>, J. T., &amp; </a:t>
            </a:r>
            <a:r>
              <a:rPr lang="it-IT" sz="2400" dirty="0" err="1"/>
              <a:t>Jerrett</a:t>
            </a:r>
            <a:r>
              <a:rPr lang="it-IT" sz="2400" dirty="0"/>
              <a:t>, D. (2008). Super </a:t>
            </a:r>
            <a:r>
              <a:rPr lang="it-IT" sz="2400" dirty="0" err="1"/>
              <a:t>cycles</a:t>
            </a:r>
            <a:r>
              <a:rPr lang="it-IT" sz="2400" dirty="0"/>
              <a:t> in </a:t>
            </a:r>
            <a:r>
              <a:rPr lang="it-IT" sz="2400" dirty="0" err="1"/>
              <a:t>real</a:t>
            </a:r>
            <a:r>
              <a:rPr lang="it-IT" sz="2400" dirty="0"/>
              <a:t> metals prices? IMF </a:t>
            </a:r>
            <a:r>
              <a:rPr lang="it-IT" sz="2400" dirty="0" err="1"/>
              <a:t>Economic</a:t>
            </a:r>
            <a:r>
              <a:rPr lang="it-IT" sz="2400" dirty="0"/>
              <a:t> Review. https://doi.org/10.1057/imfsp.2008.19</a:t>
            </a:r>
          </a:p>
          <a:p>
            <a:endParaRPr lang="en-US" dirty="0"/>
          </a:p>
        </p:txBody>
      </p:sp>
      <p:sp>
        <p:nvSpPr>
          <p:cNvPr id="7" name="Subtitle 2"/>
          <p:cNvSpPr txBox="1">
            <a:spLocks/>
          </p:cNvSpPr>
          <p:nvPr/>
        </p:nvSpPr>
        <p:spPr>
          <a:xfrm>
            <a:off x="822037" y="2344548"/>
            <a:ext cx="9144000" cy="1547530"/>
          </a:xfrm>
          <a:prstGeom prst="rect">
            <a:avLst/>
          </a:prstGeom>
        </p:spPr>
        <p:txBody>
          <a:bodyPr wrap="square">
            <a:noAutofit/>
          </a:bodyPr>
          <a:lst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5000"/>
              </a:lnSpc>
              <a:spcAft>
                <a:spcPts val="600"/>
              </a:spcAft>
            </a:pPr>
            <a:endParaRPr lang="en-US" sz="1000" dirty="0"/>
          </a:p>
        </p:txBody>
      </p:sp>
      <p:pic>
        <p:nvPicPr>
          <p:cNvPr id="2" name="Picture 1">
            <a:extLst>
              <a:ext uri="{FF2B5EF4-FFF2-40B4-BE49-F238E27FC236}">
                <a16:creationId xmlns:a16="http://schemas.microsoft.com/office/drawing/2014/main" id="{30883E1A-2D23-6118-7B81-9350B28BD306}"/>
              </a:ext>
            </a:extLst>
          </p:cNvPr>
          <p:cNvPicPr>
            <a:picLocks noChangeAspect="1"/>
          </p:cNvPicPr>
          <p:nvPr/>
        </p:nvPicPr>
        <p:blipFill>
          <a:blip r:embed="rId3"/>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4959479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Price elasticity of demand and supply - </a:t>
            </a:r>
            <a:r>
              <a:rPr lang="it-IT" dirty="0"/>
              <a:t>Sources</a:t>
            </a:r>
            <a:endParaRPr dirty="0"/>
          </a:p>
        </p:txBody>
      </p:sp>
      <p:sp>
        <p:nvSpPr>
          <p:cNvPr id="5" name="Subtitle 2"/>
          <p:cNvSpPr txBox="1">
            <a:spLocks/>
          </p:cNvSpPr>
          <p:nvPr/>
        </p:nvSpPr>
        <p:spPr>
          <a:xfrm>
            <a:off x="1237672" y="6269038"/>
            <a:ext cx="9144000" cy="1547530"/>
          </a:xfrm>
          <a:prstGeom prst="rect">
            <a:avLst/>
          </a:prstGeom>
        </p:spPr>
        <p:txBody>
          <a:bodyPr wrap="square">
            <a:noAutofit/>
          </a:bodyPr>
          <a:lst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5000"/>
              </a:lnSpc>
              <a:spcAft>
                <a:spcPts val="600"/>
              </a:spcAft>
            </a:pPr>
            <a:endParaRPr lang="it-IT" sz="1000" dirty="0"/>
          </a:p>
        </p:txBody>
      </p:sp>
      <p:sp>
        <p:nvSpPr>
          <p:cNvPr id="6" name="Content Placeholder 5">
            <a:extLst>
              <a:ext uri="{FF2B5EF4-FFF2-40B4-BE49-F238E27FC236}">
                <a16:creationId xmlns:a16="http://schemas.microsoft.com/office/drawing/2014/main" id="{CD12A8F9-90C1-3975-C1D7-456B81B8C1DB}"/>
              </a:ext>
            </a:extLst>
          </p:cNvPr>
          <p:cNvSpPr>
            <a:spLocks noGrp="1"/>
          </p:cNvSpPr>
          <p:nvPr>
            <p:ph idx="13"/>
          </p:nvPr>
        </p:nvSpPr>
        <p:spPr/>
        <p:txBody>
          <a:bodyPr>
            <a:normAutofit fontScale="92500" lnSpcReduction="10000"/>
          </a:bodyPr>
          <a:lstStyle/>
          <a:p>
            <a:pPr>
              <a:lnSpc>
                <a:spcPct val="105000"/>
              </a:lnSpc>
              <a:spcAft>
                <a:spcPts val="600"/>
              </a:spcAft>
            </a:pPr>
            <a:r>
              <a:rPr lang="en-US" sz="1800" dirty="0" err="1"/>
              <a:t>Vertier</a:t>
            </a:r>
            <a:r>
              <a:rPr lang="en-US" sz="1800" dirty="0"/>
              <a:t>, P., </a:t>
            </a:r>
            <a:r>
              <a:rPr lang="en-US" sz="1800" dirty="0" err="1"/>
              <a:t>Jacolin</a:t>
            </a:r>
            <a:r>
              <a:rPr lang="en-US" sz="1800" dirty="0"/>
              <a:t>, L., Mien, E., &amp; Léon, F. (2025). Critical minerals: Estimating price elasticity of supply using mine-level data (Working Paper No. 1002). Banque de France. https://www.banque-france.fr/en/publications-and-statistics/publications/critical-minerals-estimating-price-elasticity-supply-using-mine-level-data</a:t>
            </a:r>
          </a:p>
          <a:p>
            <a:pPr>
              <a:lnSpc>
                <a:spcPct val="105000"/>
              </a:lnSpc>
              <a:spcAft>
                <a:spcPts val="600"/>
              </a:spcAft>
            </a:pPr>
            <a:r>
              <a:rPr lang="en-US" sz="1800" dirty="0"/>
              <a:t>Dahl, C. A. (2020). Dahl Mineral Elasticity of Demand and Supply Database (MEDS) (Working Paper 2020-02). Colorado School of Mines. http://econbus-papers.mines.edu/working-papers/wp202002_v2.pdf</a:t>
            </a:r>
          </a:p>
          <a:p>
            <a:pPr>
              <a:lnSpc>
                <a:spcPct val="105000"/>
              </a:lnSpc>
              <a:spcAft>
                <a:spcPts val="600"/>
              </a:spcAft>
            </a:pPr>
            <a:r>
              <a:rPr lang="en-US" sz="1800" dirty="0" err="1"/>
              <a:t>Baffes</a:t>
            </a:r>
            <a:r>
              <a:rPr lang="en-US" sz="1800" dirty="0"/>
              <a:t>, J., </a:t>
            </a:r>
            <a:r>
              <a:rPr lang="en-US" sz="1800" dirty="0" err="1"/>
              <a:t>Kabundi</a:t>
            </a:r>
            <a:r>
              <a:rPr lang="en-US" sz="1800" dirty="0"/>
              <a:t>, A., &amp; Nagle, P. (2022). The role of income and substitution in commodity demand. Oxford Economic Papers, 74(2), 498–522. https://doi.org/10.1093/oep/gpab029</a:t>
            </a:r>
          </a:p>
          <a:p>
            <a:pPr>
              <a:lnSpc>
                <a:spcPct val="105000"/>
              </a:lnSpc>
              <a:spcAft>
                <a:spcPts val="600"/>
              </a:spcAft>
            </a:pPr>
            <a:r>
              <a:rPr lang="en-US" sz="1800" dirty="0" err="1"/>
              <a:t>Fally</a:t>
            </a:r>
            <a:r>
              <a:rPr lang="en-US" sz="1800" dirty="0"/>
              <a:t>, T., &amp; Sayre, J. (2018). Commodity trade matters (NBER Working Paper No. 24965). National Bureau of Economic Research. </a:t>
            </a:r>
            <a:r>
              <a:rPr lang="en-US" sz="1800" dirty="0">
                <a:hlinkClick r:id="rId2"/>
              </a:rPr>
              <a:t>https://doi.org/10.3386/w24965</a:t>
            </a:r>
            <a:endParaRPr lang="en-US" sz="1800" dirty="0"/>
          </a:p>
          <a:p>
            <a:pPr>
              <a:lnSpc>
                <a:spcPct val="105000"/>
              </a:lnSpc>
              <a:spcAft>
                <a:spcPts val="600"/>
              </a:spcAft>
            </a:pPr>
            <a:r>
              <a:rPr lang="it-IT" sz="1800" b="0" i="0" dirty="0" err="1">
                <a:solidFill>
                  <a:srgbClr val="1C1D1E"/>
                </a:solidFill>
                <a:effectLst/>
                <a:latin typeface="Open Sans" panose="020F0502020204030204" pitchFamily="34" charset="0"/>
              </a:rPr>
              <a:t>Ryter</a:t>
            </a:r>
            <a:r>
              <a:rPr lang="it-IT" sz="1800" b="0" i="0" dirty="0">
                <a:solidFill>
                  <a:srgbClr val="1C1D1E"/>
                </a:solidFill>
                <a:effectLst/>
                <a:latin typeface="Open Sans" panose="020F0502020204030204" pitchFamily="34" charset="0"/>
              </a:rPr>
              <a:t>, J., </a:t>
            </a:r>
            <a:r>
              <a:rPr lang="it-IT" sz="1800" b="0" i="0" dirty="0" err="1">
                <a:solidFill>
                  <a:srgbClr val="1C1D1E"/>
                </a:solidFill>
                <a:effectLst/>
                <a:latin typeface="Open Sans" panose="020F0502020204030204" pitchFamily="34" charset="0"/>
              </a:rPr>
              <a:t>Bhuwalka</a:t>
            </a:r>
            <a:r>
              <a:rPr lang="it-IT" sz="1800" b="0" i="0" dirty="0">
                <a:solidFill>
                  <a:srgbClr val="1C1D1E"/>
                </a:solidFill>
                <a:effectLst/>
                <a:latin typeface="Open Sans" panose="020F0502020204030204" pitchFamily="34" charset="0"/>
              </a:rPr>
              <a:t>, K., </a:t>
            </a:r>
            <a:r>
              <a:rPr lang="it-IT" sz="1800" b="0" i="0" dirty="0" err="1">
                <a:solidFill>
                  <a:srgbClr val="1C1D1E"/>
                </a:solidFill>
                <a:effectLst/>
                <a:latin typeface="Open Sans" panose="020F0502020204030204" pitchFamily="34" charset="0"/>
              </a:rPr>
              <a:t>O'Rourke</a:t>
            </a:r>
            <a:r>
              <a:rPr lang="it-IT" sz="1800" b="0" i="0" dirty="0">
                <a:solidFill>
                  <a:srgbClr val="1C1D1E"/>
                </a:solidFill>
                <a:effectLst/>
                <a:latin typeface="Open Sans" panose="020F0502020204030204" pitchFamily="34" charset="0"/>
              </a:rPr>
              <a:t>, M., Montanelli, L., Cohen-</a:t>
            </a:r>
            <a:r>
              <a:rPr lang="it-IT" sz="1800" b="0" i="0" dirty="0" err="1">
                <a:solidFill>
                  <a:srgbClr val="1C1D1E"/>
                </a:solidFill>
                <a:effectLst/>
                <a:latin typeface="Open Sans" panose="020F0502020204030204" pitchFamily="34" charset="0"/>
              </a:rPr>
              <a:t>Tanugi</a:t>
            </a:r>
            <a:r>
              <a:rPr lang="it-IT" sz="1800" b="0" i="0" dirty="0">
                <a:solidFill>
                  <a:srgbClr val="1C1D1E"/>
                </a:solidFill>
                <a:effectLst/>
                <a:latin typeface="Open Sans" panose="020F0502020204030204" pitchFamily="34" charset="0"/>
              </a:rPr>
              <a:t>, D., Roth, R., &amp; Olivetti, E. (2024). </a:t>
            </a:r>
            <a:r>
              <a:rPr lang="it-IT" sz="1800" b="0" i="0" dirty="0" err="1">
                <a:solidFill>
                  <a:srgbClr val="1C1D1E"/>
                </a:solidFill>
                <a:effectLst/>
                <a:latin typeface="Open Sans" panose="020F0502020204030204" pitchFamily="34" charset="0"/>
              </a:rPr>
              <a:t>Understanding</a:t>
            </a:r>
            <a:r>
              <a:rPr lang="it-IT" sz="1800" b="0" i="0" dirty="0">
                <a:solidFill>
                  <a:srgbClr val="1C1D1E"/>
                </a:solidFill>
                <a:effectLst/>
                <a:latin typeface="Open Sans" panose="020F0502020204030204" pitchFamily="34" charset="0"/>
              </a:rPr>
              <a:t> key </a:t>
            </a:r>
            <a:r>
              <a:rPr lang="it-IT" sz="1800" b="0" i="0" dirty="0" err="1">
                <a:solidFill>
                  <a:srgbClr val="1C1D1E"/>
                </a:solidFill>
                <a:effectLst/>
                <a:latin typeface="Open Sans" panose="020F0502020204030204" pitchFamily="34" charset="0"/>
              </a:rPr>
              <a:t>mineral</a:t>
            </a:r>
            <a:r>
              <a:rPr lang="it-IT" sz="1800" b="0" i="0" dirty="0">
                <a:solidFill>
                  <a:srgbClr val="1C1D1E"/>
                </a:solidFill>
                <a:effectLst/>
                <a:latin typeface="Open Sans" panose="020F0502020204030204" pitchFamily="34" charset="0"/>
              </a:rPr>
              <a:t> supply chain dynamics </a:t>
            </a:r>
            <a:r>
              <a:rPr lang="it-IT" sz="1800" b="0" i="0" dirty="0" err="1">
                <a:solidFill>
                  <a:srgbClr val="1C1D1E"/>
                </a:solidFill>
                <a:effectLst/>
                <a:latin typeface="Open Sans" panose="020F0502020204030204" pitchFamily="34" charset="0"/>
              </a:rPr>
              <a:t>using</a:t>
            </a:r>
            <a:r>
              <a:rPr lang="it-IT" sz="1800" b="0" i="0" dirty="0">
                <a:solidFill>
                  <a:srgbClr val="1C1D1E"/>
                </a:solidFill>
                <a:effectLst/>
                <a:latin typeface="Open Sans" panose="020F0502020204030204" pitchFamily="34" charset="0"/>
              </a:rPr>
              <a:t> </a:t>
            </a:r>
            <a:r>
              <a:rPr lang="it-IT" sz="1800" b="0" i="0" dirty="0" err="1">
                <a:solidFill>
                  <a:srgbClr val="1C1D1E"/>
                </a:solidFill>
                <a:effectLst/>
                <a:latin typeface="Open Sans" panose="020F0502020204030204" pitchFamily="34" charset="0"/>
              </a:rPr>
              <a:t>economics-informed</a:t>
            </a:r>
            <a:r>
              <a:rPr lang="it-IT" sz="1800" b="0" i="0" dirty="0">
                <a:solidFill>
                  <a:srgbClr val="1C1D1E"/>
                </a:solidFill>
                <a:effectLst/>
                <a:latin typeface="Open Sans" panose="020F0502020204030204" pitchFamily="34" charset="0"/>
              </a:rPr>
              <a:t> </a:t>
            </a:r>
            <a:r>
              <a:rPr lang="it-IT" sz="1800" b="0" i="0" dirty="0" err="1">
                <a:solidFill>
                  <a:srgbClr val="1C1D1E"/>
                </a:solidFill>
                <a:effectLst/>
                <a:latin typeface="Open Sans" panose="020F0502020204030204" pitchFamily="34" charset="0"/>
              </a:rPr>
              <a:t>material</a:t>
            </a:r>
            <a:r>
              <a:rPr lang="it-IT" sz="1800" b="0" i="0" dirty="0">
                <a:solidFill>
                  <a:srgbClr val="1C1D1E"/>
                </a:solidFill>
                <a:effectLst/>
                <a:latin typeface="Open Sans" panose="020F0502020204030204" pitchFamily="34" charset="0"/>
              </a:rPr>
              <a:t> flow </a:t>
            </a:r>
            <a:r>
              <a:rPr lang="it-IT" sz="1800" b="0" i="0" dirty="0" err="1">
                <a:solidFill>
                  <a:srgbClr val="1C1D1E"/>
                </a:solidFill>
                <a:effectLst/>
                <a:latin typeface="Open Sans" panose="020F0502020204030204" pitchFamily="34" charset="0"/>
              </a:rPr>
              <a:t>analysis</a:t>
            </a:r>
            <a:r>
              <a:rPr lang="it-IT" sz="1800" b="0" i="0" dirty="0">
                <a:solidFill>
                  <a:srgbClr val="1C1D1E"/>
                </a:solidFill>
                <a:effectLst/>
                <a:latin typeface="Open Sans" panose="020F0502020204030204" pitchFamily="34" charset="0"/>
              </a:rPr>
              <a:t> and </a:t>
            </a:r>
            <a:r>
              <a:rPr lang="it-IT" sz="1800" b="0" i="0" dirty="0" err="1">
                <a:solidFill>
                  <a:srgbClr val="1C1D1E"/>
                </a:solidFill>
                <a:effectLst/>
                <a:latin typeface="Open Sans" panose="020F0502020204030204" pitchFamily="34" charset="0"/>
              </a:rPr>
              <a:t>Bayesian</a:t>
            </a:r>
            <a:r>
              <a:rPr lang="it-IT" sz="1800" b="0" i="0" dirty="0">
                <a:solidFill>
                  <a:srgbClr val="1C1D1E"/>
                </a:solidFill>
                <a:effectLst/>
                <a:latin typeface="Open Sans" panose="020F0502020204030204" pitchFamily="34" charset="0"/>
              </a:rPr>
              <a:t> </a:t>
            </a:r>
            <a:r>
              <a:rPr lang="it-IT" sz="1800" b="0" i="0" dirty="0" err="1">
                <a:solidFill>
                  <a:srgbClr val="1C1D1E"/>
                </a:solidFill>
                <a:effectLst/>
                <a:latin typeface="Open Sans" panose="020F0502020204030204" pitchFamily="34" charset="0"/>
              </a:rPr>
              <a:t>optimization</a:t>
            </a:r>
            <a:r>
              <a:rPr lang="it-IT" sz="1800" b="0" i="0" dirty="0">
                <a:solidFill>
                  <a:srgbClr val="1C1D1E"/>
                </a:solidFill>
                <a:effectLst/>
                <a:latin typeface="Open Sans" panose="020F0502020204030204" pitchFamily="34" charset="0"/>
              </a:rPr>
              <a:t>. </a:t>
            </a:r>
            <a:r>
              <a:rPr lang="it-IT" sz="1800" b="0" i="1" dirty="0">
                <a:solidFill>
                  <a:srgbClr val="1C1D1E"/>
                </a:solidFill>
                <a:effectLst/>
                <a:latin typeface="Open Sans" panose="020F0502020204030204" pitchFamily="34" charset="0"/>
              </a:rPr>
              <a:t>Journal of Industrial </a:t>
            </a:r>
            <a:r>
              <a:rPr lang="it-IT" sz="1800" b="0" i="1" dirty="0" err="1">
                <a:solidFill>
                  <a:srgbClr val="1C1D1E"/>
                </a:solidFill>
                <a:effectLst/>
                <a:latin typeface="Open Sans" panose="020F0502020204030204" pitchFamily="34" charset="0"/>
              </a:rPr>
              <a:t>Ecology</a:t>
            </a:r>
            <a:r>
              <a:rPr lang="it-IT" sz="1800" b="0" i="0" dirty="0">
                <a:solidFill>
                  <a:srgbClr val="1C1D1E"/>
                </a:solidFill>
                <a:effectLst/>
                <a:latin typeface="Open Sans" panose="020F0502020204030204" pitchFamily="34" charset="0"/>
              </a:rPr>
              <a:t>, 28, 709–726. </a:t>
            </a:r>
            <a:r>
              <a:rPr lang="it-IT" sz="1800" b="1" i="0" u="none" strike="noStrike" dirty="0">
                <a:solidFill>
                  <a:srgbClr val="123D80"/>
                </a:solidFill>
                <a:effectLst/>
                <a:latin typeface="Open Sans" panose="020F0502020204030204" pitchFamily="34" charset="0"/>
                <a:hlinkClick r:id="rId3"/>
              </a:rPr>
              <a:t>https://doi.org/10.1111/jiec.13517</a:t>
            </a:r>
            <a:endParaRPr lang="en-US" sz="1800" dirty="0"/>
          </a:p>
          <a:p>
            <a:pPr>
              <a:lnSpc>
                <a:spcPct val="105000"/>
              </a:lnSpc>
              <a:spcAft>
                <a:spcPts val="600"/>
              </a:spcAft>
            </a:pPr>
            <a:r>
              <a:rPr lang="it-IT" sz="1800" dirty="0"/>
              <a:t>IRTC Training Course </a:t>
            </a:r>
            <a:r>
              <a:rPr lang="it-IT" sz="1800" dirty="0" err="1"/>
              <a:t>Raw</a:t>
            </a:r>
            <a:r>
              <a:rPr lang="it-IT" sz="1800" dirty="0"/>
              <a:t> </a:t>
            </a:r>
            <a:r>
              <a:rPr lang="it-IT" sz="1800" dirty="0" err="1"/>
              <a:t>Materials</a:t>
            </a:r>
            <a:r>
              <a:rPr lang="it-IT" sz="1800" dirty="0"/>
              <a:t> Risk Management (Basic) Luis </a:t>
            </a:r>
            <a:r>
              <a:rPr lang="it-IT" sz="1800" dirty="0" err="1"/>
              <a:t>Tercero</a:t>
            </a:r>
            <a:r>
              <a:rPr lang="it-IT" sz="1800" dirty="0"/>
              <a:t>, </a:t>
            </a:r>
            <a:r>
              <a:rPr lang="it-IT" sz="1800" dirty="0" err="1"/>
              <a:t>Dieuwertje</a:t>
            </a:r>
            <a:r>
              <a:rPr lang="it-IT" sz="1800" dirty="0"/>
              <a:t> </a:t>
            </a:r>
            <a:r>
              <a:rPr lang="it-IT" sz="1800" dirty="0" err="1"/>
              <a:t>Schrijvers</a:t>
            </a:r>
            <a:r>
              <a:rPr lang="it-IT" sz="1800" dirty="0"/>
              <a:t>, </a:t>
            </a:r>
            <a:r>
              <a:rPr lang="it-IT" sz="1800" dirty="0" err="1"/>
              <a:t>Alessa</a:t>
            </a:r>
            <a:r>
              <a:rPr lang="it-IT" sz="1800" dirty="0"/>
              <a:t> </a:t>
            </a:r>
            <a:r>
              <a:rPr lang="it-IT" sz="1800" dirty="0" err="1"/>
              <a:t>Hool</a:t>
            </a:r>
            <a:r>
              <a:rPr lang="it-IT" sz="1800" dirty="0"/>
              <a:t> </a:t>
            </a:r>
            <a:r>
              <a:rPr lang="it-IT" sz="1800" dirty="0" err="1"/>
              <a:t>Ljubljana</a:t>
            </a:r>
            <a:r>
              <a:rPr lang="it-IT" sz="1800" dirty="0"/>
              <a:t>, </a:t>
            </a:r>
            <a:r>
              <a:rPr lang="it-IT" sz="1800" dirty="0" err="1"/>
              <a:t>February</a:t>
            </a:r>
            <a:r>
              <a:rPr lang="it-IT" sz="1800" dirty="0"/>
              <a:t> 17th and 18th, 2025 </a:t>
            </a:r>
            <a:endParaRPr lang="en-US" sz="1800" dirty="0"/>
          </a:p>
        </p:txBody>
      </p:sp>
      <p:sp>
        <p:nvSpPr>
          <p:cNvPr id="7" name="Subtitle 2"/>
          <p:cNvSpPr txBox="1">
            <a:spLocks/>
          </p:cNvSpPr>
          <p:nvPr/>
        </p:nvSpPr>
        <p:spPr>
          <a:xfrm>
            <a:off x="822037" y="2344548"/>
            <a:ext cx="9144000" cy="1547530"/>
          </a:xfrm>
          <a:prstGeom prst="rect">
            <a:avLst/>
          </a:prstGeom>
        </p:spPr>
        <p:txBody>
          <a:bodyPr wrap="square">
            <a:noAutofit/>
          </a:bodyPr>
          <a:lstStyle>
            <a:lvl1pPr marL="360000" indent="-360000" algn="l" defTabSz="685783" rtl="0" eaLnBrk="1" latinLnBrk="0" hangingPunct="1">
              <a:lnSpc>
                <a:spcPct val="90000"/>
              </a:lnSpc>
              <a:spcBef>
                <a:spcPts val="750"/>
              </a:spcBef>
              <a:buClr>
                <a:srgbClr val="002060"/>
              </a:buClr>
              <a:buSzPct val="100000"/>
              <a:buFont typeface="Wingdings" panose="05000000000000000000" pitchFamily="2" charset="2"/>
              <a:buChar char="v"/>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02000" indent="-360000" algn="l" defTabSz="685783" rtl="0" eaLnBrk="1" latinLnBrk="0" hangingPunct="1">
              <a:lnSpc>
                <a:spcPct val="90000"/>
              </a:lnSpc>
              <a:spcBef>
                <a:spcPts val="375"/>
              </a:spcBef>
              <a:buClr>
                <a:srgbClr val="00B0F0"/>
              </a:buClr>
              <a:buSzPct val="100000"/>
              <a:buFont typeface="Wingdings" panose="05000000000000000000" pitchFamily="2" charset="2"/>
              <a:buChar char="v"/>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044000" indent="-360000" algn="l" defTabSz="685783" rtl="0" eaLnBrk="1" latinLnBrk="0" hangingPunct="1">
              <a:lnSpc>
                <a:spcPct val="90000"/>
              </a:lnSpc>
              <a:spcBef>
                <a:spcPts val="375"/>
              </a:spcBef>
              <a:buClr>
                <a:srgbClr val="00B050"/>
              </a:buClr>
              <a:buSzPct val="100000"/>
              <a:buFont typeface="Wingdings" panose="05000000000000000000" pitchFamily="2" charset="2"/>
              <a:buChar char="v"/>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86000" indent="-360000" algn="l" defTabSz="685783" rtl="0" eaLnBrk="1" latinLnBrk="0" hangingPunct="1">
              <a:lnSpc>
                <a:spcPct val="90000"/>
              </a:lnSpc>
              <a:spcBef>
                <a:spcPts val="375"/>
              </a:spcBef>
              <a:buClr>
                <a:srgbClr val="FFC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731600" indent="-360000" algn="l" defTabSz="685783" rtl="0" eaLnBrk="1" latinLnBrk="0" hangingPunct="1">
              <a:lnSpc>
                <a:spcPct val="90000"/>
              </a:lnSpc>
              <a:spcBef>
                <a:spcPts val="375"/>
              </a:spcBef>
              <a:buClr>
                <a:srgbClr val="C00000"/>
              </a:buClr>
              <a:buSzPct val="100000"/>
              <a:buFont typeface="Wingdings" panose="05000000000000000000" pitchFamily="2" charset="2"/>
              <a:buChar char="v"/>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5000"/>
              </a:lnSpc>
              <a:spcAft>
                <a:spcPts val="600"/>
              </a:spcAft>
            </a:pPr>
            <a:endParaRPr lang="en-US" sz="1000" dirty="0"/>
          </a:p>
        </p:txBody>
      </p:sp>
      <p:pic>
        <p:nvPicPr>
          <p:cNvPr id="2" name="Picture 1">
            <a:extLst>
              <a:ext uri="{FF2B5EF4-FFF2-40B4-BE49-F238E27FC236}">
                <a16:creationId xmlns:a16="http://schemas.microsoft.com/office/drawing/2014/main" id="{37B93B1D-C399-1286-35A1-6B12674EE815}"/>
              </a:ext>
            </a:extLst>
          </p:cNvPr>
          <p:cNvPicPr>
            <a:picLocks noChangeAspect="1"/>
          </p:cNvPicPr>
          <p:nvPr/>
        </p:nvPicPr>
        <p:blipFill>
          <a:blip r:embed="rId4"/>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28536606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normAutofit/>
          </a:bodyPr>
          <a:lstStyle/>
          <a:p>
            <a:r>
              <a:rPr dirty="0"/>
              <a:t>Metals and minerals markets and supply chains have been studied in the literature, since the oil crises in 70s, and then </a:t>
            </a:r>
            <a:r>
              <a:rPr lang="it-IT" dirty="0"/>
              <a:t>in the </a:t>
            </a:r>
            <a:r>
              <a:rPr lang="it-IT" dirty="0" err="1"/>
              <a:t>early</a:t>
            </a:r>
            <a:r>
              <a:rPr lang="it-IT" dirty="0"/>
              <a:t> 2000s </a:t>
            </a:r>
          </a:p>
          <a:p>
            <a:r>
              <a:rPr lang="it-IT" dirty="0" err="1"/>
              <a:t>Many</a:t>
            </a:r>
            <a:r>
              <a:rPr lang="it-IT" dirty="0"/>
              <a:t> </a:t>
            </a:r>
            <a:r>
              <a:rPr lang="it-IT" dirty="0" err="1"/>
              <a:t>statements</a:t>
            </a:r>
            <a:r>
              <a:rPr lang="it-IT" dirty="0"/>
              <a:t> </a:t>
            </a:r>
            <a:r>
              <a:rPr lang="it-IT" dirty="0" err="1"/>
              <a:t>have</a:t>
            </a:r>
            <a:r>
              <a:rPr lang="it-IT" dirty="0"/>
              <a:t> </a:t>
            </a:r>
            <a:r>
              <a:rPr lang="it-IT" dirty="0" err="1"/>
              <a:t>been</a:t>
            </a:r>
            <a:r>
              <a:rPr lang="it-IT" dirty="0"/>
              <a:t> </a:t>
            </a:r>
            <a:r>
              <a:rPr lang="it-IT" dirty="0" err="1"/>
              <a:t>provided</a:t>
            </a:r>
            <a:r>
              <a:rPr lang="it-IT" dirty="0"/>
              <a:t> by the </a:t>
            </a:r>
            <a:r>
              <a:rPr lang="it-IT" dirty="0" err="1"/>
              <a:t>different</a:t>
            </a:r>
            <a:r>
              <a:rPr lang="it-IT" dirty="0"/>
              <a:t> </a:t>
            </a:r>
            <a:r>
              <a:rPr lang="it-IT" dirty="0" err="1"/>
              <a:t>analyses</a:t>
            </a:r>
            <a:r>
              <a:rPr lang="it-IT" dirty="0"/>
              <a:t>, </a:t>
            </a:r>
            <a:r>
              <a:rPr lang="it-IT" dirty="0" err="1"/>
              <a:t>depicting</a:t>
            </a:r>
            <a:r>
              <a:rPr lang="it-IT" dirty="0"/>
              <a:t> the </a:t>
            </a:r>
            <a:r>
              <a:rPr lang="it-IT" dirty="0" err="1"/>
              <a:t>complex</a:t>
            </a:r>
            <a:r>
              <a:rPr lang="it-IT" dirty="0"/>
              <a:t> framework </a:t>
            </a:r>
            <a:r>
              <a:rPr lang="it-IT" dirty="0" err="1"/>
              <a:t>characterizing</a:t>
            </a:r>
            <a:r>
              <a:rPr lang="it-IT" dirty="0"/>
              <a:t> the market </a:t>
            </a:r>
            <a:r>
              <a:rPr lang="it-IT" dirty="0" err="1"/>
              <a:t>structures</a:t>
            </a:r>
            <a:r>
              <a:rPr lang="it-IT" dirty="0"/>
              <a:t>, </a:t>
            </a:r>
            <a:r>
              <a:rPr lang="it-IT" dirty="0" err="1"/>
              <a:t>driven</a:t>
            </a:r>
            <a:r>
              <a:rPr lang="it-IT" dirty="0"/>
              <a:t> by </a:t>
            </a:r>
            <a:r>
              <a:rPr lang="it-IT" dirty="0" err="1"/>
              <a:t>many</a:t>
            </a:r>
            <a:r>
              <a:rPr lang="it-IT" dirty="0"/>
              <a:t> </a:t>
            </a:r>
            <a:r>
              <a:rPr lang="it-IT" dirty="0" err="1"/>
              <a:t>macroeconomical</a:t>
            </a:r>
            <a:r>
              <a:rPr lang="it-IT" dirty="0"/>
              <a:t> </a:t>
            </a:r>
            <a:r>
              <a:rPr lang="it-IT" dirty="0" err="1"/>
              <a:t>factors</a:t>
            </a:r>
            <a:endParaRPr lang="it-IT" dirty="0"/>
          </a:p>
          <a:p>
            <a:r>
              <a:rPr lang="it-IT" dirty="0" err="1"/>
              <a:t>These</a:t>
            </a:r>
            <a:r>
              <a:rPr lang="it-IT" dirty="0"/>
              <a:t> </a:t>
            </a:r>
            <a:r>
              <a:rPr lang="it-IT" dirty="0" err="1"/>
              <a:t>macroeconomical</a:t>
            </a:r>
            <a:r>
              <a:rPr lang="it-IT" dirty="0"/>
              <a:t> drivers are </a:t>
            </a:r>
            <a:r>
              <a:rPr lang="it-IT" dirty="0" err="1"/>
              <a:t>related</a:t>
            </a:r>
            <a:r>
              <a:rPr lang="it-IT" dirty="0"/>
              <a:t> </a:t>
            </a:r>
            <a:r>
              <a:rPr lang="it-IT" dirty="0" err="1"/>
              <a:t>mainly</a:t>
            </a:r>
            <a:r>
              <a:rPr lang="it-IT" dirty="0"/>
              <a:t> to:</a:t>
            </a:r>
          </a:p>
          <a:p>
            <a:pPr lvl="1"/>
            <a:r>
              <a:rPr lang="it-IT" dirty="0"/>
              <a:t>Production </a:t>
            </a:r>
            <a:r>
              <a:rPr lang="it-IT" dirty="0" err="1"/>
              <a:t>concentration</a:t>
            </a:r>
            <a:endParaRPr lang="it-IT" dirty="0"/>
          </a:p>
          <a:p>
            <a:pPr lvl="1"/>
            <a:r>
              <a:rPr lang="it-IT" dirty="0" err="1"/>
              <a:t>Refining</a:t>
            </a:r>
            <a:r>
              <a:rPr lang="it-IT" dirty="0"/>
              <a:t> </a:t>
            </a:r>
            <a:r>
              <a:rPr lang="it-IT" dirty="0" err="1"/>
              <a:t>concentration</a:t>
            </a:r>
            <a:endParaRPr lang="it-IT" dirty="0"/>
          </a:p>
          <a:p>
            <a:pPr lvl="1"/>
            <a:r>
              <a:rPr lang="it-IT" dirty="0"/>
              <a:t>Product/Co-products/By-products </a:t>
            </a:r>
            <a:r>
              <a:rPr lang="it-IT" dirty="0" err="1"/>
              <a:t>dependances</a:t>
            </a:r>
            <a:r>
              <a:rPr lang="it-IT" dirty="0"/>
              <a:t> in the markets</a:t>
            </a:r>
          </a:p>
          <a:p>
            <a:pPr lvl="1"/>
            <a:r>
              <a:rPr lang="it-IT" dirty="0" err="1"/>
              <a:t>Substitutability</a:t>
            </a:r>
            <a:r>
              <a:rPr lang="it-IT" dirty="0"/>
              <a:t> shares of </a:t>
            </a:r>
            <a:r>
              <a:rPr lang="it-IT" dirty="0" err="1"/>
              <a:t>materials</a:t>
            </a:r>
            <a:r>
              <a:rPr lang="it-IT" dirty="0"/>
              <a:t> </a:t>
            </a:r>
          </a:p>
          <a:p>
            <a:pPr lvl="1"/>
            <a:r>
              <a:rPr lang="it-IT" dirty="0"/>
              <a:t>Strikes, export </a:t>
            </a:r>
            <a:r>
              <a:rPr lang="it-IT" dirty="0" err="1"/>
              <a:t>restrictions</a:t>
            </a:r>
            <a:endParaRPr lang="it-IT" dirty="0"/>
          </a:p>
          <a:p>
            <a:pPr lvl="1"/>
            <a:r>
              <a:rPr lang="it-IT" dirty="0"/>
              <a:t>Business </a:t>
            </a:r>
            <a:r>
              <a:rPr lang="it-IT" dirty="0" err="1"/>
              <a:t>cycles</a:t>
            </a:r>
            <a:endParaRPr lang="it-IT" dirty="0"/>
          </a:p>
          <a:p>
            <a:pPr lvl="1"/>
            <a:r>
              <a:rPr lang="it-IT" dirty="0" err="1"/>
              <a:t>Inflation</a:t>
            </a:r>
            <a:r>
              <a:rPr lang="it-IT" dirty="0"/>
              <a:t> and </a:t>
            </a:r>
            <a:r>
              <a:rPr lang="it-IT" dirty="0" err="1"/>
              <a:t>exchange</a:t>
            </a:r>
            <a:r>
              <a:rPr lang="it-IT" dirty="0"/>
              <a:t> rates</a:t>
            </a:r>
          </a:p>
          <a:p>
            <a:pPr lvl="1"/>
            <a:r>
              <a:rPr lang="it-IT" dirty="0"/>
              <a:t>Etc…</a:t>
            </a:r>
            <a:endParaRPr dirty="0"/>
          </a:p>
        </p:txBody>
      </p:sp>
      <p:sp>
        <p:nvSpPr>
          <p:cNvPr id="3" name="Title 2"/>
          <p:cNvSpPr>
            <a:spLocks noGrp="1"/>
          </p:cNvSpPr>
          <p:nvPr>
            <p:ph type="title"/>
          </p:nvPr>
        </p:nvSpPr>
        <p:spPr/>
        <p:txBody>
          <a:bodyPr/>
          <a:lstStyle/>
          <a:p>
            <a:r>
              <a:rPr lang="en-US" dirty="0"/>
              <a:t>Price elasticity of demand and supply -  </a:t>
            </a:r>
            <a:r>
              <a:rPr dirty="0"/>
              <a:t>Conceptual Foundations (Metals)</a:t>
            </a:r>
          </a:p>
        </p:txBody>
      </p:sp>
      <p:pic>
        <p:nvPicPr>
          <p:cNvPr id="4" name="Picture 3">
            <a:extLst>
              <a:ext uri="{FF2B5EF4-FFF2-40B4-BE49-F238E27FC236}">
                <a16:creationId xmlns:a16="http://schemas.microsoft.com/office/drawing/2014/main" id="{5EF0F12E-96D3-87AB-DB10-9A39BBDEA2E4}"/>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41310925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normAutofit/>
          </a:bodyPr>
          <a:lstStyle/>
          <a:p>
            <a:r>
              <a:rPr lang="it-IT" dirty="0" err="1"/>
              <a:t>Complex</a:t>
            </a:r>
            <a:r>
              <a:rPr lang="it-IT" dirty="0"/>
              <a:t> market and supply chain frameworks </a:t>
            </a:r>
            <a:r>
              <a:rPr lang="it-IT" dirty="0" err="1"/>
              <a:t>affect</a:t>
            </a:r>
            <a:r>
              <a:rPr lang="it-IT" dirty="0"/>
              <a:t> the </a:t>
            </a:r>
            <a:r>
              <a:rPr lang="it-IT" dirty="0" err="1"/>
              <a:t>response</a:t>
            </a:r>
            <a:r>
              <a:rPr lang="it-IT" dirty="0"/>
              <a:t> of the supply and of the demand in </a:t>
            </a:r>
            <a:r>
              <a:rPr lang="it-IT" dirty="0" err="1"/>
              <a:t>very</a:t>
            </a:r>
            <a:r>
              <a:rPr lang="it-IT" dirty="0"/>
              <a:t> </a:t>
            </a:r>
            <a:r>
              <a:rPr lang="it-IT" dirty="0" err="1"/>
              <a:t>different</a:t>
            </a:r>
            <a:r>
              <a:rPr lang="it-IT" dirty="0"/>
              <a:t> ways</a:t>
            </a:r>
          </a:p>
          <a:p>
            <a:r>
              <a:rPr lang="it-IT" dirty="0"/>
              <a:t>Here, </a:t>
            </a:r>
            <a:r>
              <a:rPr lang="it-IT" dirty="0" err="1"/>
              <a:t>we</a:t>
            </a:r>
            <a:r>
              <a:rPr lang="it-IT" dirty="0"/>
              <a:t> focus on the </a:t>
            </a:r>
            <a:r>
              <a:rPr lang="it-IT" dirty="0">
                <a:solidFill>
                  <a:schemeClr val="accent1"/>
                </a:solidFill>
              </a:rPr>
              <a:t>price </a:t>
            </a:r>
            <a:r>
              <a:rPr lang="it-IT" dirty="0" err="1">
                <a:solidFill>
                  <a:schemeClr val="accent1"/>
                </a:solidFill>
              </a:rPr>
              <a:t>elasticity</a:t>
            </a:r>
            <a:endParaRPr lang="it-IT" dirty="0">
              <a:solidFill>
                <a:schemeClr val="accent1"/>
              </a:solidFill>
            </a:endParaRPr>
          </a:p>
          <a:p>
            <a:r>
              <a:rPr lang="it-IT" dirty="0"/>
              <a:t>In </a:t>
            </a:r>
            <a:r>
              <a:rPr lang="it-IT" dirty="0" err="1"/>
              <a:t>Tilton</a:t>
            </a:r>
            <a:r>
              <a:rPr lang="it-IT" dirty="0"/>
              <a:t>, 1984 paper on metal markets, supply and demand </a:t>
            </a:r>
            <a:r>
              <a:rPr lang="it-IT" dirty="0" err="1"/>
              <a:t>curves</a:t>
            </a:r>
            <a:r>
              <a:rPr lang="it-IT" dirty="0"/>
              <a:t> are </a:t>
            </a:r>
            <a:r>
              <a:rPr lang="it-IT" dirty="0" err="1"/>
              <a:t>characterized</a:t>
            </a:r>
            <a:r>
              <a:rPr lang="it-IT" dirty="0"/>
              <a:t>, and the concept of </a:t>
            </a:r>
            <a:r>
              <a:rPr lang="it-IT" dirty="0" err="1"/>
              <a:t>elasticity</a:t>
            </a:r>
            <a:r>
              <a:rPr lang="it-IT" dirty="0"/>
              <a:t> </a:t>
            </a:r>
            <a:r>
              <a:rPr lang="it-IT" dirty="0" err="1"/>
              <a:t>was</a:t>
            </a:r>
            <a:r>
              <a:rPr lang="it-IT" dirty="0"/>
              <a:t> </a:t>
            </a:r>
            <a:r>
              <a:rPr lang="it-IT" dirty="0" err="1"/>
              <a:t>studied</a:t>
            </a:r>
            <a:endParaRPr lang="it-IT" dirty="0"/>
          </a:p>
          <a:p>
            <a:r>
              <a:rPr lang="it-IT" dirty="0"/>
              <a:t>PED and PES are </a:t>
            </a:r>
            <a:r>
              <a:rPr lang="it-IT" dirty="0" err="1"/>
              <a:t>respectively</a:t>
            </a:r>
            <a:r>
              <a:rPr lang="it-IT" dirty="0"/>
              <a:t> price </a:t>
            </a:r>
            <a:r>
              <a:rPr lang="it-IT" dirty="0" err="1"/>
              <a:t>elasticty</a:t>
            </a:r>
            <a:r>
              <a:rPr lang="it-IT" dirty="0"/>
              <a:t> of demand and supply</a:t>
            </a:r>
          </a:p>
          <a:p>
            <a:r>
              <a:rPr lang="it-IT" dirty="0" err="1"/>
              <a:t>Since</a:t>
            </a:r>
            <a:r>
              <a:rPr lang="it-IT" dirty="0"/>
              <a:t> </a:t>
            </a:r>
            <a:r>
              <a:rPr lang="it-IT" dirty="0" err="1"/>
              <a:t>their</a:t>
            </a:r>
            <a:r>
              <a:rPr lang="it-IT" dirty="0"/>
              <a:t> </a:t>
            </a:r>
            <a:r>
              <a:rPr lang="it-IT" dirty="0" err="1"/>
              <a:t>different</a:t>
            </a:r>
            <a:r>
              <a:rPr lang="it-IT" dirty="0"/>
              <a:t> nature </a:t>
            </a:r>
            <a:r>
              <a:rPr lang="it-IT" dirty="0" err="1"/>
              <a:t>within</a:t>
            </a:r>
            <a:r>
              <a:rPr lang="it-IT" dirty="0"/>
              <a:t> </a:t>
            </a:r>
            <a:r>
              <a:rPr lang="it-IT" dirty="0" err="1"/>
              <a:t>CRMs</a:t>
            </a:r>
            <a:r>
              <a:rPr lang="it-IT" dirty="0"/>
              <a:t> markets and supply chains, the </a:t>
            </a:r>
            <a:r>
              <a:rPr lang="it-IT" dirty="0" err="1"/>
              <a:t>main</a:t>
            </a:r>
            <a:r>
              <a:rPr lang="it-IT" dirty="0"/>
              <a:t> </a:t>
            </a:r>
            <a:r>
              <a:rPr lang="it-IT" dirty="0" err="1"/>
              <a:t>numeric</a:t>
            </a:r>
            <a:r>
              <a:rPr lang="it-IT" dirty="0"/>
              <a:t> feature </a:t>
            </a:r>
            <a:r>
              <a:rPr lang="it-IT" dirty="0" err="1"/>
              <a:t>is</a:t>
            </a:r>
            <a:r>
              <a:rPr lang="it-IT" dirty="0"/>
              <a:t> </a:t>
            </a:r>
            <a:r>
              <a:rPr lang="it-IT" dirty="0" err="1"/>
              <a:t>ususally</a:t>
            </a:r>
            <a:r>
              <a:rPr lang="it-IT" dirty="0"/>
              <a:t> </a:t>
            </a:r>
            <a:r>
              <a:rPr lang="it-IT" dirty="0" err="1"/>
              <a:t>that</a:t>
            </a:r>
            <a:r>
              <a:rPr lang="it-IT" dirty="0"/>
              <a:t>:</a:t>
            </a:r>
          </a:p>
          <a:p>
            <a:pPr lvl="1"/>
            <a:r>
              <a:rPr lang="it-IT" dirty="0">
                <a:solidFill>
                  <a:schemeClr val="accent1"/>
                </a:solidFill>
              </a:rPr>
              <a:t>PED&lt;0</a:t>
            </a:r>
          </a:p>
          <a:p>
            <a:pPr lvl="1"/>
            <a:r>
              <a:rPr lang="it-IT" dirty="0">
                <a:solidFill>
                  <a:schemeClr val="accent1"/>
                </a:solidFill>
              </a:rPr>
              <a:t>PES&gt;0</a:t>
            </a:r>
          </a:p>
          <a:p>
            <a:pPr lvl="1"/>
            <a:endParaRPr dirty="0"/>
          </a:p>
        </p:txBody>
      </p:sp>
      <p:sp>
        <p:nvSpPr>
          <p:cNvPr id="3" name="Title 2"/>
          <p:cNvSpPr>
            <a:spLocks noGrp="1"/>
          </p:cNvSpPr>
          <p:nvPr>
            <p:ph type="title"/>
          </p:nvPr>
        </p:nvSpPr>
        <p:spPr/>
        <p:txBody>
          <a:bodyPr/>
          <a:lstStyle/>
          <a:p>
            <a:r>
              <a:rPr lang="en-US" dirty="0"/>
              <a:t>Price elasticity of demand and supply -  </a:t>
            </a:r>
            <a:r>
              <a:rPr dirty="0"/>
              <a:t>Conceptual Foundations (Metals)</a:t>
            </a:r>
          </a:p>
        </p:txBody>
      </p:sp>
      <p:pic>
        <p:nvPicPr>
          <p:cNvPr id="4" name="Picture 3">
            <a:extLst>
              <a:ext uri="{FF2B5EF4-FFF2-40B4-BE49-F238E27FC236}">
                <a16:creationId xmlns:a16="http://schemas.microsoft.com/office/drawing/2014/main" id="{98DEEB69-FCFC-3E5D-AA25-CC89AAA6D4C3}"/>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23305010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68BDAE-068F-8BC5-86F9-16723520BD04}"/>
              </a:ext>
            </a:extLst>
          </p:cNvPr>
          <p:cNvSpPr>
            <a:spLocks noGrp="1"/>
          </p:cNvSpPr>
          <p:nvPr>
            <p:ph idx="13"/>
          </p:nvPr>
        </p:nvSpPr>
        <p:spPr/>
        <p:txBody>
          <a:bodyPr anchor="ctr"/>
          <a:lstStyle/>
          <a:p>
            <a:pPr marL="0" indent="0">
              <a:buNone/>
            </a:pPr>
            <a:r>
              <a:rPr lang="it-IT" dirty="0" err="1">
                <a:solidFill>
                  <a:schemeClr val="accent1"/>
                </a:solidFill>
              </a:rPr>
              <a:t>Exogenous</a:t>
            </a:r>
            <a:r>
              <a:rPr lang="it-IT" dirty="0">
                <a:solidFill>
                  <a:schemeClr val="accent1"/>
                </a:solidFill>
              </a:rPr>
              <a:t> demand‑shock </a:t>
            </a:r>
            <a:r>
              <a:rPr lang="it-IT" dirty="0" err="1">
                <a:solidFill>
                  <a:schemeClr val="accent1"/>
                </a:solidFill>
              </a:rPr>
              <a:t>approximation</a:t>
            </a:r>
            <a:r>
              <a:rPr lang="it-IT" dirty="0">
                <a:solidFill>
                  <a:schemeClr val="accent1"/>
                </a:solidFill>
              </a:rPr>
              <a:t>:</a:t>
            </a:r>
          </a:p>
          <a:p>
            <a:r>
              <a:rPr lang="en-US" dirty="0"/>
              <a:t>For a % price shock coming from clustering analysis:</a:t>
            </a:r>
          </a:p>
          <a:p>
            <a:pPr lvl="1"/>
            <a:r>
              <a:rPr lang="en-US" dirty="0"/>
              <a:t>For material m</a:t>
            </a:r>
          </a:p>
          <a:p>
            <a:pPr lvl="1"/>
            <a:r>
              <a:rPr lang="en-US" dirty="0"/>
              <a:t>For a specific time horizon (long, medium, short)</a:t>
            </a:r>
          </a:p>
          <a:p>
            <a:pPr lvl="1"/>
            <a:r>
              <a:rPr lang="en-US" dirty="0"/>
              <a:t>For a severity level (low, medium, high)</a:t>
            </a:r>
          </a:p>
          <a:p>
            <a:r>
              <a:rPr lang="en-US" dirty="0"/>
              <a:t>A % supply shortage is determined by means of the corresponding elasticity:</a:t>
            </a:r>
          </a:p>
          <a:p>
            <a:pPr lvl="1"/>
            <a:r>
              <a:rPr lang="en-US" dirty="0"/>
              <a:t>Determined for the specific material, time-horizon, and severity level</a:t>
            </a:r>
          </a:p>
          <a:p>
            <a:r>
              <a:rPr lang="en-US" dirty="0"/>
              <a:t>The supply shortage is applied in TEMOA-stochastic by leveraging the </a:t>
            </a:r>
            <a:r>
              <a:rPr lang="en-US" dirty="0" err="1"/>
              <a:t>MaxActivity</a:t>
            </a:r>
            <a:r>
              <a:rPr lang="en-US" dirty="0"/>
              <a:t> constraint</a:t>
            </a:r>
          </a:p>
          <a:p>
            <a:r>
              <a:rPr lang="en-US" dirty="0"/>
              <a:t>We can rely on precise estimates only for a bunch of CRMs, and for the other materials, we consider family-level pooling</a:t>
            </a:r>
          </a:p>
        </p:txBody>
      </p:sp>
      <p:sp>
        <p:nvSpPr>
          <p:cNvPr id="3" name="Title 2">
            <a:extLst>
              <a:ext uri="{FF2B5EF4-FFF2-40B4-BE49-F238E27FC236}">
                <a16:creationId xmlns:a16="http://schemas.microsoft.com/office/drawing/2014/main" id="{98EDA353-8720-2064-3FB8-908FC70B6E11}"/>
              </a:ext>
            </a:extLst>
          </p:cNvPr>
          <p:cNvSpPr>
            <a:spLocks noGrp="1"/>
          </p:cNvSpPr>
          <p:nvPr>
            <p:ph type="title"/>
          </p:nvPr>
        </p:nvSpPr>
        <p:spPr/>
        <p:txBody>
          <a:bodyPr/>
          <a:lstStyle/>
          <a:p>
            <a:r>
              <a:rPr lang="en-US" dirty="0"/>
              <a:t>Price elasticity of demand and supply –</a:t>
            </a:r>
            <a:br>
              <a:rPr lang="en-US" dirty="0"/>
            </a:br>
            <a:r>
              <a:rPr lang="en-US" dirty="0"/>
              <a:t>Implementation in TEMOA</a:t>
            </a:r>
          </a:p>
        </p:txBody>
      </p:sp>
      <p:pic>
        <p:nvPicPr>
          <p:cNvPr id="4" name="Picture 3">
            <a:extLst>
              <a:ext uri="{FF2B5EF4-FFF2-40B4-BE49-F238E27FC236}">
                <a16:creationId xmlns:a16="http://schemas.microsoft.com/office/drawing/2014/main" id="{941C87CB-CF48-A045-7994-858119A3983B}"/>
              </a:ext>
            </a:extLst>
          </p:cNvPr>
          <p:cNvPicPr>
            <a:picLocks noChangeAspect="1"/>
          </p:cNvPicPr>
          <p:nvPr/>
        </p:nvPicPr>
        <p:blipFill>
          <a:blip r:embed="rId2"/>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30235624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nchor="ctr">
            <a:normAutofit/>
          </a:bodyPr>
          <a:lstStyle/>
          <a:p>
            <a:pPr marL="0" indent="0">
              <a:buNone/>
            </a:pPr>
            <a:r>
              <a:rPr lang="it-IT" dirty="0">
                <a:solidFill>
                  <a:schemeClr val="accent1"/>
                </a:solidFill>
              </a:rPr>
              <a:t>PED</a:t>
            </a:r>
            <a:r>
              <a:rPr lang="it-IT" dirty="0"/>
              <a:t> and </a:t>
            </a:r>
            <a:r>
              <a:rPr lang="it-IT" dirty="0">
                <a:solidFill>
                  <a:schemeClr val="accent1"/>
                </a:solidFill>
              </a:rPr>
              <a:t>PES</a:t>
            </a:r>
            <a:r>
              <a:rPr lang="it-IT" dirty="0"/>
              <a:t> </a:t>
            </a:r>
            <a:r>
              <a:rPr lang="it-IT" dirty="0" err="1"/>
              <a:t>extracted</a:t>
            </a:r>
            <a:r>
              <a:rPr lang="it-IT" dirty="0"/>
              <a:t> from the literature review are </a:t>
            </a:r>
            <a:r>
              <a:rPr lang="it-IT" dirty="0" err="1">
                <a:solidFill>
                  <a:schemeClr val="accent1"/>
                </a:solidFill>
              </a:rPr>
              <a:t>often</a:t>
            </a:r>
            <a:r>
              <a:rPr lang="it-IT" dirty="0">
                <a:solidFill>
                  <a:schemeClr val="accent1"/>
                </a:solidFill>
              </a:rPr>
              <a:t> </a:t>
            </a:r>
            <a:r>
              <a:rPr lang="it-IT" dirty="0" err="1">
                <a:solidFill>
                  <a:schemeClr val="accent1"/>
                </a:solidFill>
              </a:rPr>
              <a:t>refering</a:t>
            </a:r>
            <a:r>
              <a:rPr lang="it-IT" dirty="0">
                <a:solidFill>
                  <a:schemeClr val="accent1"/>
                </a:solidFill>
              </a:rPr>
              <a:t> to </a:t>
            </a:r>
            <a:r>
              <a:rPr lang="it-IT" dirty="0" err="1">
                <a:solidFill>
                  <a:schemeClr val="accent1"/>
                </a:solidFill>
              </a:rPr>
              <a:t>different</a:t>
            </a:r>
            <a:r>
              <a:rPr lang="it-IT" dirty="0">
                <a:solidFill>
                  <a:schemeClr val="accent1"/>
                </a:solidFill>
              </a:rPr>
              <a:t> stages of the supply chain</a:t>
            </a:r>
            <a:r>
              <a:rPr lang="it-IT" dirty="0"/>
              <a:t>, or products </a:t>
            </a:r>
            <a:r>
              <a:rPr lang="it-IT" dirty="0" err="1"/>
              <a:t>aggregates</a:t>
            </a:r>
            <a:r>
              <a:rPr lang="it-IT" dirty="0"/>
              <a:t>.</a:t>
            </a:r>
          </a:p>
          <a:p>
            <a:pPr marL="0" indent="0">
              <a:buNone/>
            </a:pPr>
            <a:endParaRPr lang="it-IT" dirty="0"/>
          </a:p>
          <a:p>
            <a:r>
              <a:rPr lang="it-IT" dirty="0"/>
              <a:t>TEMOA models the </a:t>
            </a:r>
            <a:r>
              <a:rPr lang="it-IT" dirty="0">
                <a:solidFill>
                  <a:schemeClr val="accent1"/>
                </a:solidFill>
              </a:rPr>
              <a:t>energy system</a:t>
            </a:r>
            <a:r>
              <a:rPr lang="it-IT" dirty="0"/>
              <a:t>, </a:t>
            </a:r>
            <a:r>
              <a:rPr lang="it-IT" dirty="0" err="1"/>
              <a:t>which</a:t>
            </a:r>
            <a:r>
              <a:rPr lang="it-IT" dirty="0"/>
              <a:t> </a:t>
            </a:r>
            <a:r>
              <a:rPr lang="it-IT" dirty="0" err="1"/>
              <a:t>is</a:t>
            </a:r>
            <a:r>
              <a:rPr lang="it-IT" dirty="0"/>
              <a:t> </a:t>
            </a:r>
            <a:r>
              <a:rPr lang="it-IT" dirty="0" err="1">
                <a:solidFill>
                  <a:schemeClr val="accent1"/>
                </a:solidFill>
              </a:rPr>
              <a:t>projected</a:t>
            </a:r>
            <a:r>
              <a:rPr lang="it-IT" dirty="0">
                <a:solidFill>
                  <a:schemeClr val="accent1"/>
                </a:solidFill>
              </a:rPr>
              <a:t> </a:t>
            </a:r>
            <a:r>
              <a:rPr lang="it-IT" dirty="0" err="1">
                <a:solidFill>
                  <a:schemeClr val="accent1"/>
                </a:solidFill>
              </a:rPr>
              <a:t>towards</a:t>
            </a:r>
            <a:r>
              <a:rPr lang="it-IT" dirty="0">
                <a:solidFill>
                  <a:schemeClr val="accent1"/>
                </a:solidFill>
              </a:rPr>
              <a:t> the demand</a:t>
            </a:r>
            <a:r>
              <a:rPr lang="it-IT" dirty="0"/>
              <a:t>, so </a:t>
            </a:r>
            <a:r>
              <a:rPr lang="it-IT" dirty="0" err="1">
                <a:solidFill>
                  <a:schemeClr val="accent1"/>
                </a:solidFill>
              </a:rPr>
              <a:t>it</a:t>
            </a:r>
            <a:r>
              <a:rPr lang="it-IT" dirty="0">
                <a:solidFill>
                  <a:schemeClr val="accent1"/>
                </a:solidFill>
              </a:rPr>
              <a:t> can be a </a:t>
            </a:r>
            <a:r>
              <a:rPr lang="it-IT" dirty="0" err="1">
                <a:solidFill>
                  <a:schemeClr val="accent1"/>
                </a:solidFill>
              </a:rPr>
              <a:t>choice</a:t>
            </a:r>
            <a:r>
              <a:rPr lang="it-IT" dirty="0">
                <a:solidFill>
                  <a:schemeClr val="accent1"/>
                </a:solidFill>
              </a:rPr>
              <a:t> to </a:t>
            </a:r>
            <a:r>
              <a:rPr lang="it-IT" dirty="0" err="1">
                <a:solidFill>
                  <a:schemeClr val="accent1"/>
                </a:solidFill>
              </a:rPr>
              <a:t>select</a:t>
            </a:r>
            <a:r>
              <a:rPr lang="it-IT" dirty="0">
                <a:solidFill>
                  <a:schemeClr val="accent1"/>
                </a:solidFill>
              </a:rPr>
              <a:t> demand </a:t>
            </a:r>
            <a:r>
              <a:rPr lang="it-IT" dirty="0" err="1">
                <a:solidFill>
                  <a:schemeClr val="accent1"/>
                </a:solidFill>
              </a:rPr>
              <a:t>elasticity</a:t>
            </a:r>
            <a:endParaRPr lang="it-IT" dirty="0">
              <a:solidFill>
                <a:schemeClr val="accent1"/>
              </a:solidFill>
            </a:endParaRPr>
          </a:p>
          <a:p>
            <a:r>
              <a:rPr lang="en-US" dirty="0"/>
              <a:t>The material demand in </a:t>
            </a:r>
            <a:r>
              <a:rPr lang="en-US" dirty="0" err="1"/>
              <a:t>TEMOA_Europe</a:t>
            </a:r>
            <a:r>
              <a:rPr lang="en-US" dirty="0"/>
              <a:t> is at the technology level, at the industrial stage, so from the manufacturer’s perspective</a:t>
            </a:r>
          </a:p>
          <a:p>
            <a:r>
              <a:rPr lang="en-US" dirty="0"/>
              <a:t>The supply curve of CRMs </a:t>
            </a:r>
            <a:r>
              <a:rPr lang="it-IT" dirty="0" err="1"/>
              <a:t>here</a:t>
            </a:r>
            <a:r>
              <a:rPr lang="it-IT" dirty="0"/>
              <a:t> </a:t>
            </a:r>
            <a:r>
              <a:rPr lang="it-IT" dirty="0" err="1"/>
              <a:t>is</a:t>
            </a:r>
            <a:r>
              <a:rPr lang="it-IT" dirty="0"/>
              <a:t> the one from the mining stage, </a:t>
            </a:r>
            <a:r>
              <a:rPr lang="it-IT" dirty="0" err="1"/>
              <a:t>but</a:t>
            </a:r>
            <a:r>
              <a:rPr lang="it-IT" dirty="0"/>
              <a:t> </a:t>
            </a:r>
            <a:r>
              <a:rPr lang="it-IT" dirty="0" err="1"/>
              <a:t>it’s</a:t>
            </a:r>
            <a:r>
              <a:rPr lang="it-IT" dirty="0"/>
              <a:t> </a:t>
            </a:r>
            <a:r>
              <a:rPr lang="it-IT" dirty="0" err="1"/>
              <a:t>not</a:t>
            </a:r>
            <a:r>
              <a:rPr lang="it-IT" dirty="0"/>
              <a:t> </a:t>
            </a:r>
            <a:r>
              <a:rPr lang="it-IT" dirty="0" err="1"/>
              <a:t>modeled</a:t>
            </a:r>
            <a:r>
              <a:rPr lang="it-IT" dirty="0"/>
              <a:t> in </a:t>
            </a:r>
            <a:r>
              <a:rPr lang="it-IT" dirty="0" err="1"/>
              <a:t>TEMOA_Europe</a:t>
            </a:r>
            <a:endParaRPr lang="it-IT" dirty="0"/>
          </a:p>
          <a:p>
            <a:r>
              <a:rPr lang="it-IT" dirty="0" err="1"/>
              <a:t>TEMOA_Europe</a:t>
            </a:r>
            <a:r>
              <a:rPr lang="it-IT" dirty="0"/>
              <a:t> </a:t>
            </a:r>
            <a:r>
              <a:rPr lang="it-IT" dirty="0" err="1"/>
              <a:t>considers</a:t>
            </a:r>
            <a:r>
              <a:rPr lang="it-IT" dirty="0"/>
              <a:t> </a:t>
            </a:r>
            <a:r>
              <a:rPr lang="it-IT" dirty="0" err="1"/>
              <a:t>material</a:t>
            </a:r>
            <a:r>
              <a:rPr lang="it-IT" dirty="0"/>
              <a:t> supply </a:t>
            </a:r>
            <a:r>
              <a:rPr lang="it-IT" dirty="0" err="1"/>
              <a:t>technologies</a:t>
            </a:r>
            <a:r>
              <a:rPr lang="it-IT" dirty="0"/>
              <a:t> to </a:t>
            </a:r>
            <a:r>
              <a:rPr lang="it-IT" dirty="0" err="1"/>
              <a:t>provide</a:t>
            </a:r>
            <a:r>
              <a:rPr lang="it-IT" dirty="0"/>
              <a:t> </a:t>
            </a:r>
            <a:r>
              <a:rPr lang="it-IT" dirty="0" err="1"/>
              <a:t>materials</a:t>
            </a:r>
            <a:r>
              <a:rPr lang="it-IT" dirty="0"/>
              <a:t> from ‘ethos’ </a:t>
            </a:r>
            <a:r>
              <a:rPr lang="it-IT" dirty="0">
                <a:sym typeface="Wingdings" panose="05000000000000000000" pitchFamily="2" charset="2"/>
              </a:rPr>
              <a:t> </a:t>
            </a:r>
            <a:r>
              <a:rPr lang="it-IT" dirty="0">
                <a:solidFill>
                  <a:schemeClr val="accent1"/>
                </a:solidFill>
                <a:sym typeface="Wingdings" panose="05000000000000000000" pitchFamily="2" charset="2"/>
              </a:rPr>
              <a:t>A supply </a:t>
            </a:r>
            <a:r>
              <a:rPr lang="it-IT" dirty="0" err="1">
                <a:solidFill>
                  <a:schemeClr val="accent1"/>
                </a:solidFill>
                <a:sym typeface="Wingdings" panose="05000000000000000000" pitchFamily="2" charset="2"/>
              </a:rPr>
              <a:t>shortage</a:t>
            </a:r>
            <a:r>
              <a:rPr lang="it-IT" dirty="0">
                <a:solidFill>
                  <a:schemeClr val="accent1"/>
                </a:solidFill>
                <a:sym typeface="Wingdings" panose="05000000000000000000" pitchFamily="2" charset="2"/>
              </a:rPr>
              <a:t> can be </a:t>
            </a:r>
            <a:r>
              <a:rPr lang="it-IT" dirty="0" err="1">
                <a:solidFill>
                  <a:schemeClr val="accent1"/>
                </a:solidFill>
                <a:sym typeface="Wingdings" panose="05000000000000000000" pitchFamily="2" charset="2"/>
              </a:rPr>
              <a:t>modeled</a:t>
            </a:r>
            <a:r>
              <a:rPr lang="it-IT" dirty="0">
                <a:solidFill>
                  <a:schemeClr val="accent1"/>
                </a:solidFill>
                <a:sym typeface="Wingdings" panose="05000000000000000000" pitchFamily="2" charset="2"/>
              </a:rPr>
              <a:t>, </a:t>
            </a:r>
            <a:r>
              <a:rPr lang="it-IT" dirty="0" err="1">
                <a:sym typeface="Wingdings" panose="05000000000000000000" pitchFamily="2" charset="2"/>
              </a:rPr>
              <a:t>because</a:t>
            </a:r>
            <a:r>
              <a:rPr lang="it-IT" dirty="0">
                <a:sym typeface="Wingdings" panose="05000000000000000000" pitchFamily="2" charset="2"/>
              </a:rPr>
              <a:t> </a:t>
            </a:r>
            <a:r>
              <a:rPr lang="it-IT" dirty="0" err="1">
                <a:sym typeface="Wingdings" panose="05000000000000000000" pitchFamily="2" charset="2"/>
              </a:rPr>
              <a:t>it’s</a:t>
            </a:r>
            <a:r>
              <a:rPr lang="it-IT" dirty="0">
                <a:sym typeface="Wingdings" panose="05000000000000000000" pitchFamily="2" charset="2"/>
              </a:rPr>
              <a:t> </a:t>
            </a:r>
            <a:r>
              <a:rPr lang="it-IT" dirty="0" err="1">
                <a:sym typeface="Wingdings" panose="05000000000000000000" pitchFamily="2" charset="2"/>
              </a:rPr>
              <a:t>what</a:t>
            </a:r>
            <a:r>
              <a:rPr lang="it-IT" dirty="0">
                <a:sym typeface="Wingdings" panose="05000000000000000000" pitchFamily="2" charset="2"/>
              </a:rPr>
              <a:t> </a:t>
            </a:r>
            <a:r>
              <a:rPr lang="it-IT" dirty="0" err="1">
                <a:sym typeface="Wingdings" panose="05000000000000000000" pitchFamily="2" charset="2"/>
              </a:rPr>
              <a:t>actually</a:t>
            </a:r>
            <a:r>
              <a:rPr lang="it-IT" dirty="0">
                <a:sym typeface="Wingdings" panose="05000000000000000000" pitchFamily="2" charset="2"/>
              </a:rPr>
              <a:t> drives the disruption </a:t>
            </a:r>
            <a:r>
              <a:rPr lang="it-IT" dirty="0" err="1">
                <a:sym typeface="Wingdings" panose="05000000000000000000" pitchFamily="2" charset="2"/>
              </a:rPr>
              <a:t>within</a:t>
            </a:r>
            <a:r>
              <a:rPr lang="it-IT" dirty="0">
                <a:sym typeface="Wingdings" panose="05000000000000000000" pitchFamily="2" charset="2"/>
              </a:rPr>
              <a:t> the model</a:t>
            </a:r>
            <a:endParaRPr lang="it-IT" dirty="0">
              <a:solidFill>
                <a:schemeClr val="accent1"/>
              </a:solidFill>
            </a:endParaRPr>
          </a:p>
          <a:p>
            <a:endParaRPr lang="it-IT" dirty="0"/>
          </a:p>
          <a:p>
            <a:pPr marL="0" indent="0">
              <a:buNone/>
            </a:pPr>
            <a:endParaRPr lang="it-IT" dirty="0"/>
          </a:p>
        </p:txBody>
      </p:sp>
      <p:sp>
        <p:nvSpPr>
          <p:cNvPr id="3" name="Title 2"/>
          <p:cNvSpPr>
            <a:spLocks noGrp="1"/>
          </p:cNvSpPr>
          <p:nvPr>
            <p:ph type="title"/>
          </p:nvPr>
        </p:nvSpPr>
        <p:spPr>
          <a:xfrm>
            <a:off x="0" y="0"/>
            <a:ext cx="9310448" cy="981965"/>
          </a:xfrm>
        </p:spPr>
        <p:txBody>
          <a:bodyPr/>
          <a:lstStyle/>
          <a:p>
            <a:r>
              <a:rPr lang="en-US" dirty="0"/>
              <a:t>Price elasticity of demand and supply – </a:t>
            </a:r>
            <a:br>
              <a:rPr lang="en-US" dirty="0"/>
            </a:br>
            <a:r>
              <a:rPr lang="it-IT" dirty="0" err="1"/>
              <a:t>Which</a:t>
            </a:r>
            <a:r>
              <a:rPr lang="it-IT" dirty="0"/>
              <a:t> </a:t>
            </a:r>
            <a:r>
              <a:rPr lang="it-IT" dirty="0" err="1"/>
              <a:t>elasticity</a:t>
            </a:r>
            <a:r>
              <a:rPr lang="it-IT" dirty="0"/>
              <a:t>?</a:t>
            </a:r>
            <a:endParaRPr dirty="0"/>
          </a:p>
        </p:txBody>
      </p:sp>
      <p:pic>
        <p:nvPicPr>
          <p:cNvPr id="4" name="Picture 3">
            <a:extLst>
              <a:ext uri="{FF2B5EF4-FFF2-40B4-BE49-F238E27FC236}">
                <a16:creationId xmlns:a16="http://schemas.microsoft.com/office/drawing/2014/main" id="{A3F4BDBF-6D8C-89BE-8E42-549B89B2ECAF}"/>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19073257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58A165-BC1F-7BF0-D996-4910FFF9E610}"/>
              </a:ext>
            </a:extLst>
          </p:cNvPr>
          <p:cNvSpPr>
            <a:spLocks noGrp="1"/>
          </p:cNvSpPr>
          <p:nvPr>
            <p:ph idx="13"/>
          </p:nvPr>
        </p:nvSpPr>
        <p:spPr/>
        <p:txBody>
          <a:bodyPr>
            <a:normAutofit fontScale="92500" lnSpcReduction="10000"/>
          </a:bodyPr>
          <a:lstStyle/>
          <a:p>
            <a:pPr marL="0" indent="0">
              <a:buNone/>
            </a:pPr>
            <a:r>
              <a:rPr lang="en-US" dirty="0">
                <a:solidFill>
                  <a:schemeClr val="accent1"/>
                </a:solidFill>
              </a:rPr>
              <a:t>Supply shortage modeling through market partial equilibrium and comparative statistics:</a:t>
            </a:r>
          </a:p>
          <a:p>
            <a:pPr marL="0" indent="0">
              <a:buNone/>
            </a:pPr>
            <a:endParaRPr lang="en-US" dirty="0">
              <a:solidFill>
                <a:schemeClr val="accent1"/>
              </a:solidFill>
            </a:endParaRPr>
          </a:p>
          <a:p>
            <a:r>
              <a:rPr lang="en-US" dirty="0"/>
              <a:t>Actually, the focus of the analysis is the supply shortage after a price surge, and so it’s better to focus on what a supply shortage means in the market partial equilibrium model:</a:t>
            </a:r>
          </a:p>
          <a:p>
            <a:endParaRPr lang="en-US" dirty="0"/>
          </a:p>
          <a:p>
            <a:pPr lvl="1"/>
            <a:r>
              <a:rPr lang="en-US" dirty="0"/>
              <a:t>Demand curve:</a:t>
            </a:r>
          </a:p>
          <a:p>
            <a:pPr lvl="1"/>
            <a:endParaRPr lang="en-US" dirty="0"/>
          </a:p>
          <a:p>
            <a:pPr lvl="1"/>
            <a:r>
              <a:rPr lang="en-US" dirty="0"/>
              <a:t>Supply curve: </a:t>
            </a:r>
          </a:p>
          <a:p>
            <a:pPr lvl="1"/>
            <a:endParaRPr lang="en-US" dirty="0"/>
          </a:p>
          <a:p>
            <a:pPr marL="0" indent="0">
              <a:buNone/>
            </a:pPr>
            <a:r>
              <a:rPr lang="it-IT" dirty="0" err="1">
                <a:solidFill>
                  <a:schemeClr val="accent1"/>
                </a:solidFill>
              </a:rPr>
              <a:t>Marshallian</a:t>
            </a:r>
            <a:r>
              <a:rPr lang="it-IT" dirty="0">
                <a:solidFill>
                  <a:schemeClr val="accent1"/>
                </a:solidFill>
              </a:rPr>
              <a:t> comparative-</a:t>
            </a:r>
            <a:r>
              <a:rPr lang="it-IT" dirty="0" err="1">
                <a:solidFill>
                  <a:schemeClr val="accent1"/>
                </a:solidFill>
              </a:rPr>
              <a:t>statics</a:t>
            </a:r>
            <a:r>
              <a:rPr lang="it-IT" dirty="0">
                <a:solidFill>
                  <a:schemeClr val="accent1"/>
                </a:solidFill>
              </a:rPr>
              <a:t>:</a:t>
            </a:r>
          </a:p>
          <a:p>
            <a:r>
              <a:rPr lang="en-US" dirty="0"/>
              <a:t>The Marshallian demand curve gives for each quantity the price at which buyers are willing to buy that quantity</a:t>
            </a:r>
          </a:p>
          <a:p>
            <a:r>
              <a:rPr lang="en-US" dirty="0"/>
              <a:t>The identification of how the static equilibrium changes in response to changes in outside factors is called comparative statics</a:t>
            </a:r>
          </a:p>
          <a:p>
            <a:endParaRPr lang="en-US" dirty="0"/>
          </a:p>
          <a:p>
            <a:pPr lvl="1"/>
            <a:endParaRPr lang="en-US" dirty="0"/>
          </a:p>
          <a:p>
            <a:endParaRPr lang="en-US" dirty="0"/>
          </a:p>
        </p:txBody>
      </p:sp>
      <p:sp>
        <p:nvSpPr>
          <p:cNvPr id="3" name="Title 2">
            <a:extLst>
              <a:ext uri="{FF2B5EF4-FFF2-40B4-BE49-F238E27FC236}">
                <a16:creationId xmlns:a16="http://schemas.microsoft.com/office/drawing/2014/main" id="{811E2CE7-06DF-BA48-E0BF-C9F1A2BBBC2A}"/>
              </a:ext>
            </a:extLst>
          </p:cNvPr>
          <p:cNvSpPr>
            <a:spLocks noGrp="1"/>
          </p:cNvSpPr>
          <p:nvPr>
            <p:ph type="title"/>
          </p:nvPr>
        </p:nvSpPr>
        <p:spPr/>
        <p:txBody>
          <a:bodyPr/>
          <a:lstStyle/>
          <a:p>
            <a:r>
              <a:rPr lang="en-US" dirty="0"/>
              <a:t>Price elasticity of demand and supply –</a:t>
            </a:r>
            <a:br>
              <a:rPr lang="en-US" dirty="0"/>
            </a:br>
            <a:r>
              <a:rPr lang="en-US" dirty="0"/>
              <a:t>Implementation in TEMOA, exogenous</a:t>
            </a:r>
          </a:p>
        </p:txBody>
      </p:sp>
      <p:pic>
        <p:nvPicPr>
          <p:cNvPr id="7" name="Picture 6">
            <a:extLst>
              <a:ext uri="{FF2B5EF4-FFF2-40B4-BE49-F238E27FC236}">
                <a16:creationId xmlns:a16="http://schemas.microsoft.com/office/drawing/2014/main" id="{AECABB3F-E499-4A34-880D-54E8B5276F15}"/>
              </a:ext>
            </a:extLst>
          </p:cNvPr>
          <p:cNvPicPr>
            <a:picLocks noChangeAspect="1"/>
          </p:cNvPicPr>
          <p:nvPr/>
        </p:nvPicPr>
        <p:blipFill>
          <a:blip r:embed="rId2"/>
          <a:stretch>
            <a:fillRect/>
          </a:stretch>
        </p:blipFill>
        <p:spPr>
          <a:xfrm>
            <a:off x="4863979" y="3233767"/>
            <a:ext cx="2667231" cy="502964"/>
          </a:xfrm>
          <a:prstGeom prst="rect">
            <a:avLst/>
          </a:prstGeom>
        </p:spPr>
      </p:pic>
      <p:pic>
        <p:nvPicPr>
          <p:cNvPr id="9" name="Picture 8">
            <a:extLst>
              <a:ext uri="{FF2B5EF4-FFF2-40B4-BE49-F238E27FC236}">
                <a16:creationId xmlns:a16="http://schemas.microsoft.com/office/drawing/2014/main" id="{DEC56966-B067-D6C2-A8D6-7B08CFA34412}"/>
              </a:ext>
            </a:extLst>
          </p:cNvPr>
          <p:cNvPicPr>
            <a:picLocks noChangeAspect="1"/>
          </p:cNvPicPr>
          <p:nvPr/>
        </p:nvPicPr>
        <p:blipFill>
          <a:blip r:embed="rId3"/>
          <a:stretch>
            <a:fillRect/>
          </a:stretch>
        </p:blipFill>
        <p:spPr>
          <a:xfrm>
            <a:off x="4947807" y="3955428"/>
            <a:ext cx="2499577" cy="480102"/>
          </a:xfrm>
          <a:prstGeom prst="rect">
            <a:avLst/>
          </a:prstGeom>
        </p:spPr>
      </p:pic>
    </p:spTree>
    <p:extLst>
      <p:ext uri="{BB962C8B-B14F-4D97-AF65-F5344CB8AC3E}">
        <p14:creationId xmlns:p14="http://schemas.microsoft.com/office/powerpoint/2010/main" val="441920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C83E6A-3680-A38B-62B6-471C35B7D6E0}"/>
              </a:ext>
            </a:extLst>
          </p:cNvPr>
          <p:cNvSpPr>
            <a:spLocks noGrp="1"/>
          </p:cNvSpPr>
          <p:nvPr>
            <p:ph type="title"/>
          </p:nvPr>
        </p:nvSpPr>
        <p:spPr/>
        <p:txBody>
          <a:bodyPr/>
          <a:lstStyle/>
          <a:p>
            <a:r>
              <a:rPr lang="en-US" dirty="0"/>
              <a:t>Price elasticity of demand and supply –</a:t>
            </a:r>
            <a:br>
              <a:rPr lang="en-US" dirty="0"/>
            </a:br>
            <a:r>
              <a:rPr lang="en-US" dirty="0"/>
              <a:t>Implementation in TEMOA, exogenous</a:t>
            </a:r>
          </a:p>
        </p:txBody>
      </p:sp>
      <p:cxnSp>
        <p:nvCxnSpPr>
          <p:cNvPr id="8" name="Straight Arrow Connector 7">
            <a:extLst>
              <a:ext uri="{FF2B5EF4-FFF2-40B4-BE49-F238E27FC236}">
                <a16:creationId xmlns:a16="http://schemas.microsoft.com/office/drawing/2014/main" id="{C416A55F-B30A-50BF-64E6-28B28B956DAF}"/>
              </a:ext>
            </a:extLst>
          </p:cNvPr>
          <p:cNvCxnSpPr>
            <a:cxnSpLocks/>
          </p:cNvCxnSpPr>
          <p:nvPr/>
        </p:nvCxnSpPr>
        <p:spPr>
          <a:xfrm>
            <a:off x="1228436" y="5851128"/>
            <a:ext cx="6991928" cy="472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870E9DEF-DDAC-E586-2F1A-8BD01C63F328}"/>
              </a:ext>
            </a:extLst>
          </p:cNvPr>
          <p:cNvCxnSpPr>
            <a:cxnSpLocks/>
          </p:cNvCxnSpPr>
          <p:nvPr/>
        </p:nvCxnSpPr>
        <p:spPr>
          <a:xfrm flipV="1">
            <a:off x="3168074" y="1819564"/>
            <a:ext cx="0" cy="403629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3D9DC5BA-9FB5-5B0F-AA6A-E16AB7FE8017}"/>
              </a:ext>
            </a:extLst>
          </p:cNvPr>
          <p:cNvSpPr txBox="1"/>
          <p:nvPr/>
        </p:nvSpPr>
        <p:spPr>
          <a:xfrm>
            <a:off x="2442719" y="1769131"/>
            <a:ext cx="979055" cy="369332"/>
          </a:xfrm>
          <a:prstGeom prst="rect">
            <a:avLst/>
          </a:prstGeom>
          <a:noFill/>
        </p:spPr>
        <p:txBody>
          <a:bodyPr wrap="square" rtlCol="0">
            <a:spAutoFit/>
          </a:bodyPr>
          <a:lstStyle/>
          <a:p>
            <a:r>
              <a:rPr lang="en-US" dirty="0"/>
              <a:t>ln Q</a:t>
            </a:r>
          </a:p>
        </p:txBody>
      </p:sp>
      <p:sp>
        <p:nvSpPr>
          <p:cNvPr id="15" name="TextBox 14">
            <a:extLst>
              <a:ext uri="{FF2B5EF4-FFF2-40B4-BE49-F238E27FC236}">
                <a16:creationId xmlns:a16="http://schemas.microsoft.com/office/drawing/2014/main" id="{1D871668-F0F5-4864-BD66-A07B73F0D8D4}"/>
              </a:ext>
            </a:extLst>
          </p:cNvPr>
          <p:cNvSpPr txBox="1"/>
          <p:nvPr/>
        </p:nvSpPr>
        <p:spPr>
          <a:xfrm>
            <a:off x="7863793" y="6040521"/>
            <a:ext cx="665018" cy="369332"/>
          </a:xfrm>
          <a:prstGeom prst="rect">
            <a:avLst/>
          </a:prstGeom>
          <a:noFill/>
        </p:spPr>
        <p:txBody>
          <a:bodyPr wrap="square" rtlCol="0">
            <a:spAutoFit/>
          </a:bodyPr>
          <a:lstStyle/>
          <a:p>
            <a:r>
              <a:rPr lang="en-US" dirty="0"/>
              <a:t>ln P</a:t>
            </a:r>
          </a:p>
        </p:txBody>
      </p:sp>
      <p:cxnSp>
        <p:nvCxnSpPr>
          <p:cNvPr id="17" name="Straight Connector 16">
            <a:extLst>
              <a:ext uri="{FF2B5EF4-FFF2-40B4-BE49-F238E27FC236}">
                <a16:creationId xmlns:a16="http://schemas.microsoft.com/office/drawing/2014/main" id="{70B0A390-6614-B191-7255-40E858FC0BE9}"/>
              </a:ext>
            </a:extLst>
          </p:cNvPr>
          <p:cNvCxnSpPr>
            <a:cxnSpLocks/>
          </p:cNvCxnSpPr>
          <p:nvPr/>
        </p:nvCxnSpPr>
        <p:spPr>
          <a:xfrm>
            <a:off x="3168074" y="2004230"/>
            <a:ext cx="4701308" cy="3491406"/>
          </a:xfrm>
          <a:prstGeom prst="line">
            <a:avLst/>
          </a:prstGeom>
          <a:ln w="28575">
            <a:solidFill>
              <a:srgbClr val="70AD47"/>
            </a:solidFill>
          </a:ln>
        </p:spPr>
        <p:style>
          <a:lnRef idx="1">
            <a:schemeClr val="accent1"/>
          </a:lnRef>
          <a:fillRef idx="0">
            <a:schemeClr val="accent1"/>
          </a:fillRef>
          <a:effectRef idx="0">
            <a:schemeClr val="accent1"/>
          </a:effectRef>
          <a:fontRef idx="minor">
            <a:schemeClr val="tx1"/>
          </a:fontRef>
        </p:style>
      </p:cxnSp>
      <p:sp>
        <p:nvSpPr>
          <p:cNvPr id="18" name="Arc 17">
            <a:extLst>
              <a:ext uri="{FF2B5EF4-FFF2-40B4-BE49-F238E27FC236}">
                <a16:creationId xmlns:a16="http://schemas.microsoft.com/office/drawing/2014/main" id="{B5535197-95E2-5043-79B8-E9B72000DA1F}"/>
              </a:ext>
            </a:extLst>
          </p:cNvPr>
          <p:cNvSpPr/>
          <p:nvPr/>
        </p:nvSpPr>
        <p:spPr>
          <a:xfrm rot="5659859">
            <a:off x="3061068" y="1582797"/>
            <a:ext cx="802224" cy="556678"/>
          </a:xfrm>
          <a:prstGeom prst="arc">
            <a:avLst>
              <a:gd name="adj1" fmla="val 17812048"/>
              <a:gd name="adj2" fmla="val 20842764"/>
            </a:avLst>
          </a:prstGeom>
          <a:ln w="28575">
            <a:solidFill>
              <a:srgbClr val="70AD4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FB83BDAF-8E5B-C2BE-E200-1713907DFA56}"/>
              </a:ext>
            </a:extLst>
          </p:cNvPr>
          <p:cNvCxnSpPr/>
          <p:nvPr/>
        </p:nvCxnSpPr>
        <p:spPr>
          <a:xfrm flipV="1">
            <a:off x="3168074" y="2004230"/>
            <a:ext cx="5052288" cy="3851625"/>
          </a:xfrm>
          <a:prstGeom prst="line">
            <a:avLst/>
          </a:prstGeom>
          <a:ln w="2857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2" name="Arc 21">
            <a:extLst>
              <a:ext uri="{FF2B5EF4-FFF2-40B4-BE49-F238E27FC236}">
                <a16:creationId xmlns:a16="http://schemas.microsoft.com/office/drawing/2014/main" id="{00EB9800-A145-8FB0-085F-37AF6F32F39D}"/>
              </a:ext>
            </a:extLst>
          </p:cNvPr>
          <p:cNvSpPr/>
          <p:nvPr/>
        </p:nvSpPr>
        <p:spPr>
          <a:xfrm rot="2269474">
            <a:off x="3287468" y="5376127"/>
            <a:ext cx="603058" cy="535767"/>
          </a:xfrm>
          <a:prstGeom prst="arc">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0C692A09-A33C-F2A2-F36F-87536B8B370F}"/>
              </a:ext>
            </a:extLst>
          </p:cNvPr>
          <p:cNvCxnSpPr/>
          <p:nvPr/>
        </p:nvCxnSpPr>
        <p:spPr>
          <a:xfrm>
            <a:off x="4756727" y="3555999"/>
            <a:ext cx="23368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8671D0B-4129-999F-4F48-3E4811DFF9BD}"/>
              </a:ext>
            </a:extLst>
          </p:cNvPr>
          <p:cNvCxnSpPr/>
          <p:nvPr/>
        </p:nvCxnSpPr>
        <p:spPr>
          <a:xfrm>
            <a:off x="4756727" y="3930042"/>
            <a:ext cx="23368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ight Brace 28">
            <a:extLst>
              <a:ext uri="{FF2B5EF4-FFF2-40B4-BE49-F238E27FC236}">
                <a16:creationId xmlns:a16="http://schemas.microsoft.com/office/drawing/2014/main" id="{8BE032FF-15EF-040C-503C-A46A0400133B}"/>
              </a:ext>
            </a:extLst>
          </p:cNvPr>
          <p:cNvSpPr/>
          <p:nvPr/>
        </p:nvSpPr>
        <p:spPr>
          <a:xfrm>
            <a:off x="7204364" y="3555999"/>
            <a:ext cx="141809" cy="387927"/>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5933ADAA-A571-29C5-9C8B-3DE9F259C278}"/>
              </a:ext>
            </a:extLst>
          </p:cNvPr>
          <p:cNvSpPr txBox="1"/>
          <p:nvPr/>
        </p:nvSpPr>
        <p:spPr>
          <a:xfrm>
            <a:off x="5266081" y="5183694"/>
            <a:ext cx="455843" cy="369332"/>
          </a:xfrm>
          <a:prstGeom prst="rect">
            <a:avLst/>
          </a:prstGeom>
          <a:noFill/>
          <a:ln>
            <a:solidFill>
              <a:schemeClr val="tx1"/>
            </a:solidFill>
          </a:ln>
        </p:spPr>
        <p:txBody>
          <a:bodyPr wrap="square" rtlCol="0">
            <a:spAutoFit/>
          </a:bodyPr>
          <a:lstStyle/>
          <a:p>
            <a:pPr algn="ctr"/>
            <a:r>
              <a:rPr lang="el-GR" dirty="0"/>
              <a:t>Δ</a:t>
            </a:r>
            <a:r>
              <a:rPr lang="it-IT" dirty="0"/>
              <a:t>P</a:t>
            </a:r>
            <a:endParaRPr lang="en-US" dirty="0"/>
          </a:p>
        </p:txBody>
      </p:sp>
      <p:cxnSp>
        <p:nvCxnSpPr>
          <p:cNvPr id="32" name="Straight Connector 31">
            <a:extLst>
              <a:ext uri="{FF2B5EF4-FFF2-40B4-BE49-F238E27FC236}">
                <a16:creationId xmlns:a16="http://schemas.microsoft.com/office/drawing/2014/main" id="{292EC44C-6251-284C-58DD-1071B2465296}"/>
              </a:ext>
            </a:extLst>
          </p:cNvPr>
          <p:cNvCxnSpPr/>
          <p:nvPr/>
        </p:nvCxnSpPr>
        <p:spPr>
          <a:xfrm>
            <a:off x="5246252" y="2890982"/>
            <a:ext cx="0" cy="19396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7CBD53F-0557-3B6A-BC4E-A68A094980B8}"/>
              </a:ext>
            </a:extLst>
          </p:cNvPr>
          <p:cNvCxnSpPr/>
          <p:nvPr/>
        </p:nvCxnSpPr>
        <p:spPr>
          <a:xfrm>
            <a:off x="5721924" y="2890982"/>
            <a:ext cx="0" cy="19396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ight Brace 33">
            <a:extLst>
              <a:ext uri="{FF2B5EF4-FFF2-40B4-BE49-F238E27FC236}">
                <a16:creationId xmlns:a16="http://schemas.microsoft.com/office/drawing/2014/main" id="{EC13C4A5-2CED-768E-AD0A-5235AC0AF5BE}"/>
              </a:ext>
            </a:extLst>
          </p:cNvPr>
          <p:cNvSpPr/>
          <p:nvPr/>
        </p:nvSpPr>
        <p:spPr>
          <a:xfrm rot="5400000">
            <a:off x="5382812" y="4758899"/>
            <a:ext cx="196584" cy="444699"/>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CE5E8A10-A053-5F9E-374B-BFF5A2BEC158}"/>
              </a:ext>
            </a:extLst>
          </p:cNvPr>
          <p:cNvSpPr txBox="1"/>
          <p:nvPr/>
        </p:nvSpPr>
        <p:spPr>
          <a:xfrm>
            <a:off x="7470305" y="3565267"/>
            <a:ext cx="552825" cy="369332"/>
          </a:xfrm>
          <a:prstGeom prst="rect">
            <a:avLst/>
          </a:prstGeom>
          <a:noFill/>
          <a:ln>
            <a:solidFill>
              <a:schemeClr val="tx1"/>
            </a:solidFill>
          </a:ln>
        </p:spPr>
        <p:txBody>
          <a:bodyPr wrap="square" rtlCol="0">
            <a:spAutoFit/>
          </a:bodyPr>
          <a:lstStyle/>
          <a:p>
            <a:pPr algn="ctr"/>
            <a:r>
              <a:rPr lang="el-GR" dirty="0"/>
              <a:t>Δ</a:t>
            </a:r>
            <a:r>
              <a:rPr lang="it-IT" dirty="0"/>
              <a:t>Q</a:t>
            </a:r>
            <a:endParaRPr lang="en-US" dirty="0"/>
          </a:p>
        </p:txBody>
      </p:sp>
      <p:sp>
        <p:nvSpPr>
          <p:cNvPr id="36" name="TextBox 35">
            <a:extLst>
              <a:ext uri="{FF2B5EF4-FFF2-40B4-BE49-F238E27FC236}">
                <a16:creationId xmlns:a16="http://schemas.microsoft.com/office/drawing/2014/main" id="{0D8E2E80-B968-1B89-7BC1-9661688FEB6F}"/>
              </a:ext>
            </a:extLst>
          </p:cNvPr>
          <p:cNvSpPr txBox="1"/>
          <p:nvPr/>
        </p:nvSpPr>
        <p:spPr>
          <a:xfrm>
            <a:off x="3675474" y="1994802"/>
            <a:ext cx="420246" cy="369332"/>
          </a:xfrm>
          <a:prstGeom prst="rect">
            <a:avLst/>
          </a:prstGeom>
          <a:noFill/>
        </p:spPr>
        <p:txBody>
          <a:bodyPr wrap="square" rtlCol="0">
            <a:spAutoFit/>
          </a:bodyPr>
          <a:lstStyle/>
          <a:p>
            <a:r>
              <a:rPr lang="el-GR" dirty="0">
                <a:solidFill>
                  <a:srgbClr val="70AD47"/>
                </a:solidFill>
              </a:rPr>
              <a:t>ε</a:t>
            </a:r>
            <a:r>
              <a:rPr lang="it-IT" dirty="0">
                <a:solidFill>
                  <a:srgbClr val="70AD47"/>
                </a:solidFill>
              </a:rPr>
              <a:t>d</a:t>
            </a:r>
            <a:endParaRPr lang="en-US" dirty="0">
              <a:solidFill>
                <a:srgbClr val="70AD47"/>
              </a:solidFill>
            </a:endParaRPr>
          </a:p>
        </p:txBody>
      </p:sp>
      <p:sp>
        <p:nvSpPr>
          <p:cNvPr id="37" name="TextBox 36">
            <a:extLst>
              <a:ext uri="{FF2B5EF4-FFF2-40B4-BE49-F238E27FC236}">
                <a16:creationId xmlns:a16="http://schemas.microsoft.com/office/drawing/2014/main" id="{95A5D23F-DBCA-1CB9-3BDD-38184BF6C0A1}"/>
              </a:ext>
            </a:extLst>
          </p:cNvPr>
          <p:cNvSpPr txBox="1"/>
          <p:nvPr/>
        </p:nvSpPr>
        <p:spPr>
          <a:xfrm>
            <a:off x="3430570" y="5498052"/>
            <a:ext cx="420246" cy="369332"/>
          </a:xfrm>
          <a:prstGeom prst="rect">
            <a:avLst/>
          </a:prstGeom>
          <a:noFill/>
        </p:spPr>
        <p:txBody>
          <a:bodyPr wrap="square" rtlCol="0">
            <a:spAutoFit/>
          </a:bodyPr>
          <a:lstStyle/>
          <a:p>
            <a:r>
              <a:rPr lang="el-GR" dirty="0">
                <a:solidFill>
                  <a:srgbClr val="FF0000"/>
                </a:solidFill>
              </a:rPr>
              <a:t>ε</a:t>
            </a:r>
            <a:r>
              <a:rPr lang="it-IT" dirty="0">
                <a:solidFill>
                  <a:srgbClr val="FF0000"/>
                </a:solidFill>
              </a:rPr>
              <a:t>s</a:t>
            </a:r>
            <a:endParaRPr lang="en-US" dirty="0">
              <a:solidFill>
                <a:srgbClr val="FF0000"/>
              </a:solidFill>
            </a:endParaRPr>
          </a:p>
        </p:txBody>
      </p:sp>
      <p:sp>
        <p:nvSpPr>
          <p:cNvPr id="41" name="TextBox 40">
            <a:extLst>
              <a:ext uri="{FF2B5EF4-FFF2-40B4-BE49-F238E27FC236}">
                <a16:creationId xmlns:a16="http://schemas.microsoft.com/office/drawing/2014/main" id="{CAEAC51D-6D32-323E-6302-667C21AB2F4E}"/>
              </a:ext>
            </a:extLst>
          </p:cNvPr>
          <p:cNvSpPr txBox="1"/>
          <p:nvPr/>
        </p:nvSpPr>
        <p:spPr>
          <a:xfrm>
            <a:off x="2457161" y="5507492"/>
            <a:ext cx="420246" cy="369332"/>
          </a:xfrm>
          <a:prstGeom prst="rect">
            <a:avLst/>
          </a:prstGeom>
          <a:noFill/>
        </p:spPr>
        <p:txBody>
          <a:bodyPr wrap="square" rtlCol="0">
            <a:spAutoFit/>
          </a:bodyPr>
          <a:lstStyle/>
          <a:p>
            <a:r>
              <a:rPr lang="el-GR" dirty="0">
                <a:solidFill>
                  <a:srgbClr val="FF0000"/>
                </a:solidFill>
              </a:rPr>
              <a:t>ε</a:t>
            </a:r>
            <a:r>
              <a:rPr lang="it-IT" dirty="0">
                <a:solidFill>
                  <a:srgbClr val="FF0000"/>
                </a:solidFill>
              </a:rPr>
              <a:t>s</a:t>
            </a:r>
            <a:endParaRPr lang="en-US" dirty="0">
              <a:solidFill>
                <a:srgbClr val="FF0000"/>
              </a:solidFill>
            </a:endParaRPr>
          </a:p>
        </p:txBody>
      </p:sp>
      <p:sp>
        <p:nvSpPr>
          <p:cNvPr id="42" name="Arc 41">
            <a:extLst>
              <a:ext uri="{FF2B5EF4-FFF2-40B4-BE49-F238E27FC236}">
                <a16:creationId xmlns:a16="http://schemas.microsoft.com/office/drawing/2014/main" id="{51C3656A-AB3C-E6A4-8356-9475EEFF02A0}"/>
              </a:ext>
            </a:extLst>
          </p:cNvPr>
          <p:cNvSpPr/>
          <p:nvPr/>
        </p:nvSpPr>
        <p:spPr>
          <a:xfrm rot="2269474">
            <a:off x="2360547" y="5387604"/>
            <a:ext cx="603058" cy="535767"/>
          </a:xfrm>
          <a:prstGeom prst="arc">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53" name="Group 52">
            <a:extLst>
              <a:ext uri="{FF2B5EF4-FFF2-40B4-BE49-F238E27FC236}">
                <a16:creationId xmlns:a16="http://schemas.microsoft.com/office/drawing/2014/main" id="{E780B6DF-3911-6101-9C39-E944F1843A92}"/>
              </a:ext>
            </a:extLst>
          </p:cNvPr>
          <p:cNvGrpSpPr/>
          <p:nvPr/>
        </p:nvGrpSpPr>
        <p:grpSpPr>
          <a:xfrm>
            <a:off x="8876145" y="1607128"/>
            <a:ext cx="2780146" cy="1821872"/>
            <a:chOff x="8876145" y="1607127"/>
            <a:chExt cx="2780146" cy="2050473"/>
          </a:xfrm>
        </p:grpSpPr>
        <p:sp>
          <p:nvSpPr>
            <p:cNvPr id="49" name="Rectangle: Folded Corner 48">
              <a:extLst>
                <a:ext uri="{FF2B5EF4-FFF2-40B4-BE49-F238E27FC236}">
                  <a16:creationId xmlns:a16="http://schemas.microsoft.com/office/drawing/2014/main" id="{64E39623-1415-E90B-0D68-A8F32A27FDC0}"/>
                </a:ext>
              </a:extLst>
            </p:cNvPr>
            <p:cNvSpPr/>
            <p:nvPr/>
          </p:nvSpPr>
          <p:spPr>
            <a:xfrm>
              <a:off x="8876145" y="1607127"/>
              <a:ext cx="2780146" cy="2050473"/>
            </a:xfrm>
            <a:prstGeom prst="foldedCorner">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9CBB786E-9A88-A260-CC1E-49D222CD4137}"/>
                </a:ext>
              </a:extLst>
            </p:cNvPr>
            <p:cNvCxnSpPr>
              <a:cxnSpLocks/>
            </p:cNvCxnSpPr>
            <p:nvPr/>
          </p:nvCxnSpPr>
          <p:spPr>
            <a:xfrm>
              <a:off x="9052786" y="2659090"/>
              <a:ext cx="515323" cy="0"/>
            </a:xfrm>
            <a:prstGeom prst="line">
              <a:avLst/>
            </a:prstGeom>
            <a:ln w="2857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34058B9-681C-AEB2-14DE-36F0B4032F82}"/>
                </a:ext>
              </a:extLst>
            </p:cNvPr>
            <p:cNvCxnSpPr>
              <a:cxnSpLocks/>
            </p:cNvCxnSpPr>
            <p:nvPr/>
          </p:nvCxnSpPr>
          <p:spPr>
            <a:xfrm>
              <a:off x="9052786" y="2282122"/>
              <a:ext cx="515323" cy="0"/>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C3D8ED9-F2D8-408F-ABAF-5C4C3ED6578B}"/>
                </a:ext>
              </a:extLst>
            </p:cNvPr>
            <p:cNvCxnSpPr>
              <a:cxnSpLocks/>
            </p:cNvCxnSpPr>
            <p:nvPr/>
          </p:nvCxnSpPr>
          <p:spPr>
            <a:xfrm>
              <a:off x="9052787" y="1844574"/>
              <a:ext cx="515323" cy="0"/>
            </a:xfrm>
            <a:prstGeom prst="line">
              <a:avLst/>
            </a:prstGeom>
            <a:ln w="28575">
              <a:solidFill>
                <a:srgbClr val="70AD47"/>
              </a:solidFill>
              <a:prstDash val="soli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EB311E4A-3E0B-5848-2163-9E1E611AFC66}"/>
                </a:ext>
              </a:extLst>
            </p:cNvPr>
            <p:cNvSpPr txBox="1"/>
            <p:nvPr/>
          </p:nvSpPr>
          <p:spPr>
            <a:xfrm>
              <a:off x="9762836" y="1718702"/>
              <a:ext cx="1384686" cy="307777"/>
            </a:xfrm>
            <a:prstGeom prst="rect">
              <a:avLst/>
            </a:prstGeom>
            <a:noFill/>
          </p:spPr>
          <p:txBody>
            <a:bodyPr wrap="square" rtlCol="0">
              <a:spAutoFit/>
            </a:bodyPr>
            <a:lstStyle/>
            <a:p>
              <a:r>
                <a:rPr lang="en-US" sz="1400" dirty="0"/>
                <a:t>Demand curve</a:t>
              </a:r>
            </a:p>
          </p:txBody>
        </p:sp>
        <p:sp>
          <p:nvSpPr>
            <p:cNvPr id="51" name="TextBox 50">
              <a:extLst>
                <a:ext uri="{FF2B5EF4-FFF2-40B4-BE49-F238E27FC236}">
                  <a16:creationId xmlns:a16="http://schemas.microsoft.com/office/drawing/2014/main" id="{09833255-E8BC-6607-0947-7BB8817979D1}"/>
                </a:ext>
              </a:extLst>
            </p:cNvPr>
            <p:cNvSpPr txBox="1"/>
            <p:nvPr/>
          </p:nvSpPr>
          <p:spPr>
            <a:xfrm>
              <a:off x="9762835" y="2085065"/>
              <a:ext cx="1384686" cy="307777"/>
            </a:xfrm>
            <a:prstGeom prst="rect">
              <a:avLst/>
            </a:prstGeom>
            <a:noFill/>
          </p:spPr>
          <p:txBody>
            <a:bodyPr wrap="square" rtlCol="0">
              <a:spAutoFit/>
            </a:bodyPr>
            <a:lstStyle/>
            <a:p>
              <a:r>
                <a:rPr lang="en-US" sz="1400" dirty="0"/>
                <a:t>Supply curve</a:t>
              </a:r>
            </a:p>
          </p:txBody>
        </p:sp>
        <p:sp>
          <p:nvSpPr>
            <p:cNvPr id="52" name="TextBox 51">
              <a:extLst>
                <a:ext uri="{FF2B5EF4-FFF2-40B4-BE49-F238E27FC236}">
                  <a16:creationId xmlns:a16="http://schemas.microsoft.com/office/drawing/2014/main" id="{474EA875-0E0C-0249-F5F8-D1841E3ABEC1}"/>
                </a:ext>
              </a:extLst>
            </p:cNvPr>
            <p:cNvSpPr txBox="1"/>
            <p:nvPr/>
          </p:nvSpPr>
          <p:spPr>
            <a:xfrm>
              <a:off x="9762834" y="2505200"/>
              <a:ext cx="1727202" cy="831349"/>
            </a:xfrm>
            <a:prstGeom prst="rect">
              <a:avLst/>
            </a:prstGeom>
            <a:noFill/>
          </p:spPr>
          <p:txBody>
            <a:bodyPr wrap="square" rtlCol="0">
              <a:spAutoFit/>
            </a:bodyPr>
            <a:lstStyle/>
            <a:p>
              <a:r>
                <a:rPr lang="en-US" sz="1400" dirty="0"/>
                <a:t>Right/down shifted supply curve after price disruption</a:t>
              </a:r>
            </a:p>
          </p:txBody>
        </p:sp>
      </p:grpSp>
      <p:cxnSp>
        <p:nvCxnSpPr>
          <p:cNvPr id="55" name="Straight Connector 54">
            <a:extLst>
              <a:ext uri="{FF2B5EF4-FFF2-40B4-BE49-F238E27FC236}">
                <a16:creationId xmlns:a16="http://schemas.microsoft.com/office/drawing/2014/main" id="{5D81A7DE-D216-1DD9-584A-46E1AA95FBA0}"/>
              </a:ext>
            </a:extLst>
          </p:cNvPr>
          <p:cNvCxnSpPr>
            <a:cxnSpLocks/>
          </p:cNvCxnSpPr>
          <p:nvPr/>
        </p:nvCxnSpPr>
        <p:spPr>
          <a:xfrm>
            <a:off x="3186543" y="2001592"/>
            <a:ext cx="1339275"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8B21EB71-AD01-6FE4-20A1-381E53B7D12F}"/>
              </a:ext>
            </a:extLst>
          </p:cNvPr>
          <p:cNvCxnSpPr/>
          <p:nvPr/>
        </p:nvCxnSpPr>
        <p:spPr>
          <a:xfrm flipV="1">
            <a:off x="2203548" y="1999566"/>
            <a:ext cx="5052288" cy="3851625"/>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3715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16316C-E7C4-3238-8885-3D817F42FAF1}"/>
              </a:ext>
            </a:extLst>
          </p:cNvPr>
          <p:cNvSpPr>
            <a:spLocks noGrp="1"/>
          </p:cNvSpPr>
          <p:nvPr>
            <p:ph idx="13"/>
          </p:nvPr>
        </p:nvSpPr>
        <p:spPr>
          <a:xfrm>
            <a:off x="653844" y="1204547"/>
            <a:ext cx="10884311" cy="5064369"/>
          </a:xfrm>
        </p:spPr>
        <p:txBody>
          <a:bodyPr anchor="ctr"/>
          <a:lstStyle/>
          <a:p>
            <a:r>
              <a:rPr lang="it-IT" dirty="0" err="1"/>
              <a:t>Furthermore</a:t>
            </a:r>
            <a:r>
              <a:rPr lang="it-IT" dirty="0"/>
              <a:t>, TEMOA framework </a:t>
            </a:r>
            <a:r>
              <a:rPr lang="it-IT" dirty="0" err="1"/>
              <a:t>already</a:t>
            </a:r>
            <a:r>
              <a:rPr lang="it-IT" dirty="0"/>
              <a:t> </a:t>
            </a:r>
            <a:r>
              <a:rPr lang="it-IT" dirty="0" err="1"/>
              <a:t>includes</a:t>
            </a:r>
            <a:r>
              <a:rPr lang="it-IT" dirty="0"/>
              <a:t> </a:t>
            </a:r>
            <a:r>
              <a:rPr lang="it-IT" dirty="0" err="1"/>
              <a:t>technologic</a:t>
            </a:r>
            <a:r>
              <a:rPr lang="it-IT" dirty="0"/>
              <a:t> </a:t>
            </a:r>
            <a:r>
              <a:rPr lang="it-IT" dirty="0" err="1"/>
              <a:t>development</a:t>
            </a:r>
            <a:r>
              <a:rPr lang="it-IT" dirty="0"/>
              <a:t>, in </a:t>
            </a:r>
            <a:r>
              <a:rPr lang="it-IT" dirty="0" err="1"/>
              <a:t>terms</a:t>
            </a:r>
            <a:r>
              <a:rPr lang="it-IT" dirty="0"/>
              <a:t> of </a:t>
            </a:r>
            <a:r>
              <a:rPr lang="it-IT" dirty="0" err="1"/>
              <a:t>efficiencies</a:t>
            </a:r>
            <a:r>
              <a:rPr lang="it-IT" dirty="0"/>
              <a:t> and </a:t>
            </a:r>
            <a:r>
              <a:rPr lang="it-IT" dirty="0" err="1"/>
              <a:t>substitutes</a:t>
            </a:r>
            <a:r>
              <a:rPr lang="it-IT" dirty="0"/>
              <a:t>:</a:t>
            </a:r>
          </a:p>
          <a:p>
            <a:pPr lvl="1"/>
            <a:r>
              <a:rPr lang="it-IT" dirty="0" err="1"/>
              <a:t>These</a:t>
            </a:r>
            <a:r>
              <a:rPr lang="it-IT" dirty="0"/>
              <a:t> features can </a:t>
            </a:r>
            <a:r>
              <a:rPr lang="it-IT" dirty="0" err="1"/>
              <a:t>intercept</a:t>
            </a:r>
            <a:r>
              <a:rPr lang="it-IT" dirty="0"/>
              <a:t> some dynamics </a:t>
            </a:r>
            <a:r>
              <a:rPr lang="it-IT" dirty="0" err="1"/>
              <a:t>concerning</a:t>
            </a:r>
            <a:r>
              <a:rPr lang="it-IT" dirty="0"/>
              <a:t> the </a:t>
            </a:r>
            <a:r>
              <a:rPr lang="it-IT" i="1" dirty="0" err="1">
                <a:solidFill>
                  <a:schemeClr val="accent1"/>
                </a:solidFill>
              </a:rPr>
              <a:t>response</a:t>
            </a:r>
            <a:r>
              <a:rPr lang="it-IT" i="1" dirty="0">
                <a:solidFill>
                  <a:schemeClr val="accent1"/>
                </a:solidFill>
              </a:rPr>
              <a:t> of the system</a:t>
            </a:r>
            <a:r>
              <a:rPr lang="it-IT" dirty="0">
                <a:solidFill>
                  <a:schemeClr val="accent1"/>
                </a:solidFill>
              </a:rPr>
              <a:t> (</a:t>
            </a:r>
            <a:r>
              <a:rPr lang="it-IT" dirty="0" err="1">
                <a:solidFill>
                  <a:schemeClr val="accent1"/>
                </a:solidFill>
              </a:rPr>
              <a:t>TEMOA_Europe</a:t>
            </a:r>
            <a:r>
              <a:rPr lang="it-IT" dirty="0">
                <a:solidFill>
                  <a:schemeClr val="accent1"/>
                </a:solidFill>
              </a:rPr>
              <a:t>) to supply </a:t>
            </a:r>
            <a:r>
              <a:rPr lang="it-IT" dirty="0" err="1">
                <a:solidFill>
                  <a:schemeClr val="accent1"/>
                </a:solidFill>
              </a:rPr>
              <a:t>shortages</a:t>
            </a:r>
            <a:r>
              <a:rPr lang="it-IT" dirty="0">
                <a:solidFill>
                  <a:schemeClr val="accent1"/>
                </a:solidFill>
              </a:rPr>
              <a:t> or </a:t>
            </a:r>
            <a:r>
              <a:rPr lang="it-IT" dirty="0" err="1">
                <a:solidFill>
                  <a:schemeClr val="accent1"/>
                </a:solidFill>
              </a:rPr>
              <a:t>economic</a:t>
            </a:r>
            <a:r>
              <a:rPr lang="it-IT" dirty="0">
                <a:solidFill>
                  <a:schemeClr val="accent1"/>
                </a:solidFill>
              </a:rPr>
              <a:t> </a:t>
            </a:r>
            <a:r>
              <a:rPr lang="it-IT" dirty="0" err="1">
                <a:solidFill>
                  <a:schemeClr val="accent1"/>
                </a:solidFill>
              </a:rPr>
              <a:t>cycles</a:t>
            </a:r>
            <a:endParaRPr lang="it-IT" dirty="0">
              <a:solidFill>
                <a:schemeClr val="accent1"/>
              </a:solidFill>
            </a:endParaRPr>
          </a:p>
          <a:p>
            <a:pPr lvl="1"/>
            <a:endParaRPr lang="it-IT" dirty="0">
              <a:solidFill>
                <a:schemeClr val="accent1"/>
              </a:solidFill>
            </a:endParaRPr>
          </a:p>
          <a:p>
            <a:r>
              <a:rPr lang="it-IT" dirty="0"/>
              <a:t>Price </a:t>
            </a:r>
            <a:r>
              <a:rPr lang="it-IT" dirty="0" err="1"/>
              <a:t>increase</a:t>
            </a:r>
            <a:r>
              <a:rPr lang="it-IT" dirty="0"/>
              <a:t> following a disruption scenario </a:t>
            </a:r>
            <a:r>
              <a:rPr lang="it-IT" dirty="0" err="1"/>
              <a:t>is</a:t>
            </a:r>
            <a:r>
              <a:rPr lang="it-IT" dirty="0"/>
              <a:t> </a:t>
            </a:r>
            <a:r>
              <a:rPr lang="it-IT" dirty="0" err="1"/>
              <a:t>different</a:t>
            </a:r>
            <a:r>
              <a:rPr lang="it-IT" dirty="0"/>
              <a:t> from a </a:t>
            </a:r>
            <a:r>
              <a:rPr lang="it-IT" dirty="0" err="1"/>
              <a:t>normal</a:t>
            </a:r>
            <a:r>
              <a:rPr lang="it-IT" dirty="0"/>
              <a:t> price </a:t>
            </a:r>
            <a:r>
              <a:rPr lang="it-IT" dirty="0" err="1"/>
              <a:t>increase</a:t>
            </a:r>
            <a:r>
              <a:rPr lang="it-IT" dirty="0"/>
              <a:t> </a:t>
            </a:r>
            <a:r>
              <a:rPr lang="it-IT" dirty="0" err="1"/>
              <a:t>linked</a:t>
            </a:r>
            <a:r>
              <a:rPr lang="it-IT" dirty="0"/>
              <a:t> to a production surge. </a:t>
            </a:r>
            <a:r>
              <a:rPr lang="it-IT" dirty="0" err="1"/>
              <a:t>If</a:t>
            </a:r>
            <a:r>
              <a:rPr lang="it-IT" dirty="0"/>
              <a:t> the </a:t>
            </a:r>
            <a:r>
              <a:rPr lang="it-IT" dirty="0" err="1"/>
              <a:t>aim</a:t>
            </a:r>
            <a:r>
              <a:rPr lang="it-IT" dirty="0"/>
              <a:t> of </a:t>
            </a:r>
            <a:r>
              <a:rPr lang="it-IT" dirty="0" err="1"/>
              <a:t>this</a:t>
            </a:r>
            <a:r>
              <a:rPr lang="it-IT" dirty="0"/>
              <a:t> </a:t>
            </a:r>
            <a:r>
              <a:rPr lang="it-IT" dirty="0" err="1"/>
              <a:t>analysis</a:t>
            </a:r>
            <a:r>
              <a:rPr lang="it-IT" dirty="0"/>
              <a:t> </a:t>
            </a:r>
            <a:r>
              <a:rPr lang="it-IT" dirty="0" err="1"/>
              <a:t>is</a:t>
            </a:r>
            <a:r>
              <a:rPr lang="it-IT" dirty="0"/>
              <a:t> to model supply disruption, </a:t>
            </a:r>
            <a:r>
              <a:rPr lang="it-IT" dirty="0" err="1">
                <a:solidFill>
                  <a:schemeClr val="accent1"/>
                </a:solidFill>
              </a:rPr>
              <a:t>maybe</a:t>
            </a:r>
            <a:r>
              <a:rPr lang="it-IT" dirty="0">
                <a:solidFill>
                  <a:schemeClr val="accent1"/>
                </a:solidFill>
              </a:rPr>
              <a:t> </a:t>
            </a:r>
            <a:r>
              <a:rPr lang="it-IT" dirty="0" err="1">
                <a:solidFill>
                  <a:schemeClr val="accent1"/>
                </a:solidFill>
              </a:rPr>
              <a:t>it’s</a:t>
            </a:r>
            <a:r>
              <a:rPr lang="it-IT" dirty="0">
                <a:solidFill>
                  <a:schemeClr val="accent1"/>
                </a:solidFill>
              </a:rPr>
              <a:t> </a:t>
            </a:r>
            <a:r>
              <a:rPr lang="it-IT" dirty="0" err="1">
                <a:solidFill>
                  <a:schemeClr val="accent1"/>
                </a:solidFill>
              </a:rPr>
              <a:t>better</a:t>
            </a:r>
            <a:r>
              <a:rPr lang="it-IT" dirty="0">
                <a:solidFill>
                  <a:schemeClr val="accent1"/>
                </a:solidFill>
              </a:rPr>
              <a:t> to </a:t>
            </a:r>
            <a:r>
              <a:rPr lang="it-IT" dirty="0" err="1">
                <a:solidFill>
                  <a:schemeClr val="accent1"/>
                </a:solidFill>
              </a:rPr>
              <a:t>consider</a:t>
            </a:r>
            <a:r>
              <a:rPr lang="it-IT" dirty="0">
                <a:solidFill>
                  <a:schemeClr val="accent1"/>
                </a:solidFill>
              </a:rPr>
              <a:t> just demand </a:t>
            </a:r>
            <a:r>
              <a:rPr lang="it-IT" dirty="0" err="1">
                <a:solidFill>
                  <a:schemeClr val="accent1"/>
                </a:solidFill>
              </a:rPr>
              <a:t>elasticity</a:t>
            </a:r>
            <a:r>
              <a:rPr lang="it-IT" dirty="0">
                <a:solidFill>
                  <a:schemeClr val="accent1"/>
                </a:solidFill>
              </a:rPr>
              <a:t>, more </a:t>
            </a:r>
            <a:r>
              <a:rPr lang="it-IT" dirty="0" err="1">
                <a:solidFill>
                  <a:schemeClr val="accent1"/>
                </a:solidFill>
              </a:rPr>
              <a:t>linked</a:t>
            </a:r>
            <a:r>
              <a:rPr lang="it-IT" dirty="0">
                <a:solidFill>
                  <a:schemeClr val="accent1"/>
                </a:solidFill>
              </a:rPr>
              <a:t> to the </a:t>
            </a:r>
            <a:r>
              <a:rPr lang="it-IT" dirty="0" err="1">
                <a:solidFill>
                  <a:schemeClr val="accent1"/>
                </a:solidFill>
              </a:rPr>
              <a:t>response</a:t>
            </a:r>
            <a:r>
              <a:rPr lang="it-IT" dirty="0">
                <a:solidFill>
                  <a:schemeClr val="accent1"/>
                </a:solidFill>
              </a:rPr>
              <a:t> of price </a:t>
            </a:r>
            <a:r>
              <a:rPr lang="it-IT" dirty="0" err="1">
                <a:solidFill>
                  <a:schemeClr val="accent1"/>
                </a:solidFill>
              </a:rPr>
              <a:t>increase</a:t>
            </a:r>
            <a:r>
              <a:rPr lang="it-IT" dirty="0">
                <a:solidFill>
                  <a:schemeClr val="accent1"/>
                </a:solidFill>
              </a:rPr>
              <a:t> due to a supply disruption</a:t>
            </a:r>
          </a:p>
          <a:p>
            <a:endParaRPr lang="en-US" dirty="0"/>
          </a:p>
        </p:txBody>
      </p:sp>
      <p:sp>
        <p:nvSpPr>
          <p:cNvPr id="3" name="Title 2">
            <a:extLst>
              <a:ext uri="{FF2B5EF4-FFF2-40B4-BE49-F238E27FC236}">
                <a16:creationId xmlns:a16="http://schemas.microsoft.com/office/drawing/2014/main" id="{73CCD16F-1C84-A6AF-1250-7EAAF00BD4EB}"/>
              </a:ext>
            </a:extLst>
          </p:cNvPr>
          <p:cNvSpPr>
            <a:spLocks noGrp="1"/>
          </p:cNvSpPr>
          <p:nvPr>
            <p:ph type="title"/>
          </p:nvPr>
        </p:nvSpPr>
        <p:spPr/>
        <p:txBody>
          <a:bodyPr/>
          <a:lstStyle/>
          <a:p>
            <a:r>
              <a:rPr lang="en-US" dirty="0"/>
              <a:t>Price elasticity of demand and supply –</a:t>
            </a:r>
            <a:br>
              <a:rPr lang="en-US" dirty="0"/>
            </a:br>
            <a:r>
              <a:rPr lang="en-US" dirty="0"/>
              <a:t>“Disruption” vs. “business‑cycle”</a:t>
            </a:r>
          </a:p>
        </p:txBody>
      </p:sp>
      <p:pic>
        <p:nvPicPr>
          <p:cNvPr id="4" name="Picture 3">
            <a:extLst>
              <a:ext uri="{FF2B5EF4-FFF2-40B4-BE49-F238E27FC236}">
                <a16:creationId xmlns:a16="http://schemas.microsoft.com/office/drawing/2014/main" id="{927889AB-73A9-C849-0C3E-798E370ABCF6}"/>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7553130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normAutofit fontScale="92500" lnSpcReduction="20000"/>
          </a:bodyPr>
          <a:lstStyle/>
          <a:p>
            <a:pPr marL="0" indent="0">
              <a:buNone/>
            </a:pPr>
            <a:r>
              <a:rPr lang="en-US" dirty="0"/>
              <a:t>NRC. 2008. Minerals, Critical Minerals, and the U.S. Economy</a:t>
            </a:r>
          </a:p>
          <a:p>
            <a:r>
              <a:rPr lang="en-US" dirty="0"/>
              <a:t>The impact of a supply disruption of the raw material </a:t>
            </a:r>
          </a:p>
          <a:p>
            <a:r>
              <a:rPr lang="en-US" dirty="0"/>
              <a:t>The probability that the supply of the material is disrupted</a:t>
            </a:r>
          </a:p>
          <a:p>
            <a:pPr lvl="1"/>
            <a:endParaRPr lang="en-US" dirty="0"/>
          </a:p>
          <a:p>
            <a:pPr marL="0" indent="0">
              <a:buNone/>
            </a:pPr>
            <a:r>
              <a:rPr lang="it-IT" dirty="0"/>
              <a:t>IRTC Training Course </a:t>
            </a:r>
            <a:r>
              <a:rPr lang="it-IT" dirty="0" err="1"/>
              <a:t>Raw</a:t>
            </a:r>
            <a:r>
              <a:rPr lang="it-IT" dirty="0"/>
              <a:t> </a:t>
            </a:r>
            <a:r>
              <a:rPr lang="it-IT" dirty="0" err="1"/>
              <a:t>Materials</a:t>
            </a:r>
            <a:r>
              <a:rPr lang="it-IT" dirty="0"/>
              <a:t> Risk Management, </a:t>
            </a:r>
            <a:r>
              <a:rPr lang="it-IT" dirty="0" err="1"/>
              <a:t>about</a:t>
            </a:r>
            <a:r>
              <a:rPr lang="it-IT" dirty="0"/>
              <a:t> </a:t>
            </a:r>
            <a:r>
              <a:rPr lang="it-IT" dirty="0">
                <a:solidFill>
                  <a:schemeClr val="accent1"/>
                </a:solidFill>
              </a:rPr>
              <a:t>risk for </a:t>
            </a:r>
            <a:r>
              <a:rPr lang="it-IT" dirty="0" err="1">
                <a:solidFill>
                  <a:schemeClr val="accent1"/>
                </a:solidFill>
              </a:rPr>
              <a:t>Company’s</a:t>
            </a:r>
            <a:r>
              <a:rPr lang="it-IT" dirty="0">
                <a:solidFill>
                  <a:schemeClr val="accent1"/>
                </a:solidFill>
              </a:rPr>
              <a:t> </a:t>
            </a:r>
            <a:r>
              <a:rPr lang="it-IT" dirty="0" err="1">
                <a:solidFill>
                  <a:schemeClr val="accent1"/>
                </a:solidFill>
              </a:rPr>
              <a:t>perspective</a:t>
            </a:r>
            <a:r>
              <a:rPr lang="it-IT" dirty="0"/>
              <a:t>:</a:t>
            </a:r>
          </a:p>
          <a:p>
            <a:r>
              <a:rPr lang="en-US" dirty="0">
                <a:solidFill>
                  <a:schemeClr val="accent1"/>
                </a:solidFill>
              </a:rPr>
              <a:t>Sudden</a:t>
            </a:r>
            <a:r>
              <a:rPr lang="en-US" dirty="0"/>
              <a:t> and/or </a:t>
            </a:r>
            <a:r>
              <a:rPr lang="en-US" dirty="0">
                <a:solidFill>
                  <a:schemeClr val="accent1"/>
                </a:solidFill>
              </a:rPr>
              <a:t>substantial</a:t>
            </a:r>
            <a:r>
              <a:rPr lang="en-US" dirty="0"/>
              <a:t> changes in price</a:t>
            </a:r>
          </a:p>
          <a:p>
            <a:r>
              <a:rPr lang="en-US" dirty="0">
                <a:solidFill>
                  <a:schemeClr val="accent1"/>
                </a:solidFill>
              </a:rPr>
              <a:t>Supply disruption </a:t>
            </a:r>
            <a:r>
              <a:rPr lang="en-US" dirty="0"/>
              <a:t>(geopolitical, export restriction, strikes, by‑product constraints) is different from a </a:t>
            </a:r>
            <a:r>
              <a:rPr lang="en-US" dirty="0">
                <a:solidFill>
                  <a:schemeClr val="accent1"/>
                </a:solidFill>
              </a:rPr>
              <a:t>cyclical upswing </a:t>
            </a:r>
            <a:r>
              <a:rPr lang="en-US" dirty="0"/>
              <a:t>driven by demand booms. </a:t>
            </a:r>
          </a:p>
          <a:p>
            <a:pPr lvl="1"/>
            <a:endParaRPr lang="en-US" dirty="0"/>
          </a:p>
          <a:p>
            <a:pPr marL="0" indent="0">
              <a:buNone/>
            </a:pPr>
            <a:r>
              <a:rPr lang="it-IT" dirty="0" err="1"/>
              <a:t>Cuddington</a:t>
            </a:r>
            <a:r>
              <a:rPr lang="it-IT" dirty="0"/>
              <a:t>, J. T., &amp; </a:t>
            </a:r>
            <a:r>
              <a:rPr lang="it-IT" dirty="0" err="1"/>
              <a:t>Jerrett</a:t>
            </a:r>
            <a:r>
              <a:rPr lang="it-IT" dirty="0"/>
              <a:t>, D. (2008). Super </a:t>
            </a:r>
            <a:r>
              <a:rPr lang="it-IT" dirty="0" err="1"/>
              <a:t>cycles</a:t>
            </a:r>
            <a:r>
              <a:rPr lang="it-IT" dirty="0"/>
              <a:t> in </a:t>
            </a:r>
            <a:r>
              <a:rPr lang="it-IT" dirty="0" err="1"/>
              <a:t>real</a:t>
            </a:r>
            <a:r>
              <a:rPr lang="it-IT" dirty="0"/>
              <a:t> metals prices?</a:t>
            </a:r>
            <a:endParaRPr lang="en-US" dirty="0"/>
          </a:p>
          <a:p>
            <a:r>
              <a:rPr lang="en-US" dirty="0"/>
              <a:t>For </a:t>
            </a:r>
            <a:r>
              <a:rPr lang="en-US" dirty="0">
                <a:solidFill>
                  <a:schemeClr val="accent1"/>
                </a:solidFill>
              </a:rPr>
              <a:t>mild price increases</a:t>
            </a:r>
            <a:r>
              <a:rPr lang="en-US" dirty="0"/>
              <a:t>, it is reasonable to treat them as </a:t>
            </a:r>
            <a:r>
              <a:rPr lang="en-US" dirty="0">
                <a:solidFill>
                  <a:schemeClr val="accent1"/>
                </a:solidFill>
              </a:rPr>
              <a:t>cyclical tightness </a:t>
            </a:r>
            <a:r>
              <a:rPr lang="en-US" dirty="0"/>
              <a:t>rather than true disruptions—this aligns with the “super‑cycle” literature that attributes long multi‑year upswings largely to demand (industrialization) rather than acute supply loss.</a:t>
            </a:r>
          </a:p>
          <a:p>
            <a:pPr lvl="1"/>
            <a:r>
              <a:rPr lang="en-US" dirty="0"/>
              <a:t>Kind of low-impact, long-run clusters</a:t>
            </a:r>
          </a:p>
          <a:p>
            <a:pPr lvl="1"/>
            <a:endParaRPr lang="en-US" dirty="0"/>
          </a:p>
          <a:p>
            <a:pPr lvl="1"/>
            <a:endParaRPr dirty="0"/>
          </a:p>
        </p:txBody>
      </p:sp>
      <p:sp>
        <p:nvSpPr>
          <p:cNvPr id="3" name="Title 2"/>
          <p:cNvSpPr>
            <a:spLocks noGrp="1"/>
          </p:cNvSpPr>
          <p:nvPr>
            <p:ph type="title"/>
          </p:nvPr>
        </p:nvSpPr>
        <p:spPr/>
        <p:txBody>
          <a:bodyPr>
            <a:normAutofit/>
          </a:bodyPr>
          <a:lstStyle/>
          <a:p>
            <a:r>
              <a:rPr lang="en-US" dirty="0"/>
              <a:t>Price elasticity of demand and supply –</a:t>
            </a:r>
            <a:br>
              <a:rPr lang="en-US" dirty="0"/>
            </a:br>
            <a:r>
              <a:rPr lang="en-US" dirty="0"/>
              <a:t>“Disruption” vs. “business‑cycle”</a:t>
            </a:r>
            <a:endParaRPr dirty="0"/>
          </a:p>
        </p:txBody>
      </p:sp>
      <p:grpSp>
        <p:nvGrpSpPr>
          <p:cNvPr id="8" name="Group 7">
            <a:extLst>
              <a:ext uri="{FF2B5EF4-FFF2-40B4-BE49-F238E27FC236}">
                <a16:creationId xmlns:a16="http://schemas.microsoft.com/office/drawing/2014/main" id="{BBE57E7B-75FC-139C-72ED-D282DC3AFD4F}"/>
              </a:ext>
            </a:extLst>
          </p:cNvPr>
          <p:cNvGrpSpPr/>
          <p:nvPr/>
        </p:nvGrpSpPr>
        <p:grpSpPr>
          <a:xfrm>
            <a:off x="8424319" y="1502591"/>
            <a:ext cx="2925995" cy="603298"/>
            <a:chOff x="7185890" y="2000071"/>
            <a:chExt cx="3414350" cy="899463"/>
          </a:xfrm>
        </p:grpSpPr>
        <p:sp>
          <p:nvSpPr>
            <p:cNvPr id="4" name="Right Brace 3">
              <a:extLst>
                <a:ext uri="{FF2B5EF4-FFF2-40B4-BE49-F238E27FC236}">
                  <a16:creationId xmlns:a16="http://schemas.microsoft.com/office/drawing/2014/main" id="{E4B36920-C9F3-9D1C-D25D-53B639FEB8B2}"/>
                </a:ext>
              </a:extLst>
            </p:cNvPr>
            <p:cNvSpPr/>
            <p:nvPr/>
          </p:nvSpPr>
          <p:spPr>
            <a:xfrm>
              <a:off x="7185890" y="2022764"/>
              <a:ext cx="184725" cy="876770"/>
            </a:xfrm>
            <a:prstGeom prst="righ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109CD0D8-94F4-CD37-12E8-49873566CFE1}"/>
                </a:ext>
              </a:extLst>
            </p:cNvPr>
            <p:cNvSpPr txBox="1"/>
            <p:nvPr/>
          </p:nvSpPr>
          <p:spPr>
            <a:xfrm>
              <a:off x="7913632" y="2000071"/>
              <a:ext cx="2686608" cy="780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1400" dirty="0"/>
                <a:t>This is exactly what done in clustering analysis!</a:t>
              </a:r>
            </a:p>
          </p:txBody>
        </p:sp>
        <p:cxnSp>
          <p:nvCxnSpPr>
            <p:cNvPr id="7" name="Straight Arrow Connector 6">
              <a:extLst>
                <a:ext uri="{FF2B5EF4-FFF2-40B4-BE49-F238E27FC236}">
                  <a16:creationId xmlns:a16="http://schemas.microsoft.com/office/drawing/2014/main" id="{16509AF7-3D78-B762-94AA-11264E466F77}"/>
                </a:ext>
              </a:extLst>
            </p:cNvPr>
            <p:cNvCxnSpPr>
              <a:cxnSpLocks/>
            </p:cNvCxnSpPr>
            <p:nvPr/>
          </p:nvCxnSpPr>
          <p:spPr>
            <a:xfrm>
              <a:off x="7507228" y="2401454"/>
              <a:ext cx="269790"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pic>
        <p:nvPicPr>
          <p:cNvPr id="6" name="Picture 5">
            <a:extLst>
              <a:ext uri="{FF2B5EF4-FFF2-40B4-BE49-F238E27FC236}">
                <a16:creationId xmlns:a16="http://schemas.microsoft.com/office/drawing/2014/main" id="{64707107-762D-0A74-6B20-CE8AE4C3597C}"/>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16950668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nchor="ctr">
            <a:normAutofit/>
          </a:bodyPr>
          <a:lstStyle/>
          <a:p>
            <a:r>
              <a:rPr lang="it-IT" dirty="0"/>
              <a:t>In TEMOA:</a:t>
            </a:r>
          </a:p>
          <a:p>
            <a:pPr lvl="1"/>
            <a:r>
              <a:rPr lang="it-IT" dirty="0"/>
              <a:t>Disruption-</a:t>
            </a:r>
            <a:r>
              <a:rPr lang="it-IT" dirty="0" err="1"/>
              <a:t>type</a:t>
            </a:r>
            <a:r>
              <a:rPr lang="it-IT" dirty="0"/>
              <a:t> shocks </a:t>
            </a:r>
            <a:r>
              <a:rPr lang="it-IT" dirty="0" err="1"/>
              <a:t>imply</a:t>
            </a:r>
            <a:r>
              <a:rPr lang="it-IT" dirty="0"/>
              <a:t> supply </a:t>
            </a:r>
            <a:r>
              <a:rPr lang="it-IT" dirty="0" err="1"/>
              <a:t>shortages</a:t>
            </a:r>
            <a:r>
              <a:rPr lang="it-IT" dirty="0"/>
              <a:t>, and </a:t>
            </a:r>
            <a:r>
              <a:rPr lang="it-IT" dirty="0" err="1"/>
              <a:t>they</a:t>
            </a:r>
            <a:r>
              <a:rPr lang="it-IT" dirty="0"/>
              <a:t> </a:t>
            </a:r>
            <a:r>
              <a:rPr lang="it-IT" dirty="0" err="1"/>
              <a:t>will</a:t>
            </a:r>
            <a:r>
              <a:rPr lang="it-IT" dirty="0"/>
              <a:t> be </a:t>
            </a:r>
            <a:r>
              <a:rPr lang="it-IT" dirty="0" err="1"/>
              <a:t>applied</a:t>
            </a:r>
            <a:r>
              <a:rPr lang="it-IT" dirty="0"/>
              <a:t> in the scenario </a:t>
            </a:r>
            <a:r>
              <a:rPr lang="it-IT" dirty="0" err="1"/>
              <a:t>tree</a:t>
            </a:r>
            <a:endParaRPr lang="it-IT" dirty="0"/>
          </a:p>
          <a:p>
            <a:pPr lvl="1"/>
            <a:r>
              <a:rPr lang="it-IT" dirty="0" err="1"/>
              <a:t>Cyclical-type</a:t>
            </a:r>
            <a:r>
              <a:rPr lang="it-IT" dirty="0"/>
              <a:t> shocks are long lasting price </a:t>
            </a:r>
            <a:r>
              <a:rPr lang="it-IT" dirty="0" err="1"/>
              <a:t>increases</a:t>
            </a:r>
            <a:r>
              <a:rPr lang="it-IT" dirty="0"/>
              <a:t> with </a:t>
            </a:r>
            <a:r>
              <a:rPr lang="it-IT" dirty="0" err="1"/>
              <a:t>lower</a:t>
            </a:r>
            <a:r>
              <a:rPr lang="it-IT" dirty="0"/>
              <a:t> </a:t>
            </a:r>
            <a:r>
              <a:rPr lang="it-IT" dirty="0" err="1"/>
              <a:t>amplitudes</a:t>
            </a:r>
            <a:r>
              <a:rPr lang="it-IT" dirty="0"/>
              <a:t>, </a:t>
            </a:r>
            <a:r>
              <a:rPr lang="it-IT" dirty="0" err="1"/>
              <a:t>that</a:t>
            </a:r>
            <a:r>
              <a:rPr lang="it-IT" dirty="0"/>
              <a:t> can </a:t>
            </a:r>
            <a:r>
              <a:rPr lang="it-IT" dirty="0" err="1"/>
              <a:t>have</a:t>
            </a:r>
            <a:r>
              <a:rPr lang="it-IT" dirty="0"/>
              <a:t> an impact more on the prices </a:t>
            </a:r>
            <a:r>
              <a:rPr lang="it-IT" dirty="0" err="1"/>
              <a:t>than</a:t>
            </a:r>
            <a:r>
              <a:rPr lang="it-IT" dirty="0"/>
              <a:t> to the </a:t>
            </a:r>
            <a:r>
              <a:rPr lang="it-IT" dirty="0" err="1"/>
              <a:t>quantities</a:t>
            </a:r>
            <a:r>
              <a:rPr lang="it-IT" dirty="0"/>
              <a:t>. </a:t>
            </a:r>
            <a:r>
              <a:rPr lang="it-IT" dirty="0" err="1"/>
              <a:t>Rather</a:t>
            </a:r>
            <a:r>
              <a:rPr lang="it-IT" dirty="0"/>
              <a:t>, </a:t>
            </a:r>
            <a:r>
              <a:rPr lang="it-IT" dirty="0" err="1"/>
              <a:t>these</a:t>
            </a:r>
            <a:r>
              <a:rPr lang="it-IT" dirty="0"/>
              <a:t> </a:t>
            </a:r>
            <a:r>
              <a:rPr lang="it-IT" dirty="0" err="1"/>
              <a:t>cycles</a:t>
            </a:r>
            <a:r>
              <a:rPr lang="it-IT" dirty="0"/>
              <a:t> can be </a:t>
            </a:r>
            <a:r>
              <a:rPr lang="it-IT" dirty="0" err="1"/>
              <a:t>modeled</a:t>
            </a:r>
            <a:r>
              <a:rPr lang="it-IT" dirty="0"/>
              <a:t> just </a:t>
            </a:r>
            <a:r>
              <a:rPr lang="it-IT" dirty="0" err="1"/>
              <a:t>as</a:t>
            </a:r>
            <a:r>
              <a:rPr lang="it-IT" dirty="0"/>
              <a:t> mild price </a:t>
            </a:r>
            <a:r>
              <a:rPr lang="it-IT" dirty="0" err="1"/>
              <a:t>increases</a:t>
            </a:r>
            <a:r>
              <a:rPr lang="it-IT" dirty="0"/>
              <a:t>, and TEMOA </a:t>
            </a:r>
            <a:r>
              <a:rPr lang="it-IT" dirty="0" err="1"/>
              <a:t>will</a:t>
            </a:r>
            <a:r>
              <a:rPr lang="it-IT" dirty="0"/>
              <a:t> </a:t>
            </a:r>
            <a:r>
              <a:rPr lang="it-IT" dirty="0" err="1"/>
              <a:t>adapt</a:t>
            </a:r>
            <a:r>
              <a:rPr lang="it-IT" dirty="0"/>
              <a:t> the framework (price-</a:t>
            </a:r>
            <a:r>
              <a:rPr lang="it-IT" dirty="0" err="1"/>
              <a:t>based</a:t>
            </a:r>
            <a:r>
              <a:rPr lang="it-IT" dirty="0"/>
              <a:t> </a:t>
            </a:r>
            <a:r>
              <a:rPr lang="it-IT" dirty="0" err="1"/>
              <a:t>substitution</a:t>
            </a:r>
            <a:r>
              <a:rPr lang="it-IT" dirty="0"/>
              <a:t>, …)</a:t>
            </a:r>
          </a:p>
          <a:p>
            <a:pPr lvl="1"/>
            <a:endParaRPr lang="it-IT" dirty="0"/>
          </a:p>
          <a:p>
            <a:pPr lvl="1"/>
            <a:endParaRPr lang="en-US" dirty="0"/>
          </a:p>
          <a:p>
            <a:pPr lvl="1"/>
            <a:endParaRPr lang="en-US" dirty="0"/>
          </a:p>
          <a:p>
            <a:pPr lvl="1"/>
            <a:endParaRPr dirty="0"/>
          </a:p>
        </p:txBody>
      </p:sp>
      <p:sp>
        <p:nvSpPr>
          <p:cNvPr id="3" name="Title 2"/>
          <p:cNvSpPr>
            <a:spLocks noGrp="1"/>
          </p:cNvSpPr>
          <p:nvPr>
            <p:ph type="title"/>
          </p:nvPr>
        </p:nvSpPr>
        <p:spPr/>
        <p:txBody>
          <a:bodyPr/>
          <a:lstStyle/>
          <a:p>
            <a:r>
              <a:rPr lang="en-US" dirty="0"/>
              <a:t>Price elasticity of demand and supply –</a:t>
            </a:r>
            <a:br>
              <a:rPr lang="en-US" dirty="0"/>
            </a:br>
            <a:r>
              <a:rPr lang="en-US" dirty="0"/>
              <a:t>“Disruption” vs. “business‑cycle”</a:t>
            </a:r>
            <a:endParaRPr dirty="0"/>
          </a:p>
        </p:txBody>
      </p:sp>
      <p:pic>
        <p:nvPicPr>
          <p:cNvPr id="4" name="Picture 3">
            <a:extLst>
              <a:ext uri="{FF2B5EF4-FFF2-40B4-BE49-F238E27FC236}">
                <a16:creationId xmlns:a16="http://schemas.microsoft.com/office/drawing/2014/main" id="{C5B6227F-2D34-903C-698B-65959D89821D}"/>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6084084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normAutofit/>
          </a:bodyPr>
          <a:lstStyle/>
          <a:p>
            <a:pPr marL="0" indent="0">
              <a:buNone/>
            </a:pPr>
            <a:r>
              <a:rPr dirty="0"/>
              <a:t>In terms of elasticity, different time horizons refer to diversified responses from the supply chain:</a:t>
            </a:r>
          </a:p>
          <a:p>
            <a:pPr lvl="1"/>
            <a:r>
              <a:rPr dirty="0"/>
              <a:t>immediate (output fixed); </a:t>
            </a:r>
          </a:p>
          <a:p>
            <a:pPr lvl="1"/>
            <a:r>
              <a:rPr dirty="0"/>
              <a:t>short run (capacity fixed); </a:t>
            </a:r>
          </a:p>
          <a:p>
            <a:pPr lvl="1"/>
            <a:r>
              <a:rPr dirty="0"/>
              <a:t>long run (new capacity; tech fixed); </a:t>
            </a:r>
          </a:p>
          <a:p>
            <a:pPr lvl="1"/>
            <a:r>
              <a:rPr dirty="0"/>
              <a:t>very long run (tech &amp; deposits adjust)</a:t>
            </a:r>
          </a:p>
          <a:p>
            <a:pPr marL="342000" lvl="1" indent="0">
              <a:buNone/>
            </a:pPr>
            <a:endParaRPr dirty="0"/>
          </a:p>
          <a:p>
            <a:r>
              <a:rPr dirty="0"/>
              <a:t>Minerals: </a:t>
            </a:r>
          </a:p>
          <a:p>
            <a:pPr lvl="1"/>
            <a:r>
              <a:rPr dirty="0"/>
              <a:t>typically </a:t>
            </a:r>
            <a:r>
              <a:rPr dirty="0">
                <a:solidFill>
                  <a:schemeClr val="accent1"/>
                </a:solidFill>
              </a:rPr>
              <a:t>inelastic in SR</a:t>
            </a:r>
            <a:r>
              <a:rPr dirty="0"/>
              <a:t>; </a:t>
            </a:r>
          </a:p>
          <a:p>
            <a:pPr lvl="1"/>
            <a:r>
              <a:rPr dirty="0">
                <a:solidFill>
                  <a:schemeClr val="accent1"/>
                </a:solidFill>
              </a:rPr>
              <a:t>more elastic in LR</a:t>
            </a:r>
            <a:r>
              <a:rPr dirty="0"/>
              <a:t>; </a:t>
            </a:r>
          </a:p>
          <a:p>
            <a:pPr lvl="1"/>
            <a:r>
              <a:rPr dirty="0"/>
              <a:t>identification matters (price endogeneity), in the different stages, regions, dependencies, as studied in many elasticity studies</a:t>
            </a:r>
          </a:p>
          <a:p>
            <a:pPr lvl="2"/>
            <a:r>
              <a:rPr lang="en-US" dirty="0"/>
              <a:t>Heterogeneity: conflicts, ownership, multi‑mineral, concentration (HHI), byproduct/coproduct supply.</a:t>
            </a:r>
          </a:p>
        </p:txBody>
      </p:sp>
      <p:sp>
        <p:nvSpPr>
          <p:cNvPr id="3" name="Title 2"/>
          <p:cNvSpPr>
            <a:spLocks noGrp="1"/>
          </p:cNvSpPr>
          <p:nvPr>
            <p:ph type="title"/>
          </p:nvPr>
        </p:nvSpPr>
        <p:spPr/>
        <p:txBody>
          <a:bodyPr/>
          <a:lstStyle/>
          <a:p>
            <a:r>
              <a:rPr lang="en-US" dirty="0"/>
              <a:t>Price elasticity of demand and supply – </a:t>
            </a:r>
            <a:br>
              <a:rPr lang="en-US" dirty="0"/>
            </a:br>
            <a:r>
              <a:rPr lang="it-IT" dirty="0"/>
              <a:t>Time </a:t>
            </a:r>
            <a:r>
              <a:rPr lang="it-IT" dirty="0" err="1"/>
              <a:t>horizons</a:t>
            </a:r>
            <a:r>
              <a:rPr lang="it-IT" dirty="0"/>
              <a:t>: short and long </a:t>
            </a:r>
            <a:r>
              <a:rPr lang="it-IT" dirty="0" err="1"/>
              <a:t>run</a:t>
            </a:r>
            <a:endParaRPr dirty="0"/>
          </a:p>
        </p:txBody>
      </p:sp>
      <p:pic>
        <p:nvPicPr>
          <p:cNvPr id="4" name="Picture 3">
            <a:extLst>
              <a:ext uri="{FF2B5EF4-FFF2-40B4-BE49-F238E27FC236}">
                <a16:creationId xmlns:a16="http://schemas.microsoft.com/office/drawing/2014/main" id="{700EE047-8A50-F1C4-C2BD-9371A082843A}"/>
              </a:ext>
            </a:extLst>
          </p:cNvPr>
          <p:cNvPicPr>
            <a:picLocks noChangeAspect="1"/>
          </p:cNvPicPr>
          <p:nvPr/>
        </p:nvPicPr>
        <p:blipFill>
          <a:blip r:embed="rId2"/>
          <a:stretch>
            <a:fillRect/>
          </a:stretch>
        </p:blipFill>
        <p:spPr>
          <a:xfrm>
            <a:off x="11086358" y="689666"/>
            <a:ext cx="527913" cy="514881"/>
          </a:xfrm>
          <a:prstGeom prst="rect">
            <a:avLst/>
          </a:prstGeom>
        </p:spPr>
      </p:pic>
      <p:grpSp>
        <p:nvGrpSpPr>
          <p:cNvPr id="6" name="Group 5">
            <a:extLst>
              <a:ext uri="{FF2B5EF4-FFF2-40B4-BE49-F238E27FC236}">
                <a16:creationId xmlns:a16="http://schemas.microsoft.com/office/drawing/2014/main" id="{577C7E01-421B-7DF2-CC01-5CD81D32F0F3}"/>
              </a:ext>
            </a:extLst>
          </p:cNvPr>
          <p:cNvGrpSpPr/>
          <p:nvPr/>
        </p:nvGrpSpPr>
        <p:grpSpPr>
          <a:xfrm>
            <a:off x="6466213" y="1874982"/>
            <a:ext cx="2030487" cy="1311555"/>
            <a:chOff x="7185890" y="1429965"/>
            <a:chExt cx="2369379" cy="1955410"/>
          </a:xfrm>
        </p:grpSpPr>
        <p:sp>
          <p:nvSpPr>
            <p:cNvPr id="7" name="Right Brace 6">
              <a:extLst>
                <a:ext uri="{FF2B5EF4-FFF2-40B4-BE49-F238E27FC236}">
                  <a16:creationId xmlns:a16="http://schemas.microsoft.com/office/drawing/2014/main" id="{32EFE363-6BEB-2E82-5055-5C40C3A5156F}"/>
                </a:ext>
              </a:extLst>
            </p:cNvPr>
            <p:cNvSpPr/>
            <p:nvPr/>
          </p:nvSpPr>
          <p:spPr>
            <a:xfrm>
              <a:off x="7185890" y="1429965"/>
              <a:ext cx="321338" cy="1955410"/>
            </a:xfrm>
            <a:prstGeom prst="righ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8" name="TextBox 7">
              <a:extLst>
                <a:ext uri="{FF2B5EF4-FFF2-40B4-BE49-F238E27FC236}">
                  <a16:creationId xmlns:a16="http://schemas.microsoft.com/office/drawing/2014/main" id="{C08E5DB5-3AD1-4B57-3755-DAC8149E3EBE}"/>
                </a:ext>
              </a:extLst>
            </p:cNvPr>
            <p:cNvSpPr txBox="1"/>
            <p:nvPr/>
          </p:nvSpPr>
          <p:spPr>
            <a:xfrm>
              <a:off x="8098356" y="2172019"/>
              <a:ext cx="1456913" cy="4588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it-IT" sz="1400" dirty="0" err="1"/>
                <a:t>Tilton</a:t>
              </a:r>
              <a:r>
                <a:rPr lang="it-IT" sz="1400" dirty="0"/>
                <a:t>, 1984</a:t>
              </a:r>
              <a:endParaRPr lang="en-US" sz="1400" dirty="0"/>
            </a:p>
          </p:txBody>
        </p:sp>
        <p:cxnSp>
          <p:nvCxnSpPr>
            <p:cNvPr id="9" name="Straight Arrow Connector 8">
              <a:extLst>
                <a:ext uri="{FF2B5EF4-FFF2-40B4-BE49-F238E27FC236}">
                  <a16:creationId xmlns:a16="http://schemas.microsoft.com/office/drawing/2014/main" id="{E31093AD-D643-E95F-B673-EDD54A337760}"/>
                </a:ext>
              </a:extLst>
            </p:cNvPr>
            <p:cNvCxnSpPr>
              <a:cxnSpLocks/>
            </p:cNvCxnSpPr>
            <p:nvPr/>
          </p:nvCxnSpPr>
          <p:spPr>
            <a:xfrm>
              <a:off x="7658115" y="2401454"/>
              <a:ext cx="269790"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a:xfrm>
            <a:off x="643643" y="2290618"/>
            <a:ext cx="10596044" cy="1803401"/>
          </a:xfrm>
        </p:spPr>
        <p:txBody>
          <a:bodyPr>
            <a:normAutofit/>
          </a:bodyPr>
          <a:lstStyle/>
          <a:p>
            <a:r>
              <a:rPr lang="en-US" sz="2000" dirty="0"/>
              <a:t>Some sources report the aggregate values, but just for a small bunch of metals</a:t>
            </a:r>
          </a:p>
          <a:p>
            <a:r>
              <a:rPr lang="en-US" sz="2000" dirty="0"/>
              <a:t>There’s a lack of non-metals and precious metals elasticity assessment</a:t>
            </a:r>
          </a:p>
          <a:p>
            <a:r>
              <a:rPr lang="en-US" sz="2000" dirty="0"/>
              <a:t>The most reported CRMs are </a:t>
            </a:r>
            <a:r>
              <a:rPr lang="en-US" sz="2000" dirty="0" err="1"/>
              <a:t>aluminium</a:t>
            </a:r>
            <a:r>
              <a:rPr lang="en-US" sz="2000" dirty="0"/>
              <a:t>, copper, lithium (only in recent years), nickel</a:t>
            </a:r>
          </a:p>
          <a:p>
            <a:r>
              <a:rPr lang="en-US" sz="2000" dirty="0"/>
              <a:t>Some references about cobalt, graphite, and manganese (Li-ion batteries), from </a:t>
            </a:r>
            <a:r>
              <a:rPr lang="en-US" sz="2000" dirty="0" err="1"/>
              <a:t>Shojaeddini</a:t>
            </a:r>
            <a:r>
              <a:rPr lang="en-US" sz="2000" dirty="0"/>
              <a:t> et al. (2024)</a:t>
            </a:r>
          </a:p>
          <a:p>
            <a:endParaRPr sz="2000" dirty="0"/>
          </a:p>
        </p:txBody>
      </p:sp>
      <p:sp>
        <p:nvSpPr>
          <p:cNvPr id="3" name="Title 2"/>
          <p:cNvSpPr>
            <a:spLocks noGrp="1"/>
          </p:cNvSpPr>
          <p:nvPr>
            <p:ph type="title"/>
          </p:nvPr>
        </p:nvSpPr>
        <p:spPr/>
        <p:txBody>
          <a:bodyPr/>
          <a:lstStyle/>
          <a:p>
            <a:r>
              <a:rPr lang="en-US" dirty="0"/>
              <a:t>Price elasticity of demand and supply – </a:t>
            </a:r>
            <a:br>
              <a:rPr lang="en-US" dirty="0"/>
            </a:br>
            <a:r>
              <a:rPr lang="it-IT" dirty="0" err="1"/>
              <a:t>CRMs</a:t>
            </a:r>
            <a:r>
              <a:rPr lang="it-IT" dirty="0"/>
              <a:t> </a:t>
            </a:r>
            <a:r>
              <a:rPr lang="it-IT" dirty="0" err="1"/>
              <a:t>lacking</a:t>
            </a:r>
            <a:r>
              <a:rPr lang="it-IT" dirty="0"/>
              <a:t> in literature</a:t>
            </a:r>
            <a:endParaRPr dirty="0"/>
          </a:p>
        </p:txBody>
      </p:sp>
      <p:pic>
        <p:nvPicPr>
          <p:cNvPr id="4" name="Picture 3">
            <a:extLst>
              <a:ext uri="{FF2B5EF4-FFF2-40B4-BE49-F238E27FC236}">
                <a16:creationId xmlns:a16="http://schemas.microsoft.com/office/drawing/2014/main" id="{3F495176-77D0-7E90-8810-1C3F8800E29A}"/>
              </a:ext>
            </a:extLst>
          </p:cNvPr>
          <p:cNvPicPr>
            <a:picLocks noChangeAspect="1"/>
          </p:cNvPicPr>
          <p:nvPr/>
        </p:nvPicPr>
        <p:blipFill>
          <a:blip r:embed="rId2"/>
          <a:stretch>
            <a:fillRect/>
          </a:stretch>
        </p:blipFill>
        <p:spPr>
          <a:xfrm>
            <a:off x="11086358" y="689666"/>
            <a:ext cx="527913" cy="514881"/>
          </a:xfrm>
          <a:prstGeom prst="rect">
            <a:avLst/>
          </a:prstGeom>
        </p:spPr>
      </p:pic>
      <p:grpSp>
        <p:nvGrpSpPr>
          <p:cNvPr id="6" name="Group 5">
            <a:extLst>
              <a:ext uri="{FF2B5EF4-FFF2-40B4-BE49-F238E27FC236}">
                <a16:creationId xmlns:a16="http://schemas.microsoft.com/office/drawing/2014/main" id="{A1067A70-CF61-7E3D-D20C-92A9019CFFB8}"/>
              </a:ext>
            </a:extLst>
          </p:cNvPr>
          <p:cNvGrpSpPr/>
          <p:nvPr/>
        </p:nvGrpSpPr>
        <p:grpSpPr>
          <a:xfrm>
            <a:off x="681556" y="2290619"/>
            <a:ext cx="10520218" cy="2782330"/>
            <a:chOff x="757382" y="1274619"/>
            <a:chExt cx="10520218" cy="2782330"/>
          </a:xfrm>
        </p:grpSpPr>
        <p:grpSp>
          <p:nvGrpSpPr>
            <p:cNvPr id="10" name="Group 9">
              <a:extLst>
                <a:ext uri="{FF2B5EF4-FFF2-40B4-BE49-F238E27FC236}">
                  <a16:creationId xmlns:a16="http://schemas.microsoft.com/office/drawing/2014/main" id="{E0354E9A-852F-FF3C-5A24-7518DA6A4195}"/>
                </a:ext>
              </a:extLst>
            </p:cNvPr>
            <p:cNvGrpSpPr/>
            <p:nvPr/>
          </p:nvGrpSpPr>
          <p:grpSpPr>
            <a:xfrm>
              <a:off x="757382" y="1274619"/>
              <a:ext cx="10520218" cy="2318282"/>
              <a:chOff x="729673" y="1588655"/>
              <a:chExt cx="10520218" cy="2318282"/>
            </a:xfrm>
          </p:grpSpPr>
          <p:sp>
            <p:nvSpPr>
              <p:cNvPr id="5" name="Rectangle 4">
                <a:extLst>
                  <a:ext uri="{FF2B5EF4-FFF2-40B4-BE49-F238E27FC236}">
                    <a16:creationId xmlns:a16="http://schemas.microsoft.com/office/drawing/2014/main" id="{296548F9-69CA-0C54-B9B8-6C8A6A8C860F}"/>
                  </a:ext>
                </a:extLst>
              </p:cNvPr>
              <p:cNvSpPr/>
              <p:nvPr/>
            </p:nvSpPr>
            <p:spPr>
              <a:xfrm>
                <a:off x="729673" y="1588655"/>
                <a:ext cx="10520218" cy="1803401"/>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cxnSp>
            <p:nvCxnSpPr>
              <p:cNvPr id="7" name="Straight Arrow Connector 6">
                <a:extLst>
                  <a:ext uri="{FF2B5EF4-FFF2-40B4-BE49-F238E27FC236}">
                    <a16:creationId xmlns:a16="http://schemas.microsoft.com/office/drawing/2014/main" id="{31CCF345-0E7C-9B34-4431-06D94777CB19}"/>
                  </a:ext>
                </a:extLst>
              </p:cNvPr>
              <p:cNvCxnSpPr>
                <a:cxnSpLocks/>
                <a:stCxn id="5" idx="2"/>
              </p:cNvCxnSpPr>
              <p:nvPr/>
            </p:nvCxnSpPr>
            <p:spPr>
              <a:xfrm>
                <a:off x="5989782" y="3392056"/>
                <a:ext cx="0" cy="51488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CFA068D2-E753-73E5-C1D5-37B52D168D83}"/>
                </a:ext>
              </a:extLst>
            </p:cNvPr>
            <p:cNvSpPr txBox="1"/>
            <p:nvPr/>
          </p:nvSpPr>
          <p:spPr>
            <a:xfrm>
              <a:off x="3177310" y="3687617"/>
              <a:ext cx="5680362" cy="369332"/>
            </a:xfrm>
            <a:prstGeom prst="rect">
              <a:avLst/>
            </a:prstGeom>
            <a:noFill/>
          </p:spPr>
          <p:txBody>
            <a:bodyPr wrap="square" rtlCol="0">
              <a:spAutoFit/>
            </a:bodyPr>
            <a:lstStyle/>
            <a:p>
              <a:pPr algn="ctr"/>
              <a:r>
                <a:rPr lang="en-US" dirty="0">
                  <a:ln w="0"/>
                  <a:solidFill>
                    <a:srgbClr val="FF0000"/>
                  </a:solidFill>
                  <a:effectLst>
                    <a:outerShdw blurRad="38100" dist="25400" dir="5400000" algn="ctr" rotWithShape="0">
                      <a:srgbClr val="6E747A">
                        <a:alpha val="43000"/>
                      </a:srgbClr>
                    </a:outerShdw>
                  </a:effectLst>
                </a:rPr>
                <a:t>Lack of comprehensive CRMs elasticity assessments</a:t>
              </a: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lstStyle/>
          <a:p>
            <a:pPr marL="0" indent="0">
              <a:buNone/>
            </a:pPr>
            <a:r>
              <a:rPr lang="en-US" dirty="0"/>
              <a:t>Possible trade-offs:</a:t>
            </a:r>
          </a:p>
          <a:p>
            <a:endParaRPr lang="en-US" dirty="0"/>
          </a:p>
          <a:p>
            <a:endParaRPr lang="en-US" dirty="0"/>
          </a:p>
          <a:p>
            <a:endParaRPr lang="en-US" dirty="0"/>
          </a:p>
          <a:p>
            <a:endParaRPr lang="en-US" dirty="0"/>
          </a:p>
          <a:p>
            <a:endParaRPr dirty="0"/>
          </a:p>
        </p:txBody>
      </p:sp>
      <p:sp>
        <p:nvSpPr>
          <p:cNvPr id="3" name="Title 2"/>
          <p:cNvSpPr>
            <a:spLocks noGrp="1"/>
          </p:cNvSpPr>
          <p:nvPr>
            <p:ph type="title"/>
          </p:nvPr>
        </p:nvSpPr>
        <p:spPr/>
        <p:txBody>
          <a:bodyPr/>
          <a:lstStyle/>
          <a:p>
            <a:r>
              <a:rPr lang="en-US" dirty="0"/>
              <a:t>Price elasticity of demand and supply – </a:t>
            </a:r>
            <a:br>
              <a:rPr lang="en-US" dirty="0"/>
            </a:br>
            <a:r>
              <a:rPr lang="it-IT" dirty="0" err="1"/>
              <a:t>CRMs</a:t>
            </a:r>
            <a:r>
              <a:rPr lang="it-IT" dirty="0"/>
              <a:t> </a:t>
            </a:r>
            <a:r>
              <a:rPr lang="it-IT" dirty="0" err="1"/>
              <a:t>lacking</a:t>
            </a:r>
            <a:endParaRPr dirty="0"/>
          </a:p>
        </p:txBody>
      </p:sp>
      <p:pic>
        <p:nvPicPr>
          <p:cNvPr id="4" name="Picture 3">
            <a:extLst>
              <a:ext uri="{FF2B5EF4-FFF2-40B4-BE49-F238E27FC236}">
                <a16:creationId xmlns:a16="http://schemas.microsoft.com/office/drawing/2014/main" id="{63D7C849-B5B4-6D0A-9EDF-806BB8DFA999}"/>
              </a:ext>
            </a:extLst>
          </p:cNvPr>
          <p:cNvPicPr>
            <a:picLocks noChangeAspect="1"/>
          </p:cNvPicPr>
          <p:nvPr/>
        </p:nvPicPr>
        <p:blipFill>
          <a:blip r:embed="rId2"/>
          <a:stretch>
            <a:fillRect/>
          </a:stretch>
        </p:blipFill>
        <p:spPr>
          <a:xfrm>
            <a:off x="11086358" y="689666"/>
            <a:ext cx="527913" cy="514881"/>
          </a:xfrm>
          <a:prstGeom prst="rect">
            <a:avLst/>
          </a:prstGeom>
        </p:spPr>
      </p:pic>
      <p:grpSp>
        <p:nvGrpSpPr>
          <p:cNvPr id="14" name="Group 13">
            <a:extLst>
              <a:ext uri="{FF2B5EF4-FFF2-40B4-BE49-F238E27FC236}">
                <a16:creationId xmlns:a16="http://schemas.microsoft.com/office/drawing/2014/main" id="{19F1C753-231F-BDA6-85D9-4EE9F6A724DA}"/>
              </a:ext>
            </a:extLst>
          </p:cNvPr>
          <p:cNvGrpSpPr/>
          <p:nvPr/>
        </p:nvGrpSpPr>
        <p:grpSpPr>
          <a:xfrm>
            <a:off x="1153369" y="1655085"/>
            <a:ext cx="9885261" cy="1322413"/>
            <a:chOff x="1274618" y="4202498"/>
            <a:chExt cx="10165074" cy="1322413"/>
          </a:xfrm>
        </p:grpSpPr>
        <p:sp>
          <p:nvSpPr>
            <p:cNvPr id="13" name="TextBox 12">
              <a:extLst>
                <a:ext uri="{FF2B5EF4-FFF2-40B4-BE49-F238E27FC236}">
                  <a16:creationId xmlns:a16="http://schemas.microsoft.com/office/drawing/2014/main" id="{44FA4C55-A0F8-4C11-E02A-0E567696D1C0}"/>
                </a:ext>
              </a:extLst>
            </p:cNvPr>
            <p:cNvSpPr txBox="1"/>
            <p:nvPr/>
          </p:nvSpPr>
          <p:spPr>
            <a:xfrm>
              <a:off x="1274618" y="4202498"/>
              <a:ext cx="10165074" cy="1322413"/>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pPr defTabSz="685783">
                <a:lnSpc>
                  <a:spcPct val="90000"/>
                </a:lnSpc>
                <a:spcBef>
                  <a:spcPts val="750"/>
                </a:spcBef>
                <a:buClr>
                  <a:srgbClr val="002060"/>
                </a:buClr>
                <a:buSzPct val="100000"/>
              </a:pPr>
              <a:r>
                <a:rPr lang="it-IT" dirty="0">
                  <a:ea typeface="Tahoma" panose="020B0604030504040204" pitchFamily="34" charset="0"/>
                  <a:cs typeface="Tahoma" panose="020B0604030504040204" pitchFamily="34" charset="0"/>
                </a:rPr>
                <a:t>Dahl MEDS (2020): </a:t>
              </a:r>
              <a:r>
                <a:rPr lang="it-IT" dirty="0">
                  <a:solidFill>
                    <a:schemeClr val="accent1"/>
                  </a:solidFill>
                  <a:ea typeface="Tahoma" panose="020B0604030504040204" pitchFamily="34" charset="0"/>
                  <a:cs typeface="Tahoma" panose="020B0604030504040204" pitchFamily="34" charset="0"/>
                </a:rPr>
                <a:t>H</a:t>
              </a:r>
              <a:r>
                <a:rPr lang="en-US" dirty="0" err="1">
                  <a:solidFill>
                    <a:schemeClr val="accent1"/>
                  </a:solidFill>
                  <a:ea typeface="Tahoma" panose="020B0604030504040204" pitchFamily="34" charset="0"/>
                  <a:cs typeface="Tahoma" panose="020B0604030504040204" pitchFamily="34" charset="0"/>
                </a:rPr>
                <a:t>istorical</a:t>
              </a:r>
              <a:r>
                <a:rPr lang="en-US" dirty="0">
                  <a:solidFill>
                    <a:schemeClr val="accent1"/>
                  </a:solidFill>
                  <a:ea typeface="Tahoma" panose="020B0604030504040204" pitchFamily="34" charset="0"/>
                  <a:cs typeface="Tahoma" panose="020B0604030504040204" pitchFamily="34" charset="0"/>
                </a:rPr>
                <a:t> literature review of elasticities </a:t>
              </a:r>
              <a:r>
                <a:rPr lang="en-US" dirty="0">
                  <a:ea typeface="Tahoma" panose="020B0604030504040204" pitchFamily="34" charset="0"/>
                  <a:cs typeface="Tahoma" panose="020B0604030504040204" pitchFamily="34" charset="0"/>
                </a:rPr>
                <a:t>(1960s–2010s).</a:t>
              </a:r>
            </a:p>
            <a:p>
              <a:pPr marL="360000" indent="-360000" defTabSz="685783">
                <a:lnSpc>
                  <a:spcPct val="90000"/>
                </a:lnSpc>
                <a:spcBef>
                  <a:spcPts val="750"/>
                </a:spcBef>
                <a:buClr>
                  <a:srgbClr val="002060"/>
                </a:buClr>
                <a:buSzPct val="100000"/>
                <a:buFont typeface="Wingdings" panose="05000000000000000000" pitchFamily="2" charset="2"/>
                <a:buChar char="v"/>
              </a:pPr>
              <a:r>
                <a:rPr lang="en-US" dirty="0">
                  <a:ea typeface="Tahoma" panose="020B0604030504040204" pitchFamily="34" charset="0"/>
                  <a:cs typeface="Tahoma" panose="020B0604030504040204" pitchFamily="34" charset="0"/>
                </a:rPr>
                <a:t>Typical PES medians: SR ≈ 0.15–0.30; LR ≈ 0.6–0.7 (across metals).</a:t>
              </a:r>
            </a:p>
            <a:p>
              <a:pPr marL="360000" indent="-360000" defTabSz="685783">
                <a:lnSpc>
                  <a:spcPct val="90000"/>
                </a:lnSpc>
                <a:spcBef>
                  <a:spcPts val="750"/>
                </a:spcBef>
                <a:buClr>
                  <a:srgbClr val="002060"/>
                </a:buClr>
                <a:buSzPct val="100000"/>
                <a:buFont typeface="Wingdings" panose="05000000000000000000" pitchFamily="2" charset="2"/>
                <a:buChar char="v"/>
              </a:pPr>
              <a:r>
                <a:rPr lang="en-US" dirty="0">
                  <a:ea typeface="Tahoma" panose="020B0604030504040204" pitchFamily="34" charset="0"/>
                  <a:cs typeface="Tahoma" panose="020B0604030504040204" pitchFamily="34" charset="0"/>
                </a:rPr>
                <a:t>It can be used as an anchor for modern assessment and for lacking CRMs elasticities</a:t>
              </a:r>
            </a:p>
            <a:p>
              <a:endParaRPr lang="en-US" dirty="0"/>
            </a:p>
          </p:txBody>
        </p:sp>
        <p:pic>
          <p:nvPicPr>
            <p:cNvPr id="12" name="Picture 11">
              <a:extLst>
                <a:ext uri="{FF2B5EF4-FFF2-40B4-BE49-F238E27FC236}">
                  <a16:creationId xmlns:a16="http://schemas.microsoft.com/office/drawing/2014/main" id="{45448319-A591-1767-4FA2-2F8315C818FB}"/>
                </a:ext>
              </a:extLst>
            </p:cNvPr>
            <p:cNvPicPr>
              <a:picLocks noChangeAspect="1"/>
            </p:cNvPicPr>
            <p:nvPr/>
          </p:nvPicPr>
          <p:blipFill>
            <a:blip r:embed="rId2"/>
            <a:stretch>
              <a:fillRect/>
            </a:stretch>
          </p:blipFill>
          <p:spPr>
            <a:xfrm>
              <a:off x="10986198" y="4318721"/>
              <a:ext cx="328347" cy="320241"/>
            </a:xfrm>
            <a:prstGeom prst="rect">
              <a:avLst/>
            </a:prstGeom>
          </p:spPr>
        </p:pic>
      </p:grpSp>
      <p:sp>
        <p:nvSpPr>
          <p:cNvPr id="5" name="TextBox 4">
            <a:extLst>
              <a:ext uri="{FF2B5EF4-FFF2-40B4-BE49-F238E27FC236}">
                <a16:creationId xmlns:a16="http://schemas.microsoft.com/office/drawing/2014/main" id="{AA9C1B65-3B98-3676-6B5E-DF60846CDE48}"/>
              </a:ext>
            </a:extLst>
          </p:cNvPr>
          <p:cNvSpPr txBox="1"/>
          <p:nvPr/>
        </p:nvSpPr>
        <p:spPr>
          <a:xfrm>
            <a:off x="1153368" y="3194335"/>
            <a:ext cx="9885261" cy="3006977"/>
          </a:xfrm>
          <a:prstGeom prst="rect">
            <a:avLst/>
          </a:prstGeom>
          <a:ln w="38100"/>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solidFill>
                  <a:schemeClr val="accent1"/>
                </a:solidFill>
              </a:rPr>
              <a:t>Group elasticities</a:t>
            </a:r>
            <a:r>
              <a:rPr lang="en-US" dirty="0"/>
              <a:t>:</a:t>
            </a:r>
          </a:p>
          <a:p>
            <a:pPr marL="360000" indent="-360000" defTabSz="685783">
              <a:lnSpc>
                <a:spcPct val="90000"/>
              </a:lnSpc>
              <a:spcBef>
                <a:spcPts val="750"/>
              </a:spcBef>
              <a:buClr>
                <a:srgbClr val="002060"/>
              </a:buClr>
              <a:buSzPct val="100000"/>
              <a:buFont typeface="Wingdings" panose="05000000000000000000" pitchFamily="2" charset="2"/>
              <a:buChar char="v"/>
            </a:pPr>
            <a:r>
              <a:rPr lang="en-US" dirty="0"/>
              <a:t>By </a:t>
            </a:r>
            <a:r>
              <a:rPr lang="en-US" b="1" dirty="0"/>
              <a:t>technologies belonging </a:t>
            </a:r>
            <a:r>
              <a:rPr lang="en-US" dirty="0"/>
              <a:t>(according to </a:t>
            </a:r>
            <a:r>
              <a:rPr lang="en-US" dirty="0" err="1"/>
              <a:t>TEMOA_Europe</a:t>
            </a:r>
            <a:r>
              <a:rPr lang="en-US" dirty="0"/>
              <a:t> database)</a:t>
            </a:r>
          </a:p>
          <a:p>
            <a:pPr marL="817200" lvl="1" indent="-360000" defTabSz="685783">
              <a:lnSpc>
                <a:spcPct val="90000"/>
              </a:lnSpc>
              <a:spcBef>
                <a:spcPts val="750"/>
              </a:spcBef>
              <a:buClr>
                <a:srgbClr val="00B0F0"/>
              </a:buClr>
              <a:buSzPct val="100000"/>
              <a:buFont typeface="Wingdings" panose="05000000000000000000" pitchFamily="2" charset="2"/>
              <a:buChar char="v"/>
            </a:pPr>
            <a:r>
              <a:rPr lang="en-US" dirty="0"/>
              <a:t>literature actually investigates materials in EV batteries and finds different values</a:t>
            </a:r>
          </a:p>
          <a:p>
            <a:pPr marL="360000" indent="-360000" defTabSz="685783">
              <a:lnSpc>
                <a:spcPct val="90000"/>
              </a:lnSpc>
              <a:spcBef>
                <a:spcPts val="750"/>
              </a:spcBef>
              <a:buClr>
                <a:srgbClr val="002060"/>
              </a:buClr>
              <a:buSzPct val="100000"/>
              <a:buFont typeface="Wingdings" panose="05000000000000000000" pitchFamily="2" charset="2"/>
              <a:buChar char="v"/>
            </a:pPr>
            <a:r>
              <a:rPr lang="en-US" b="1" dirty="0"/>
              <a:t>Other types of grouping</a:t>
            </a:r>
            <a:r>
              <a:rPr lang="en-US" dirty="0"/>
              <a:t>: market concentration, economic value, … </a:t>
            </a:r>
            <a:r>
              <a:rPr lang="en-US" dirty="0">
                <a:sym typeface="Wingdings" panose="05000000000000000000" pitchFamily="2" charset="2"/>
              </a:rPr>
              <a:t> much more details are needed, and future assessments can fill this gap:</a:t>
            </a:r>
          </a:p>
          <a:p>
            <a:pPr marL="817200" lvl="1" indent="-360000" defTabSz="685783">
              <a:lnSpc>
                <a:spcPct val="90000"/>
              </a:lnSpc>
              <a:spcBef>
                <a:spcPts val="750"/>
              </a:spcBef>
              <a:buClr>
                <a:srgbClr val="00B0F0"/>
              </a:buClr>
              <a:buSzPct val="100000"/>
              <a:buFont typeface="Wingdings" panose="05000000000000000000" pitchFamily="2" charset="2"/>
              <a:buChar char="v"/>
            </a:pPr>
            <a:r>
              <a:rPr lang="en-US" dirty="0">
                <a:sym typeface="Wingdings" panose="05000000000000000000" pitchFamily="2" charset="2"/>
              </a:rPr>
              <a:t>Full datasets are needed for all CRMs</a:t>
            </a:r>
          </a:p>
          <a:p>
            <a:pPr marL="817200" lvl="1" indent="-360000" defTabSz="685783">
              <a:lnSpc>
                <a:spcPct val="90000"/>
              </a:lnSpc>
              <a:spcBef>
                <a:spcPts val="750"/>
              </a:spcBef>
              <a:buClr>
                <a:srgbClr val="00B0F0"/>
              </a:buClr>
              <a:buSzPct val="100000"/>
              <a:buFont typeface="Wingdings" panose="05000000000000000000" pitchFamily="2" charset="2"/>
              <a:buChar char="v"/>
            </a:pPr>
            <a:r>
              <a:rPr lang="en-US" dirty="0">
                <a:sym typeface="Wingdings" panose="05000000000000000000" pitchFamily="2" charset="2"/>
              </a:rPr>
              <a:t>Higher granularity in the CRMs supply chain is needed</a:t>
            </a:r>
          </a:p>
          <a:p>
            <a:pPr marL="817200" lvl="1" indent="-360000" defTabSz="685783">
              <a:lnSpc>
                <a:spcPct val="90000"/>
              </a:lnSpc>
              <a:spcBef>
                <a:spcPts val="750"/>
              </a:spcBef>
              <a:buClr>
                <a:srgbClr val="00B0F0"/>
              </a:buClr>
              <a:buSzPct val="100000"/>
              <a:buFont typeface="Wingdings" panose="05000000000000000000" pitchFamily="2" charset="2"/>
              <a:buChar char="v"/>
            </a:pPr>
            <a:r>
              <a:rPr lang="en-US" dirty="0">
                <a:sym typeface="Wingdings" panose="05000000000000000000" pitchFamily="2" charset="2"/>
              </a:rPr>
              <a:t>CRMs dependencies are a branch of interest in supply risk frameworks</a:t>
            </a:r>
            <a:endParaRPr lang="en-US" dirty="0"/>
          </a:p>
          <a:p>
            <a:endParaRPr lang="en-US" dirty="0"/>
          </a:p>
        </p:txBody>
      </p:sp>
      <p:pic>
        <p:nvPicPr>
          <p:cNvPr id="6" name="Picture 5">
            <a:extLst>
              <a:ext uri="{FF2B5EF4-FFF2-40B4-BE49-F238E27FC236}">
                <a16:creationId xmlns:a16="http://schemas.microsoft.com/office/drawing/2014/main" id="{27714792-9D87-8260-D995-2B273CC534F9}"/>
              </a:ext>
            </a:extLst>
          </p:cNvPr>
          <p:cNvPicPr>
            <a:picLocks noChangeAspect="1"/>
          </p:cNvPicPr>
          <p:nvPr/>
        </p:nvPicPr>
        <p:blipFill>
          <a:blip r:embed="rId3"/>
          <a:stretch>
            <a:fillRect/>
          </a:stretch>
        </p:blipFill>
        <p:spPr>
          <a:xfrm>
            <a:off x="10606214" y="3222052"/>
            <a:ext cx="381645" cy="413896"/>
          </a:xfrm>
          <a:prstGeom prst="rect">
            <a:avLst/>
          </a:prstGeom>
        </p:spPr>
      </p:pic>
    </p:spTree>
    <p:extLst>
      <p:ext uri="{BB962C8B-B14F-4D97-AF65-F5344CB8AC3E}">
        <p14:creationId xmlns:p14="http://schemas.microsoft.com/office/powerpoint/2010/main" val="34014476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a:xfrm>
            <a:off x="339810" y="1019239"/>
            <a:ext cx="10884311" cy="5064369"/>
          </a:xfrm>
        </p:spPr>
        <p:txBody>
          <a:bodyPr/>
          <a:lstStyle/>
          <a:p>
            <a:pPr marL="0" indent="0">
              <a:buNone/>
            </a:pPr>
            <a:r>
              <a:rPr dirty="0"/>
              <a:t>Technologic grouping:</a:t>
            </a:r>
          </a:p>
          <a:p>
            <a:endParaRPr dirty="0"/>
          </a:p>
        </p:txBody>
      </p:sp>
      <p:sp>
        <p:nvSpPr>
          <p:cNvPr id="3" name="Title 2"/>
          <p:cNvSpPr>
            <a:spLocks noGrp="1"/>
          </p:cNvSpPr>
          <p:nvPr>
            <p:ph type="title"/>
          </p:nvPr>
        </p:nvSpPr>
        <p:spPr/>
        <p:txBody>
          <a:bodyPr/>
          <a:lstStyle/>
          <a:p>
            <a:r>
              <a:rPr lang="en-US" dirty="0"/>
              <a:t>Price elasticity of demand and supply – </a:t>
            </a:r>
            <a:br>
              <a:rPr lang="en-US" dirty="0"/>
            </a:br>
            <a:r>
              <a:rPr lang="it-IT" dirty="0" err="1"/>
              <a:t>CRMs</a:t>
            </a:r>
            <a:r>
              <a:rPr lang="it-IT" dirty="0"/>
              <a:t> </a:t>
            </a:r>
            <a:r>
              <a:rPr lang="it-IT" dirty="0" err="1"/>
              <a:t>lacking</a:t>
            </a:r>
            <a:endParaRPr dirty="0"/>
          </a:p>
        </p:txBody>
      </p:sp>
      <p:pic>
        <p:nvPicPr>
          <p:cNvPr id="5" name="Picture 4">
            <a:extLst>
              <a:ext uri="{FF2B5EF4-FFF2-40B4-BE49-F238E27FC236}">
                <a16:creationId xmlns:a16="http://schemas.microsoft.com/office/drawing/2014/main" id="{E90ECDD5-BB59-C4E7-7AEB-93745C0B491B}"/>
              </a:ext>
            </a:extLst>
          </p:cNvPr>
          <p:cNvPicPr>
            <a:picLocks noChangeAspect="1"/>
          </p:cNvPicPr>
          <p:nvPr/>
        </p:nvPicPr>
        <p:blipFill>
          <a:blip r:embed="rId2"/>
          <a:srcRect t="11604"/>
          <a:stretch/>
        </p:blipFill>
        <p:spPr>
          <a:xfrm>
            <a:off x="735824" y="1447173"/>
            <a:ext cx="10720352" cy="4851071"/>
          </a:xfrm>
          <a:prstGeom prst="rect">
            <a:avLst/>
          </a:prstGeom>
        </p:spPr>
      </p:pic>
      <p:pic>
        <p:nvPicPr>
          <p:cNvPr id="4" name="Picture 3">
            <a:extLst>
              <a:ext uri="{FF2B5EF4-FFF2-40B4-BE49-F238E27FC236}">
                <a16:creationId xmlns:a16="http://schemas.microsoft.com/office/drawing/2014/main" id="{D018EC01-C3A6-3EF4-F964-0E40A1C8A80B}"/>
              </a:ext>
            </a:extLst>
          </p:cNvPr>
          <p:cNvPicPr>
            <a:picLocks noChangeAspect="1"/>
          </p:cNvPicPr>
          <p:nvPr/>
        </p:nvPicPr>
        <p:blipFill>
          <a:blip r:embed="rId3"/>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42446647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lstStyle/>
          <a:p>
            <a:pPr marL="0" indent="0">
              <a:buNone/>
            </a:pPr>
            <a:r>
              <a:rPr lang="en-US" dirty="0" err="1">
                <a:solidFill>
                  <a:schemeClr val="accent1"/>
                </a:solidFill>
              </a:rPr>
              <a:t>Bogmans</a:t>
            </a:r>
            <a:r>
              <a:rPr lang="en-US" dirty="0">
                <a:solidFill>
                  <a:schemeClr val="accent1"/>
                </a:solidFill>
              </a:rPr>
              <a:t> et al. , IMF (2024): Granular IV across commodities</a:t>
            </a:r>
            <a:endParaRPr dirty="0">
              <a:solidFill>
                <a:schemeClr val="accent1"/>
              </a:solidFill>
            </a:endParaRPr>
          </a:p>
          <a:p>
            <a:r>
              <a:rPr dirty="0"/>
              <a:t>Consistent dataset (1960–2021) with granular IV (country shocks) to identify slope of demand/supply.</a:t>
            </a:r>
          </a:p>
          <a:p>
            <a:r>
              <a:rPr dirty="0"/>
              <a:t>Minerals: demand and supply are price‑inelastic; both become more elastic with longer horizons.</a:t>
            </a:r>
          </a:p>
          <a:p>
            <a:r>
              <a:rPr dirty="0"/>
              <a:t>Result used here: horizon‑dependent elasticities for minerals.</a:t>
            </a:r>
          </a:p>
          <a:p>
            <a:endParaRPr lang="en-US" dirty="0"/>
          </a:p>
          <a:p>
            <a:pPr marL="0" indent="0">
              <a:buNone/>
            </a:pPr>
            <a:r>
              <a:rPr lang="en-US" sz="2400" dirty="0" err="1">
                <a:solidFill>
                  <a:schemeClr val="accent1"/>
                </a:solidFill>
              </a:rPr>
              <a:t>Shojaeddini</a:t>
            </a:r>
            <a:r>
              <a:rPr lang="en-US" sz="2400" dirty="0">
                <a:solidFill>
                  <a:schemeClr val="accent1"/>
                </a:solidFill>
              </a:rPr>
              <a:t> et al. , </a:t>
            </a:r>
            <a:r>
              <a:rPr lang="en-US" dirty="0">
                <a:solidFill>
                  <a:schemeClr val="accent1"/>
                </a:solidFill>
              </a:rPr>
              <a:t>USGS (2024): PEDs for Battery Minerals (2SLS)</a:t>
            </a:r>
          </a:p>
          <a:p>
            <a:r>
              <a:rPr lang="it-IT" dirty="0" err="1"/>
              <a:t>Lithium</a:t>
            </a:r>
            <a:r>
              <a:rPr lang="it-IT" dirty="0"/>
              <a:t> −0.11 (post‑2020 SR); Nickel −0.09; Cobalt −0.45; Manganese −0.04.</a:t>
            </a:r>
          </a:p>
          <a:p>
            <a:r>
              <a:rPr lang="it-IT" dirty="0" err="1"/>
              <a:t>Graphite</a:t>
            </a:r>
            <a:r>
              <a:rPr lang="it-IT" dirty="0"/>
              <a:t>: flake ≈ −0.58; </a:t>
            </a:r>
            <a:r>
              <a:rPr lang="it-IT" dirty="0" err="1"/>
              <a:t>amorphous</a:t>
            </a:r>
            <a:r>
              <a:rPr lang="it-IT" dirty="0"/>
              <a:t> ≈ −0.36.</a:t>
            </a:r>
          </a:p>
          <a:p>
            <a:r>
              <a:rPr lang="it-IT" dirty="0"/>
              <a:t>Method: 2SLS with commodity‑</a:t>
            </a:r>
            <a:r>
              <a:rPr lang="it-IT" dirty="0" err="1"/>
              <a:t>specific</a:t>
            </a:r>
            <a:r>
              <a:rPr lang="it-IT" dirty="0"/>
              <a:t> </a:t>
            </a:r>
            <a:r>
              <a:rPr lang="it-IT" dirty="0" err="1"/>
              <a:t>IVs</a:t>
            </a:r>
            <a:r>
              <a:rPr lang="it-IT" dirty="0"/>
              <a:t>; </a:t>
            </a:r>
            <a:r>
              <a:rPr lang="it-IT" dirty="0" err="1"/>
              <a:t>structural</a:t>
            </a:r>
            <a:r>
              <a:rPr lang="it-IT" dirty="0"/>
              <a:t> breaks </a:t>
            </a:r>
            <a:r>
              <a:rPr lang="it-IT" dirty="0" err="1"/>
              <a:t>tested</a:t>
            </a:r>
            <a:r>
              <a:rPr lang="it-IT" dirty="0"/>
              <a:t>.</a:t>
            </a:r>
          </a:p>
          <a:p>
            <a:pPr marL="0" indent="0">
              <a:buNone/>
            </a:pPr>
            <a:endParaRPr dirty="0"/>
          </a:p>
        </p:txBody>
      </p:sp>
      <p:sp>
        <p:nvSpPr>
          <p:cNvPr id="3" name="Title 2"/>
          <p:cNvSpPr>
            <a:spLocks noGrp="1"/>
          </p:cNvSpPr>
          <p:nvPr>
            <p:ph type="title"/>
          </p:nvPr>
        </p:nvSpPr>
        <p:spPr/>
        <p:txBody>
          <a:bodyPr>
            <a:normAutofit/>
          </a:bodyPr>
          <a:lstStyle/>
          <a:p>
            <a:r>
              <a:rPr lang="en-US" dirty="0"/>
              <a:t>Price elasticity of demand and supply – </a:t>
            </a:r>
            <a:br>
              <a:rPr lang="en-US" dirty="0"/>
            </a:br>
            <a:r>
              <a:rPr lang="it-IT" dirty="0"/>
              <a:t>Some studies:</a:t>
            </a:r>
            <a:endParaRPr dirty="0"/>
          </a:p>
        </p:txBody>
      </p:sp>
      <p:pic>
        <p:nvPicPr>
          <p:cNvPr id="4" name="Picture 3">
            <a:extLst>
              <a:ext uri="{FF2B5EF4-FFF2-40B4-BE49-F238E27FC236}">
                <a16:creationId xmlns:a16="http://schemas.microsoft.com/office/drawing/2014/main" id="{5A8E4E4A-C297-D72C-EA49-552684E3EFF7}"/>
              </a:ext>
            </a:extLst>
          </p:cNvPr>
          <p:cNvPicPr>
            <a:picLocks noChangeAspect="1"/>
          </p:cNvPicPr>
          <p:nvPr/>
        </p:nvPicPr>
        <p:blipFill>
          <a:blip r:embed="rId2"/>
          <a:stretch>
            <a:fillRect/>
          </a:stretch>
        </p:blipFill>
        <p:spPr>
          <a:xfrm>
            <a:off x="11086358" y="689666"/>
            <a:ext cx="527913" cy="514881"/>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normAutofit lnSpcReduction="10000"/>
          </a:bodyPr>
          <a:lstStyle/>
          <a:p>
            <a:pPr marL="0" indent="0">
              <a:buNone/>
            </a:pPr>
            <a:r>
              <a:rPr lang="it-IT" dirty="0">
                <a:solidFill>
                  <a:schemeClr val="accent1"/>
                </a:solidFill>
              </a:rPr>
              <a:t>Sullivan et al. (2025): </a:t>
            </a:r>
            <a:r>
              <a:rPr lang="it-IT" dirty="0" err="1">
                <a:solidFill>
                  <a:schemeClr val="accent1"/>
                </a:solidFill>
              </a:rPr>
              <a:t>Lithium</a:t>
            </a:r>
            <a:r>
              <a:rPr lang="it-IT" dirty="0">
                <a:solidFill>
                  <a:schemeClr val="accent1"/>
                </a:solidFill>
              </a:rPr>
              <a:t> PED under </a:t>
            </a:r>
            <a:r>
              <a:rPr lang="it-IT" dirty="0" err="1">
                <a:solidFill>
                  <a:schemeClr val="accent1"/>
                </a:solidFill>
              </a:rPr>
              <a:t>Automaker</a:t>
            </a:r>
            <a:r>
              <a:rPr lang="it-IT" dirty="0">
                <a:solidFill>
                  <a:schemeClr val="accent1"/>
                </a:solidFill>
              </a:rPr>
              <a:t> Strategies</a:t>
            </a:r>
            <a:endParaRPr dirty="0">
              <a:solidFill>
                <a:schemeClr val="accent1"/>
              </a:solidFill>
            </a:endParaRPr>
          </a:p>
          <a:p>
            <a:r>
              <a:rPr dirty="0"/>
              <a:t>Short‑run lithium demand remains highly inelastic (|ε| &lt; 0.13) through 2050.</a:t>
            </a:r>
          </a:p>
          <a:p>
            <a:r>
              <a:rPr dirty="0"/>
              <a:t>Long‑run elasticity becomes more elastic (−0.35 to −0.20) with strategic flexibility (chemistry mix, range, densities).</a:t>
            </a:r>
          </a:p>
          <a:p>
            <a:r>
              <a:rPr dirty="0"/>
              <a:t>Bottom‑up, automaker‑level scenario model.</a:t>
            </a:r>
          </a:p>
          <a:p>
            <a:endParaRPr lang="en-US" dirty="0"/>
          </a:p>
          <a:p>
            <a:pPr marL="0" indent="0">
              <a:buNone/>
            </a:pPr>
            <a:r>
              <a:rPr lang="fr-FR" dirty="0" err="1">
                <a:solidFill>
                  <a:schemeClr val="accent1"/>
                </a:solidFill>
              </a:rPr>
              <a:t>Vertier</a:t>
            </a:r>
            <a:r>
              <a:rPr lang="fr-FR" dirty="0">
                <a:solidFill>
                  <a:schemeClr val="accent1"/>
                </a:solidFill>
              </a:rPr>
              <a:t> et al, Banque de France (2025): Mine‑</a:t>
            </a:r>
            <a:r>
              <a:rPr lang="fr-FR" dirty="0" err="1">
                <a:solidFill>
                  <a:schemeClr val="accent1"/>
                </a:solidFill>
              </a:rPr>
              <a:t>level</a:t>
            </a:r>
            <a:r>
              <a:rPr lang="fr-FR" dirty="0">
                <a:solidFill>
                  <a:schemeClr val="accent1"/>
                </a:solidFill>
              </a:rPr>
              <a:t> PES (Local Projections)</a:t>
            </a:r>
          </a:p>
          <a:p>
            <a:r>
              <a:rPr lang="en-US" dirty="0"/>
              <a:t>Mine‑level response to demand‑induced price shocks (through Vector autoregressive (VAR) model) across 8 minerals (2000–2019).</a:t>
            </a:r>
          </a:p>
          <a:p>
            <a:r>
              <a:rPr lang="en-US" dirty="0"/>
              <a:t>Average PES ≈ +0.5 within 1–5 years; lower near conflicts &amp; in concentrated markets.</a:t>
            </a:r>
          </a:p>
          <a:p>
            <a:r>
              <a:rPr lang="en-US" dirty="0"/>
              <a:t>Heterogeneity: reserves, multi‑owner, multi‑mineral mines respond less.</a:t>
            </a:r>
          </a:p>
          <a:p>
            <a:pPr marL="0" indent="0">
              <a:buNone/>
            </a:pPr>
            <a:endParaRPr dirty="0"/>
          </a:p>
        </p:txBody>
      </p:sp>
      <p:sp>
        <p:nvSpPr>
          <p:cNvPr id="3" name="Title 2"/>
          <p:cNvSpPr>
            <a:spLocks noGrp="1"/>
          </p:cNvSpPr>
          <p:nvPr>
            <p:ph type="title"/>
          </p:nvPr>
        </p:nvSpPr>
        <p:spPr/>
        <p:txBody>
          <a:bodyPr/>
          <a:lstStyle/>
          <a:p>
            <a:r>
              <a:rPr lang="en-US" dirty="0"/>
              <a:t>Price elasticity of demand and supply – </a:t>
            </a:r>
            <a:br>
              <a:rPr lang="en-US" dirty="0"/>
            </a:br>
            <a:r>
              <a:rPr lang="it-IT" dirty="0"/>
              <a:t>Some studies:</a:t>
            </a:r>
            <a:endParaRPr dirty="0"/>
          </a:p>
        </p:txBody>
      </p:sp>
      <p:pic>
        <p:nvPicPr>
          <p:cNvPr id="4" name="Picture 3">
            <a:extLst>
              <a:ext uri="{FF2B5EF4-FFF2-40B4-BE49-F238E27FC236}">
                <a16:creationId xmlns:a16="http://schemas.microsoft.com/office/drawing/2014/main" id="{3479475A-99FC-33F8-A9CA-D4711003447F}"/>
              </a:ext>
            </a:extLst>
          </p:cNvPr>
          <p:cNvPicPr>
            <a:picLocks noChangeAspect="1"/>
          </p:cNvPicPr>
          <p:nvPr/>
        </p:nvPicPr>
        <p:blipFill>
          <a:blip r:embed="rId2"/>
          <a:stretch>
            <a:fillRect/>
          </a:stretch>
        </p:blipFill>
        <p:spPr>
          <a:xfrm>
            <a:off x="11086358" y="689666"/>
            <a:ext cx="527913" cy="514881"/>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normAutofit/>
          </a:bodyPr>
          <a:lstStyle/>
          <a:p>
            <a:pPr marL="0" indent="0">
              <a:buNone/>
            </a:pPr>
            <a:r>
              <a:rPr lang="pt-BR" dirty="0">
                <a:solidFill>
                  <a:schemeClr val="accent1"/>
                </a:solidFill>
              </a:rPr>
              <a:t>Fernandez (2018): Divisia‑Moment / Price Flexibility</a:t>
            </a:r>
            <a:endParaRPr dirty="0">
              <a:solidFill>
                <a:schemeClr val="accent1"/>
              </a:solidFill>
            </a:endParaRPr>
          </a:p>
          <a:p>
            <a:r>
              <a:rPr dirty="0"/>
              <a:t>World/regional income &amp; price elasticities for 7 base metals (1960–2015).</a:t>
            </a:r>
          </a:p>
          <a:p>
            <a:r>
              <a:rPr dirty="0"/>
              <a:t>Low price–quantity correlation at world level; heterogeneity across regions.</a:t>
            </a:r>
          </a:p>
          <a:p>
            <a:r>
              <a:rPr dirty="0"/>
              <a:t>Adds IV corrections; Working’s expenditure curves for metal baskets.</a:t>
            </a:r>
          </a:p>
          <a:p>
            <a:endParaRPr lang="en-US" dirty="0"/>
          </a:p>
          <a:p>
            <a:pPr marL="0" indent="0">
              <a:buNone/>
            </a:pPr>
            <a:r>
              <a:rPr lang="en-US" dirty="0" err="1">
                <a:solidFill>
                  <a:schemeClr val="accent1"/>
                </a:solidFill>
              </a:rPr>
              <a:t>Stuermer</a:t>
            </a:r>
            <a:r>
              <a:rPr lang="en-US" dirty="0">
                <a:solidFill>
                  <a:schemeClr val="accent1"/>
                </a:solidFill>
              </a:rPr>
              <a:t> (2017): Dynamic model applied to long historical series</a:t>
            </a:r>
          </a:p>
          <a:p>
            <a:r>
              <a:rPr lang="en-US" dirty="0"/>
              <a:t>Pool Mean Group (PMG) estimation procedure applied to an Autoregressive distributed lag model (ARDL) to catch dynamic effects  </a:t>
            </a:r>
          </a:p>
          <a:p>
            <a:r>
              <a:rPr lang="en-US" dirty="0"/>
              <a:t>Post WWII estimations used here</a:t>
            </a:r>
          </a:p>
          <a:p>
            <a:r>
              <a:rPr lang="en-US" dirty="0"/>
              <a:t>Country-based lags reveal significant country-by-country differences</a:t>
            </a:r>
            <a:endParaRPr lang="en-US" dirty="0">
              <a:solidFill>
                <a:schemeClr val="accent1"/>
              </a:solidFill>
            </a:endParaRPr>
          </a:p>
        </p:txBody>
      </p:sp>
      <p:sp>
        <p:nvSpPr>
          <p:cNvPr id="3" name="Title 2"/>
          <p:cNvSpPr>
            <a:spLocks noGrp="1"/>
          </p:cNvSpPr>
          <p:nvPr>
            <p:ph type="title"/>
          </p:nvPr>
        </p:nvSpPr>
        <p:spPr/>
        <p:txBody>
          <a:bodyPr/>
          <a:lstStyle/>
          <a:p>
            <a:r>
              <a:rPr lang="en-US" dirty="0"/>
              <a:t>Price elasticity of demand and supply – </a:t>
            </a:r>
            <a:br>
              <a:rPr lang="en-US" dirty="0"/>
            </a:br>
            <a:r>
              <a:rPr lang="it-IT" dirty="0"/>
              <a:t>Some studies:</a:t>
            </a:r>
            <a:endParaRPr dirty="0"/>
          </a:p>
        </p:txBody>
      </p:sp>
      <p:pic>
        <p:nvPicPr>
          <p:cNvPr id="4" name="Picture 3">
            <a:extLst>
              <a:ext uri="{FF2B5EF4-FFF2-40B4-BE49-F238E27FC236}">
                <a16:creationId xmlns:a16="http://schemas.microsoft.com/office/drawing/2014/main" id="{18E83438-8E57-8C65-A54B-4817E2E42315}"/>
              </a:ext>
            </a:extLst>
          </p:cNvPr>
          <p:cNvPicPr>
            <a:picLocks noChangeAspect="1"/>
          </p:cNvPicPr>
          <p:nvPr/>
        </p:nvPicPr>
        <p:blipFill>
          <a:blip r:embed="rId2"/>
          <a:stretch>
            <a:fillRect/>
          </a:stretch>
        </p:blipFill>
        <p:spPr>
          <a:xfrm>
            <a:off x="11086358" y="689666"/>
            <a:ext cx="527913" cy="514881"/>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35FA94-DD55-9C70-9577-5FB6C854BA04}"/>
              </a:ext>
            </a:extLst>
          </p:cNvPr>
          <p:cNvSpPr>
            <a:spLocks noGrp="1"/>
          </p:cNvSpPr>
          <p:nvPr>
            <p:ph idx="13"/>
          </p:nvPr>
        </p:nvSpPr>
        <p:spPr/>
        <p:txBody>
          <a:bodyPr/>
          <a:lstStyle/>
          <a:p>
            <a:pPr marL="0" indent="0">
              <a:buNone/>
            </a:pPr>
            <a:r>
              <a:rPr lang="it-IT" dirty="0" err="1">
                <a:solidFill>
                  <a:schemeClr val="accent1"/>
                </a:solidFill>
              </a:rPr>
              <a:t>Baffes</a:t>
            </a:r>
            <a:r>
              <a:rPr lang="it-IT" dirty="0">
                <a:solidFill>
                  <a:schemeClr val="accent1"/>
                </a:solidFill>
              </a:rPr>
              <a:t> et al. (2020): </a:t>
            </a:r>
            <a:r>
              <a:rPr lang="it-IT" dirty="0" err="1">
                <a:solidFill>
                  <a:schemeClr val="accent1"/>
                </a:solidFill>
              </a:rPr>
              <a:t>Income</a:t>
            </a:r>
            <a:r>
              <a:rPr lang="it-IT" dirty="0">
                <a:solidFill>
                  <a:schemeClr val="accent1"/>
                </a:solidFill>
              </a:rPr>
              <a:t> and price demand </a:t>
            </a:r>
            <a:r>
              <a:rPr lang="it-IT" dirty="0" err="1">
                <a:solidFill>
                  <a:schemeClr val="accent1"/>
                </a:solidFill>
              </a:rPr>
              <a:t>elasticities</a:t>
            </a:r>
            <a:endParaRPr lang="en-US" dirty="0"/>
          </a:p>
          <a:p>
            <a:r>
              <a:rPr lang="en-US" dirty="0"/>
              <a:t>Aggregate demand equations</a:t>
            </a:r>
          </a:p>
          <a:p>
            <a:r>
              <a:rPr lang="en-US" dirty="0"/>
              <a:t>ARDL model applied to a large cross panel (instead of VAR, not suitable here)</a:t>
            </a:r>
          </a:p>
          <a:p>
            <a:r>
              <a:rPr lang="en-US" dirty="0"/>
              <a:t>Broad control variables (urbanization, investment share, population density, …) have specific effects on the materials</a:t>
            </a:r>
          </a:p>
          <a:p>
            <a:r>
              <a:rPr lang="en-US" dirty="0"/>
              <a:t>Interesting robustness checks (also cross-price effects) to reinforce the results</a:t>
            </a:r>
          </a:p>
          <a:p>
            <a:endParaRPr lang="en-US" dirty="0"/>
          </a:p>
          <a:p>
            <a:endParaRPr lang="en-US" dirty="0"/>
          </a:p>
          <a:p>
            <a:endParaRPr lang="en-US" dirty="0"/>
          </a:p>
        </p:txBody>
      </p:sp>
      <p:sp>
        <p:nvSpPr>
          <p:cNvPr id="3" name="Title 2">
            <a:extLst>
              <a:ext uri="{FF2B5EF4-FFF2-40B4-BE49-F238E27FC236}">
                <a16:creationId xmlns:a16="http://schemas.microsoft.com/office/drawing/2014/main" id="{7CBE02CC-AB21-E3C8-A4E1-0F44F98C014E}"/>
              </a:ext>
            </a:extLst>
          </p:cNvPr>
          <p:cNvSpPr>
            <a:spLocks noGrp="1"/>
          </p:cNvSpPr>
          <p:nvPr>
            <p:ph type="title"/>
          </p:nvPr>
        </p:nvSpPr>
        <p:spPr/>
        <p:txBody>
          <a:bodyPr/>
          <a:lstStyle/>
          <a:p>
            <a:r>
              <a:rPr lang="en-US" dirty="0"/>
              <a:t>Price elasticity of demand and supply – </a:t>
            </a:r>
            <a:br>
              <a:rPr lang="en-US" dirty="0"/>
            </a:br>
            <a:r>
              <a:rPr lang="it-IT" dirty="0"/>
              <a:t>Some studies:</a:t>
            </a:r>
            <a:endParaRPr lang="en-US" dirty="0"/>
          </a:p>
        </p:txBody>
      </p:sp>
      <p:pic>
        <p:nvPicPr>
          <p:cNvPr id="4" name="Picture 3">
            <a:extLst>
              <a:ext uri="{FF2B5EF4-FFF2-40B4-BE49-F238E27FC236}">
                <a16:creationId xmlns:a16="http://schemas.microsoft.com/office/drawing/2014/main" id="{C00FFCD3-3AD3-150A-5ABC-6D473F202DE3}"/>
              </a:ext>
            </a:extLst>
          </p:cNvPr>
          <p:cNvPicPr>
            <a:picLocks noChangeAspect="1"/>
          </p:cNvPicPr>
          <p:nvPr/>
        </p:nvPicPr>
        <p:blipFill>
          <a:blip r:embed="rId2"/>
          <a:stretch>
            <a:fillRect/>
          </a:stretch>
        </p:blipFill>
        <p:spPr>
          <a:xfrm>
            <a:off x="11086358" y="689666"/>
            <a:ext cx="527913" cy="514881"/>
          </a:xfrm>
          <a:prstGeom prst="rect">
            <a:avLst/>
          </a:prstGeom>
        </p:spPr>
      </p:pic>
    </p:spTree>
    <p:extLst>
      <p:ext uri="{BB962C8B-B14F-4D97-AF65-F5344CB8AC3E}">
        <p14:creationId xmlns:p14="http://schemas.microsoft.com/office/powerpoint/2010/main" val="383396590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lstStyle/>
          <a:p>
            <a:pPr marL="0" indent="0">
              <a:buNone/>
            </a:pPr>
            <a:r>
              <a:rPr dirty="0" err="1"/>
              <a:t>Elasticity_database.xlxs</a:t>
            </a:r>
            <a:r>
              <a:rPr dirty="0"/>
              <a:t>:</a:t>
            </a:r>
          </a:p>
          <a:p>
            <a:r>
              <a:rPr dirty="0"/>
              <a:t>Results are reported in the </a:t>
            </a:r>
            <a:r>
              <a:rPr i="1" dirty="0"/>
              <a:t>Database</a:t>
            </a:r>
            <a:r>
              <a:rPr dirty="0"/>
              <a:t> sheet</a:t>
            </a:r>
          </a:p>
          <a:p>
            <a:r>
              <a:rPr lang="en-US" dirty="0"/>
              <a:t>Glossary is reported in the </a:t>
            </a:r>
            <a:r>
              <a:rPr lang="en-US" i="1" dirty="0"/>
              <a:t>Definitions </a:t>
            </a:r>
            <a:r>
              <a:rPr lang="en-US" dirty="0"/>
              <a:t>sheet</a:t>
            </a:r>
          </a:p>
          <a:p>
            <a:r>
              <a:rPr lang="en-US" dirty="0"/>
              <a:t>Useful comments are in </a:t>
            </a:r>
            <a:r>
              <a:rPr lang="en-US" i="1" dirty="0"/>
              <a:t>Statements</a:t>
            </a:r>
            <a:r>
              <a:rPr lang="en-US" dirty="0"/>
              <a:t> sheet</a:t>
            </a:r>
          </a:p>
          <a:p>
            <a:r>
              <a:rPr lang="en-US" dirty="0"/>
              <a:t>Dahl’s database summary is in </a:t>
            </a:r>
            <a:r>
              <a:rPr lang="en-US" i="1" dirty="0"/>
              <a:t>Dahl </a:t>
            </a:r>
            <a:r>
              <a:rPr lang="en-US" dirty="0"/>
              <a:t>sheet</a:t>
            </a:r>
          </a:p>
          <a:p>
            <a:endParaRPr lang="en-US" dirty="0"/>
          </a:p>
          <a:p>
            <a:endParaRPr dirty="0"/>
          </a:p>
        </p:txBody>
      </p:sp>
      <p:sp>
        <p:nvSpPr>
          <p:cNvPr id="3" name="Title 2"/>
          <p:cNvSpPr>
            <a:spLocks noGrp="1"/>
          </p:cNvSpPr>
          <p:nvPr>
            <p:ph type="title"/>
          </p:nvPr>
        </p:nvSpPr>
        <p:spPr/>
        <p:txBody>
          <a:bodyPr/>
          <a:lstStyle/>
          <a:p>
            <a:r>
              <a:rPr lang="en-US" dirty="0"/>
              <a:t>Price elasticity of demand and supply – </a:t>
            </a:r>
            <a:br>
              <a:rPr lang="en-US" dirty="0"/>
            </a:br>
            <a:r>
              <a:rPr lang="it-IT" dirty="0" err="1"/>
              <a:t>Elasticity</a:t>
            </a:r>
            <a:r>
              <a:rPr lang="it-IT" dirty="0"/>
              <a:t> database</a:t>
            </a:r>
            <a:endParaRPr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139C9B-440A-6617-7819-B503DDB9F574}"/>
              </a:ext>
            </a:extLst>
          </p:cNvPr>
          <p:cNvSpPr>
            <a:spLocks noGrp="1"/>
          </p:cNvSpPr>
          <p:nvPr>
            <p:ph type="title"/>
          </p:nvPr>
        </p:nvSpPr>
        <p:spPr/>
        <p:txBody>
          <a:bodyPr/>
          <a:lstStyle/>
          <a:p>
            <a:r>
              <a:rPr lang="en-US" dirty="0"/>
              <a:t>Price elasticity of demand and supply – </a:t>
            </a:r>
            <a:br>
              <a:rPr lang="en-US" dirty="0"/>
            </a:br>
            <a:r>
              <a:rPr lang="it-IT" dirty="0" err="1"/>
              <a:t>Elasticity</a:t>
            </a:r>
            <a:r>
              <a:rPr lang="it-IT" dirty="0"/>
              <a:t> database - </a:t>
            </a:r>
            <a:r>
              <a:rPr lang="it-IT" dirty="0" err="1"/>
              <a:t>Medians</a:t>
            </a:r>
            <a:endParaRPr lang="en-US" dirty="0"/>
          </a:p>
        </p:txBody>
      </p:sp>
      <p:pic>
        <p:nvPicPr>
          <p:cNvPr id="7" name="Content Placeholder 6">
            <a:extLst>
              <a:ext uri="{FF2B5EF4-FFF2-40B4-BE49-F238E27FC236}">
                <a16:creationId xmlns:a16="http://schemas.microsoft.com/office/drawing/2014/main" id="{C8F39306-2B7F-869F-EB2A-7BC72B7A0984}"/>
              </a:ext>
            </a:extLst>
          </p:cNvPr>
          <p:cNvPicPr>
            <a:picLocks noGrp="1" noChangeAspect="1"/>
          </p:cNvPicPr>
          <p:nvPr>
            <p:ph idx="13"/>
          </p:nvPr>
        </p:nvPicPr>
        <p:blipFill>
          <a:blip r:embed="rId2"/>
          <a:stretch>
            <a:fillRect/>
          </a:stretch>
        </p:blipFill>
        <p:spPr>
          <a:xfrm>
            <a:off x="842694" y="1232623"/>
            <a:ext cx="3958348" cy="4785360"/>
          </a:xfrm>
          <a:prstGeom prst="rect">
            <a:avLst/>
          </a:prstGeom>
        </p:spPr>
      </p:pic>
      <p:pic>
        <p:nvPicPr>
          <p:cNvPr id="10" name="Picture 9">
            <a:extLst>
              <a:ext uri="{FF2B5EF4-FFF2-40B4-BE49-F238E27FC236}">
                <a16:creationId xmlns:a16="http://schemas.microsoft.com/office/drawing/2014/main" id="{674D8440-FCD8-A227-9EE4-505931EE3F74}"/>
              </a:ext>
            </a:extLst>
          </p:cNvPr>
          <p:cNvPicPr>
            <a:picLocks noChangeAspect="1"/>
          </p:cNvPicPr>
          <p:nvPr/>
        </p:nvPicPr>
        <p:blipFill>
          <a:blip r:embed="rId3"/>
          <a:stretch>
            <a:fillRect/>
          </a:stretch>
        </p:blipFill>
        <p:spPr>
          <a:xfrm>
            <a:off x="5669858" y="1232623"/>
            <a:ext cx="2644140" cy="4785360"/>
          </a:xfrm>
          <a:prstGeom prst="rect">
            <a:avLst/>
          </a:prstGeom>
        </p:spPr>
      </p:pic>
      <p:pic>
        <p:nvPicPr>
          <p:cNvPr id="11" name="Picture 10">
            <a:extLst>
              <a:ext uri="{FF2B5EF4-FFF2-40B4-BE49-F238E27FC236}">
                <a16:creationId xmlns:a16="http://schemas.microsoft.com/office/drawing/2014/main" id="{1B8E3F53-9760-F9C4-DE83-3B79259A1122}"/>
              </a:ext>
            </a:extLst>
          </p:cNvPr>
          <p:cNvPicPr>
            <a:picLocks noChangeAspect="1"/>
          </p:cNvPicPr>
          <p:nvPr/>
        </p:nvPicPr>
        <p:blipFill>
          <a:blip r:embed="rId4"/>
          <a:stretch>
            <a:fillRect/>
          </a:stretch>
        </p:blipFill>
        <p:spPr>
          <a:xfrm>
            <a:off x="8634730" y="1232623"/>
            <a:ext cx="2644140" cy="2964180"/>
          </a:xfrm>
          <a:prstGeom prst="rect">
            <a:avLst/>
          </a:prstGeom>
        </p:spPr>
      </p:pic>
    </p:spTree>
    <p:extLst>
      <p:ext uri="{BB962C8B-B14F-4D97-AF65-F5344CB8AC3E}">
        <p14:creationId xmlns:p14="http://schemas.microsoft.com/office/powerpoint/2010/main" val="349743033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3"/>
          </p:nvPr>
        </p:nvSpPr>
        <p:spPr/>
        <p:txBody>
          <a:bodyPr anchor="ctr">
            <a:normAutofit/>
          </a:bodyPr>
          <a:lstStyle/>
          <a:p>
            <a:pPr marL="0" indent="0">
              <a:buNone/>
            </a:pPr>
            <a:r>
              <a:rPr lang="en-US" dirty="0">
                <a:solidFill>
                  <a:schemeClr val="accent1"/>
                </a:solidFill>
              </a:rPr>
              <a:t>Scope and taxonomy</a:t>
            </a:r>
            <a:r>
              <a:rPr lang="en-US" dirty="0"/>
              <a:t> </a:t>
            </a:r>
          </a:p>
          <a:p>
            <a:r>
              <a:rPr lang="en-US" dirty="0"/>
              <a:t>For each CRM, record: short‑run vs. long‑run estimate, geography, time period, method (IV/ARDL/panel FE), market level (global/national), and commodity form/grade.</a:t>
            </a:r>
          </a:p>
          <a:p>
            <a:pPr marL="0" indent="0">
              <a:buNone/>
            </a:pPr>
            <a:r>
              <a:rPr lang="it-IT" dirty="0" err="1">
                <a:solidFill>
                  <a:schemeClr val="accent1"/>
                </a:solidFill>
              </a:rPr>
              <a:t>Harmonized</a:t>
            </a:r>
            <a:r>
              <a:rPr lang="it-IT" dirty="0">
                <a:solidFill>
                  <a:schemeClr val="accent1"/>
                </a:solidFill>
              </a:rPr>
              <a:t> </a:t>
            </a:r>
            <a:r>
              <a:rPr lang="it-IT" dirty="0" err="1">
                <a:solidFill>
                  <a:schemeClr val="accent1"/>
                </a:solidFill>
              </a:rPr>
              <a:t>estimates</a:t>
            </a:r>
            <a:r>
              <a:rPr lang="it-IT" dirty="0"/>
              <a:t> </a:t>
            </a:r>
          </a:p>
          <a:p>
            <a:r>
              <a:rPr lang="it-IT" dirty="0" err="1"/>
              <a:t>All</a:t>
            </a:r>
            <a:r>
              <a:rPr lang="it-IT" dirty="0"/>
              <a:t> </a:t>
            </a:r>
            <a:r>
              <a:rPr lang="it-IT" dirty="0" err="1"/>
              <a:t>reported</a:t>
            </a:r>
            <a:r>
              <a:rPr lang="it-IT" dirty="0"/>
              <a:t> </a:t>
            </a:r>
            <a:r>
              <a:rPr lang="it-IT" dirty="0" err="1"/>
              <a:t>estimates</a:t>
            </a:r>
            <a:r>
              <a:rPr lang="it-IT" dirty="0"/>
              <a:t> are </a:t>
            </a:r>
            <a:r>
              <a:rPr lang="it-IT" dirty="0" err="1"/>
              <a:t>grouped</a:t>
            </a:r>
            <a:r>
              <a:rPr lang="it-IT" dirty="0"/>
              <a:t> to </a:t>
            </a:r>
            <a:r>
              <a:rPr lang="it-IT" dirty="0">
                <a:solidFill>
                  <a:schemeClr val="accent1"/>
                </a:solidFill>
              </a:rPr>
              <a:t>range or point </a:t>
            </a:r>
            <a:r>
              <a:rPr lang="it-IT" dirty="0" err="1">
                <a:solidFill>
                  <a:schemeClr val="accent1"/>
                </a:solidFill>
              </a:rPr>
              <a:t>elasticities</a:t>
            </a:r>
            <a:r>
              <a:rPr lang="it-IT" dirty="0"/>
              <a:t> on </a:t>
            </a:r>
            <a:r>
              <a:rPr lang="it-IT" dirty="0" err="1"/>
              <a:t>lnQ</a:t>
            </a:r>
            <a:r>
              <a:rPr lang="it-IT" dirty="0"/>
              <a:t> vs </a:t>
            </a:r>
            <a:r>
              <a:rPr lang="it-IT" dirty="0" err="1"/>
              <a:t>lnP</a:t>
            </a:r>
            <a:r>
              <a:rPr lang="it-IT" dirty="0"/>
              <a:t> and to </a:t>
            </a:r>
            <a:r>
              <a:rPr lang="it-IT" dirty="0">
                <a:solidFill>
                  <a:schemeClr val="accent1"/>
                </a:solidFill>
              </a:rPr>
              <a:t>time-</a:t>
            </a:r>
            <a:r>
              <a:rPr lang="it-IT" dirty="0" err="1">
                <a:solidFill>
                  <a:schemeClr val="accent1"/>
                </a:solidFill>
              </a:rPr>
              <a:t>horizons</a:t>
            </a:r>
            <a:r>
              <a:rPr lang="it-IT" dirty="0">
                <a:solidFill>
                  <a:schemeClr val="accent1"/>
                </a:solidFill>
              </a:rPr>
              <a:t>, for </a:t>
            </a:r>
            <a:r>
              <a:rPr lang="it-IT" dirty="0" err="1">
                <a:solidFill>
                  <a:schemeClr val="accent1"/>
                </a:solidFill>
              </a:rPr>
              <a:t>each</a:t>
            </a:r>
            <a:r>
              <a:rPr lang="it-IT" dirty="0">
                <a:solidFill>
                  <a:schemeClr val="accent1"/>
                </a:solidFill>
              </a:rPr>
              <a:t> </a:t>
            </a:r>
            <a:r>
              <a:rPr lang="it-IT" dirty="0" err="1">
                <a:solidFill>
                  <a:schemeClr val="accent1"/>
                </a:solidFill>
              </a:rPr>
              <a:t>material</a:t>
            </a:r>
            <a:r>
              <a:rPr lang="it-IT" dirty="0">
                <a:solidFill>
                  <a:schemeClr val="accent1"/>
                </a:solidFill>
              </a:rPr>
              <a:t> or aggregate</a:t>
            </a:r>
            <a:endParaRPr lang="it-IT" dirty="0"/>
          </a:p>
          <a:p>
            <a:endParaRPr dirty="0"/>
          </a:p>
        </p:txBody>
      </p:sp>
      <p:sp>
        <p:nvSpPr>
          <p:cNvPr id="3" name="Title 2"/>
          <p:cNvSpPr>
            <a:spLocks noGrp="1"/>
          </p:cNvSpPr>
          <p:nvPr>
            <p:ph type="title"/>
          </p:nvPr>
        </p:nvSpPr>
        <p:spPr/>
        <p:txBody>
          <a:bodyPr/>
          <a:lstStyle/>
          <a:p>
            <a:r>
              <a:rPr lang="en-US" dirty="0"/>
              <a:t>Price elasticity of demand and supply – </a:t>
            </a:r>
            <a:br>
              <a:rPr lang="en-US" dirty="0"/>
            </a:br>
            <a:r>
              <a:rPr lang="it-IT" dirty="0" err="1"/>
              <a:t>Elasticity</a:t>
            </a:r>
            <a:r>
              <a:rPr lang="it-IT" dirty="0"/>
              <a:t> database post-</a:t>
            </a:r>
            <a:r>
              <a:rPr lang="it-IT" dirty="0" err="1"/>
              <a:t>procesing</a:t>
            </a:r>
            <a:endParaRPr dirty="0"/>
          </a:p>
        </p:txBody>
      </p:sp>
      <p:pic>
        <p:nvPicPr>
          <p:cNvPr id="4" name="Picture 3">
            <a:extLst>
              <a:ext uri="{FF2B5EF4-FFF2-40B4-BE49-F238E27FC236}">
                <a16:creationId xmlns:a16="http://schemas.microsoft.com/office/drawing/2014/main" id="{F329A5B4-F457-EE30-877B-CF3B3CE989DC}"/>
              </a:ext>
            </a:extLst>
          </p:cNvPr>
          <p:cNvPicPr>
            <a:picLocks noChangeAspect="1"/>
          </p:cNvPicPr>
          <p:nvPr/>
        </p:nvPicPr>
        <p:blipFill>
          <a:blip r:embed="rId2"/>
          <a:stretch>
            <a:fillRect/>
          </a:stretch>
        </p:blipFill>
        <p:spPr>
          <a:xfrm>
            <a:off x="11156512" y="682233"/>
            <a:ext cx="381645" cy="413896"/>
          </a:xfrm>
          <a:prstGeom prst="rect">
            <a:avLst/>
          </a:prstGeom>
        </p:spPr>
      </p:pic>
    </p:spTree>
    <p:extLst>
      <p:ext uri="{BB962C8B-B14F-4D97-AF65-F5344CB8AC3E}">
        <p14:creationId xmlns:p14="http://schemas.microsoft.com/office/powerpoint/2010/main" val="25036116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A03943-EEF3-4E7C-7EFB-171CAB295CA1}"/>
              </a:ext>
            </a:extLst>
          </p:cNvPr>
          <p:cNvSpPr>
            <a:spLocks noGrp="1"/>
          </p:cNvSpPr>
          <p:nvPr>
            <p:ph idx="13"/>
          </p:nvPr>
        </p:nvSpPr>
        <p:spPr/>
        <p:txBody>
          <a:bodyPr>
            <a:normAutofit fontScale="92500" lnSpcReduction="20000"/>
          </a:bodyPr>
          <a:lstStyle/>
          <a:p>
            <a:pPr marL="0" indent="0">
              <a:buNone/>
            </a:pPr>
            <a:r>
              <a:rPr lang="en-US" dirty="0"/>
              <a:t>A possible alternative:</a:t>
            </a:r>
          </a:p>
          <a:p>
            <a:pPr marL="0" indent="0">
              <a:buNone/>
            </a:pPr>
            <a:endParaRPr lang="en-US" dirty="0"/>
          </a:p>
          <a:p>
            <a:pPr marL="0" indent="0">
              <a:buNone/>
            </a:pPr>
            <a:r>
              <a:rPr lang="en-US" dirty="0">
                <a:solidFill>
                  <a:schemeClr val="accent1"/>
                </a:solidFill>
              </a:rPr>
              <a:t>Endogenous system response: </a:t>
            </a:r>
            <a:endParaRPr lang="en-US" dirty="0"/>
          </a:p>
          <a:p>
            <a:r>
              <a:rPr lang="en-US" dirty="0"/>
              <a:t>Map the specific price CRMs shock into technology specific cost adders, through the knowledge of the specific CRMs economic value</a:t>
            </a:r>
          </a:p>
          <a:p>
            <a:r>
              <a:rPr lang="en-US" dirty="0"/>
              <a:t>After running the model, it’s possible to see how CRMs use has changed after price response</a:t>
            </a:r>
          </a:p>
          <a:p>
            <a:r>
              <a:rPr lang="en-US" b="1" dirty="0"/>
              <a:t>The proposed endogenous alternative </a:t>
            </a:r>
            <a:r>
              <a:rPr lang="en-US" dirty="0"/>
              <a:t>can be implemented as a comparative check between NetZero scenario and disruption-scenarios, comparing the costs elasticities of the technology deployments (activities or capacities) in different regimes.</a:t>
            </a:r>
          </a:p>
          <a:p>
            <a:pPr marL="0" indent="0">
              <a:buNone/>
            </a:pPr>
            <a:endParaRPr lang="en-US" dirty="0"/>
          </a:p>
          <a:p>
            <a:pPr marL="0" indent="0">
              <a:buNone/>
            </a:pPr>
            <a:r>
              <a:rPr lang="en-US" dirty="0"/>
              <a:t>IEA ETP 2024: </a:t>
            </a:r>
            <a:r>
              <a:rPr lang="en-US" dirty="0">
                <a:solidFill>
                  <a:schemeClr val="accent1"/>
                </a:solidFill>
              </a:rPr>
              <a:t>material/tech supply shocks raise </a:t>
            </a:r>
            <a:r>
              <a:rPr lang="en-US" dirty="0"/>
              <a:t>costs and </a:t>
            </a:r>
            <a:r>
              <a:rPr lang="en-US" dirty="0">
                <a:solidFill>
                  <a:schemeClr val="accent1"/>
                </a:solidFill>
              </a:rPr>
              <a:t>slow deployment</a:t>
            </a:r>
            <a:r>
              <a:rPr lang="en-US" dirty="0"/>
              <a:t>, but do not immediately halt energy system operations. </a:t>
            </a:r>
          </a:p>
          <a:p>
            <a:r>
              <a:rPr lang="en-US" dirty="0"/>
              <a:t>Actually, in TEMOA-stochastic it’s possible to intercept the slow deployment effect thanks to the scenario-tree structure, because at different nodes can correspond a new response of the system.</a:t>
            </a:r>
          </a:p>
          <a:p>
            <a:pPr marL="0" indent="0">
              <a:buNone/>
            </a:pPr>
            <a:endParaRPr lang="en-US" dirty="0"/>
          </a:p>
          <a:p>
            <a:endParaRPr lang="en-US" dirty="0"/>
          </a:p>
        </p:txBody>
      </p:sp>
      <p:sp>
        <p:nvSpPr>
          <p:cNvPr id="3" name="Title 2">
            <a:extLst>
              <a:ext uri="{FF2B5EF4-FFF2-40B4-BE49-F238E27FC236}">
                <a16:creationId xmlns:a16="http://schemas.microsoft.com/office/drawing/2014/main" id="{B2594169-06FF-9B7E-A752-1805A13FA772}"/>
              </a:ext>
            </a:extLst>
          </p:cNvPr>
          <p:cNvSpPr>
            <a:spLocks noGrp="1"/>
          </p:cNvSpPr>
          <p:nvPr>
            <p:ph type="title"/>
          </p:nvPr>
        </p:nvSpPr>
        <p:spPr/>
        <p:txBody>
          <a:bodyPr/>
          <a:lstStyle/>
          <a:p>
            <a:r>
              <a:rPr lang="en-US" dirty="0"/>
              <a:t>Price elasticity of demand and supply –</a:t>
            </a:r>
            <a:br>
              <a:rPr lang="en-US" dirty="0"/>
            </a:br>
            <a:r>
              <a:rPr lang="en-US" dirty="0"/>
              <a:t>Alternative implementation in TEMOA</a:t>
            </a:r>
          </a:p>
        </p:txBody>
      </p:sp>
      <p:pic>
        <p:nvPicPr>
          <p:cNvPr id="4" name="Picture 3">
            <a:extLst>
              <a:ext uri="{FF2B5EF4-FFF2-40B4-BE49-F238E27FC236}">
                <a16:creationId xmlns:a16="http://schemas.microsoft.com/office/drawing/2014/main" id="{A69A2CE4-7CAF-AEE9-91F3-DEC806374381}"/>
              </a:ext>
            </a:extLst>
          </p:cNvPr>
          <p:cNvPicPr>
            <a:picLocks noChangeAspect="1"/>
          </p:cNvPicPr>
          <p:nvPr/>
        </p:nvPicPr>
        <p:blipFill>
          <a:blip r:embed="rId2"/>
          <a:stretch>
            <a:fillRect/>
          </a:stretch>
        </p:blipFill>
        <p:spPr>
          <a:xfrm>
            <a:off x="11119231" y="707910"/>
            <a:ext cx="418926" cy="418926"/>
          </a:xfrm>
          <a:prstGeom prst="rect">
            <a:avLst/>
          </a:prstGeom>
        </p:spPr>
      </p:pic>
    </p:spTree>
    <p:extLst>
      <p:ext uri="{BB962C8B-B14F-4D97-AF65-F5344CB8AC3E}">
        <p14:creationId xmlns:p14="http://schemas.microsoft.com/office/powerpoint/2010/main" val="1189810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396A12-EFFB-BA07-D01D-BA7A2896B996}"/>
              </a:ext>
            </a:extLst>
          </p:cNvPr>
          <p:cNvSpPr>
            <a:spLocks noGrp="1"/>
          </p:cNvSpPr>
          <p:nvPr>
            <p:ph idx="13"/>
          </p:nvPr>
        </p:nvSpPr>
        <p:spPr/>
        <p:txBody>
          <a:bodyPr/>
          <a:lstStyle/>
          <a:p>
            <a:pPr marL="0" indent="0">
              <a:buNone/>
            </a:pPr>
            <a:r>
              <a:rPr lang="en-US" dirty="0"/>
              <a:t>Issue:</a:t>
            </a:r>
          </a:p>
          <a:p>
            <a:r>
              <a:rPr lang="en-US" dirty="0"/>
              <a:t>Elasticities tie price disruption with supply shortage</a:t>
            </a:r>
          </a:p>
          <a:p>
            <a:r>
              <a:rPr lang="en-US" dirty="0"/>
              <a:t>Actually, lower elasticities mean higher total cost of the system:</a:t>
            </a:r>
          </a:p>
          <a:p>
            <a:pPr lvl="1"/>
            <a:r>
              <a:rPr lang="en-US" dirty="0"/>
              <a:t>A low elasticity means that the system isn’t able to adapt to price shock, and find alternatives</a:t>
            </a:r>
          </a:p>
          <a:p>
            <a:r>
              <a:rPr lang="en-US" dirty="0"/>
              <a:t>This aspect isn’t intercepted by TEMOA if actually the disruption enters only as activity restriction and not as cost increases</a:t>
            </a:r>
          </a:p>
        </p:txBody>
      </p:sp>
      <p:sp>
        <p:nvSpPr>
          <p:cNvPr id="3" name="Title 2">
            <a:extLst>
              <a:ext uri="{FF2B5EF4-FFF2-40B4-BE49-F238E27FC236}">
                <a16:creationId xmlns:a16="http://schemas.microsoft.com/office/drawing/2014/main" id="{548B7703-7566-6C25-9C22-ECD28A6D867C}"/>
              </a:ext>
            </a:extLst>
          </p:cNvPr>
          <p:cNvSpPr>
            <a:spLocks noGrp="1"/>
          </p:cNvSpPr>
          <p:nvPr>
            <p:ph type="title"/>
          </p:nvPr>
        </p:nvSpPr>
        <p:spPr/>
        <p:txBody>
          <a:bodyPr/>
          <a:lstStyle/>
          <a:p>
            <a:r>
              <a:rPr lang="en-US" dirty="0"/>
              <a:t>Tie specific scenario families to disruption types</a:t>
            </a:r>
          </a:p>
        </p:txBody>
      </p:sp>
    </p:spTree>
    <p:extLst>
      <p:ext uri="{BB962C8B-B14F-4D97-AF65-F5344CB8AC3E}">
        <p14:creationId xmlns:p14="http://schemas.microsoft.com/office/powerpoint/2010/main" val="137783859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ahoma"/>
        <a:ea typeface=""/>
        <a:cs typeface=""/>
      </a:majorFont>
      <a:minorFont>
        <a:latin typeface="Tahom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_MAHTEP_presentation_v4_20230127.pptx" id="{D2DA9489-29DE-422F-9286-1DD8C1E4E868}" vid="{C677A3C3-4877-441A-A121-E3C2469845C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B0168C57EBD84292E6139C5BBE06A3" ma:contentTypeVersion="15" ma:contentTypeDescription="Create a new document." ma:contentTypeScope="" ma:versionID="3cd83e449ad1bf20ca8e2bc3ca4ed937">
  <xsd:schema xmlns:xsd="http://www.w3.org/2001/XMLSchema" xmlns:xs="http://www.w3.org/2001/XMLSchema" xmlns:p="http://schemas.microsoft.com/office/2006/metadata/properties" xmlns:ns2="ddba171a-1d49-489c-bf77-8e219bb1274f" xmlns:ns3="e1df22ec-70aa-4917-b297-4cd5b7f04700" targetNamespace="http://schemas.microsoft.com/office/2006/metadata/properties" ma:root="true" ma:fieldsID="31eee1a70bea845527209fb25fb34383" ns2:_="" ns3:_="">
    <xsd:import namespace="ddba171a-1d49-489c-bf77-8e219bb1274f"/>
    <xsd:import namespace="e1df22ec-70aa-4917-b297-4cd5b7f0470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_Flow_SignoffStatu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ba171a-1d49-489c-bf77-8e219bb127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Length (seconds)" ma:internalName="MediaLengthInSeconds" ma:readOnly="true">
      <xsd:simpleType>
        <xsd:restriction base="dms:Unknown"/>
      </xsd:simpleType>
    </xsd:element>
    <xsd:element name="_Flow_SignoffStatus" ma:index="19" nillable="true" ma:displayName="Sign-off status" ma:internalName="Sign_x002d_off_x0020_status">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1d839f4-5e4e-4afa-85c1-b6ecef325b10"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1df22ec-70aa-4917-b297-4cd5b7f0470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2093327-5844-44a4-8638-74423d6e9520}" ma:internalName="TaxCatchAll" ma:showField="CatchAllData" ma:web="e1df22ec-70aa-4917-b297-4cd5b7f047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e1df22ec-70aa-4917-b297-4cd5b7f04700">
      <UserInfo>
        <DisplayName>Daniele  Placido</DisplayName>
        <AccountId>33</AccountId>
        <AccountType/>
      </UserInfo>
    </SharedWithUsers>
    <lcf76f155ced4ddcb4097134ff3c332f xmlns="ddba171a-1d49-489c-bf77-8e219bb1274f">
      <Terms xmlns="http://schemas.microsoft.com/office/infopath/2007/PartnerControls"/>
    </lcf76f155ced4ddcb4097134ff3c332f>
    <TaxCatchAll xmlns="e1df22ec-70aa-4917-b297-4cd5b7f04700" xsi:nil="true"/>
    <_Flow_SignoffStatus xmlns="ddba171a-1d49-489c-bf77-8e219bb1274f" xsi:nil="true"/>
  </documentManagement>
</p:properties>
</file>

<file path=customXml/itemProps1.xml><?xml version="1.0" encoding="utf-8"?>
<ds:datastoreItem xmlns:ds="http://schemas.openxmlformats.org/officeDocument/2006/customXml" ds:itemID="{30C12A54-C5CA-4C6E-9DB1-49383FC7AA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ba171a-1d49-489c-bf77-8e219bb1274f"/>
    <ds:schemaRef ds:uri="e1df22ec-70aa-4917-b297-4cd5b7f047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345D8B-7ED2-42F1-B799-D199359D523C}">
  <ds:schemaRefs>
    <ds:schemaRef ds:uri="http://schemas.microsoft.com/sharepoint/v3/contenttype/forms"/>
  </ds:schemaRefs>
</ds:datastoreItem>
</file>

<file path=customXml/itemProps3.xml><?xml version="1.0" encoding="utf-8"?>
<ds:datastoreItem xmlns:ds="http://schemas.openxmlformats.org/officeDocument/2006/customXml" ds:itemID="{134E283E-613A-4395-B259-A149205D65DC}">
  <ds:schemaRefs>
    <ds:schemaRef ds:uri="e1df22ec-70aa-4917-b297-4cd5b7f04700"/>
    <ds:schemaRef ds:uri="ddba171a-1d49-489c-bf77-8e219bb1274f"/>
    <ds:schemaRef ds:uri="http://schemas.microsoft.com/office/2006/documentManagement/types"/>
    <ds:schemaRef ds:uri="http://schemas.openxmlformats.org/package/2006/metadata/core-properties"/>
    <ds:schemaRef ds:uri="http://purl.org/dc/terms/"/>
    <ds:schemaRef ds:uri="http://purl.org/dc/elements/1.1/"/>
    <ds:schemaRef ds:uri="http://www.w3.org/XML/1998/namespace"/>
    <ds:schemaRef ds:uri="http://schemas.microsoft.com/office/2006/metadata/properties"/>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MAHTEP_Template</Template>
  <TotalTime>4981</TotalTime>
  <Words>8756</Words>
  <Application>Microsoft Office PowerPoint</Application>
  <PresentationFormat>Widescreen</PresentationFormat>
  <Paragraphs>854</Paragraphs>
  <Slides>93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93</vt:i4>
      </vt:variant>
    </vt:vector>
  </HeadingPairs>
  <TitlesOfParts>
    <vt:vector size="103" baseType="lpstr">
      <vt:lpstr>Aptos</vt:lpstr>
      <vt:lpstr>Arial</vt:lpstr>
      <vt:lpstr>Calibri</vt:lpstr>
      <vt:lpstr>Cambria Math</vt:lpstr>
      <vt:lpstr>Open Sans</vt:lpstr>
      <vt:lpstr>Poppins</vt:lpstr>
      <vt:lpstr>Poppins ExtraBold</vt:lpstr>
      <vt:lpstr>Tahoma</vt:lpstr>
      <vt:lpstr>Wingdings</vt:lpstr>
      <vt:lpstr>Office Theme</vt:lpstr>
      <vt:lpstr>Internship work</vt:lpstr>
      <vt:lpstr>Supply disruption scenarios building</vt:lpstr>
      <vt:lpstr>Index</vt:lpstr>
      <vt:lpstr>Starting hypothesis and CRMs markets</vt:lpstr>
      <vt:lpstr>Starting hypothesis</vt:lpstr>
      <vt:lpstr>Starting hypothesis – Price volatility in CRMs markets</vt:lpstr>
      <vt:lpstr>Starting hypothesis – Price volatility in CRMs markets</vt:lpstr>
      <vt:lpstr>Starting hypothesis – Price volatility in CRMs markets - Database</vt:lpstr>
      <vt:lpstr>Starting hypothesis – Price volatility in CRMs markets – DERA Approach</vt:lpstr>
      <vt:lpstr>PowerPoint Presentation</vt:lpstr>
      <vt:lpstr>   GEV analysis on material prices</vt:lpstr>
      <vt:lpstr>Starting hypothesis – Price volatility in CRMs markets – GARCH + EVT</vt:lpstr>
      <vt:lpstr>Starting hypothesis – Price volatility in CRMs markets – GARCH + EVT</vt:lpstr>
      <vt:lpstr>Starting hypothesis – Price volatility in CRMs markets – GARCH + EVT</vt:lpstr>
      <vt:lpstr>Starting hypothesis – Price volatility in CRMs markets – GARCH + EVT</vt:lpstr>
      <vt:lpstr>Starting hypothesis – Price volatility in CRMs markets – GARCH + EVT</vt:lpstr>
      <vt:lpstr>Starting hypothesis – Price volatility in CRMs markets – GARCH + EVT</vt:lpstr>
      <vt:lpstr>Global and EU_CRM framework</vt:lpstr>
      <vt:lpstr>Global and EU_CRM framework</vt:lpstr>
      <vt:lpstr>Global and EU_CRM framework</vt:lpstr>
      <vt:lpstr>Criticality framework </vt:lpstr>
      <vt:lpstr>Criticality framework – recent example of Supply disruption and responses </vt:lpstr>
      <vt:lpstr>Global and EU_CRM framework</vt:lpstr>
      <vt:lpstr>Global and EU_CRM framework – Criticality </vt:lpstr>
      <vt:lpstr>Global and EU_CRM framework – Criticality </vt:lpstr>
      <vt:lpstr>Global and EU_CRM framework – Criticality </vt:lpstr>
      <vt:lpstr>Global and EU_CRM framework – Criticality: CRMA (in force since 2024) </vt:lpstr>
      <vt:lpstr>Global and EU_CRM framework – Criticality: EU_SR</vt:lpstr>
      <vt:lpstr>Global and EU_CRM framework – Criticality: EU_SR</vt:lpstr>
      <vt:lpstr>Global and EU_CRM framework – Criticality: EU_SR</vt:lpstr>
      <vt:lpstr>Global and EU_CRM framework – Criticality: EU_SR</vt:lpstr>
      <vt:lpstr>CRMs market analysis  Price disruption scenarios</vt:lpstr>
      <vt:lpstr>Hierarchical Clustering procedure</vt:lpstr>
      <vt:lpstr>Hierarchical Clustering procedure – Data normalization</vt:lpstr>
      <vt:lpstr>Hierarchical Clustering procedure – Data normalization</vt:lpstr>
      <vt:lpstr>Hierarchical Clustering procedure – Data normalization</vt:lpstr>
      <vt:lpstr>Hierarchical Clustering procedure – Data normalization</vt:lpstr>
      <vt:lpstr>Hierarchical Clustering procedure - steps</vt:lpstr>
      <vt:lpstr>Hierarchical Clustering procedure – Quality indices</vt:lpstr>
      <vt:lpstr>Hierarchical Clustering procedure – Quality indices</vt:lpstr>
      <vt:lpstr>Hierarchical Clustering procedure – Stability check</vt:lpstr>
      <vt:lpstr>Hierarchical Clustering procedure</vt:lpstr>
      <vt:lpstr>K-means clustering as robustness check</vt:lpstr>
      <vt:lpstr>CRMs market analysis  Price disruption scenarios</vt:lpstr>
      <vt:lpstr>CRMs market analysis  Price disruption scenarios</vt:lpstr>
      <vt:lpstr>CRMs market analysis  Price disruption scenarios</vt:lpstr>
      <vt:lpstr>CRMs market analysis  Price disruption scenarios</vt:lpstr>
      <vt:lpstr>CRMs market analysis  Price disruption scenarios</vt:lpstr>
      <vt:lpstr>CRMs market analysis  Price disruption scenarios</vt:lpstr>
      <vt:lpstr>CRMs market analysis  Price disruption scenarios</vt:lpstr>
      <vt:lpstr>Joint CRMs price disruption scenarios</vt:lpstr>
      <vt:lpstr>Joint CRMs price disruption scenarios</vt:lpstr>
      <vt:lpstr>Joint CRMs price disruption scenarios</vt:lpstr>
      <vt:lpstr>Joint CRMs price disruption scenarios</vt:lpstr>
      <vt:lpstr>CRMs market analysis  Price disruption scenarios: Results</vt:lpstr>
      <vt:lpstr>CRMs market analysis  Price disruption scenarios: Results</vt:lpstr>
      <vt:lpstr>CRMs market analysis  Price disruption scenarios: Results</vt:lpstr>
      <vt:lpstr>CRMs market analysis  Price disruption scenarios: Results</vt:lpstr>
      <vt:lpstr>CRMs market analysis  Price disruption scenarios: Results</vt:lpstr>
      <vt:lpstr>CRMs market analysis  Price disruption scenarios: Results</vt:lpstr>
      <vt:lpstr>CRMs market analysis  Price disruption scenarios: Results</vt:lpstr>
      <vt:lpstr>CRMs market analysis  Price disruption scenarios: Results</vt:lpstr>
      <vt:lpstr>CRMs market analysis  Price disruption scenarios: Results</vt:lpstr>
      <vt:lpstr>CRMs market analysis  Price disruption scenarios: Results</vt:lpstr>
      <vt:lpstr>CRMs market analysis – Clustering rationale</vt:lpstr>
      <vt:lpstr>Price elasticity of demand and supply</vt:lpstr>
      <vt:lpstr>Price elasticity of demand and supply - Index</vt:lpstr>
      <vt:lpstr>Price elasticity of demand and supply - Roadmap</vt:lpstr>
      <vt:lpstr>Price elasticity of demand and supply - Sources</vt:lpstr>
      <vt:lpstr>Price elasticity of demand and supply - Sources</vt:lpstr>
      <vt:lpstr>Price elasticity of demand and supply - Sources</vt:lpstr>
      <vt:lpstr>Price elasticity of demand and supply -  Conceptual Foundations (Metals)</vt:lpstr>
      <vt:lpstr>Price elasticity of demand and supply -  Conceptual Foundations (Metals)</vt:lpstr>
      <vt:lpstr>Price elasticity of demand and supply – Implementation in TEMOA</vt:lpstr>
      <vt:lpstr>Price elasticity of demand and supply –  Which elasticity?</vt:lpstr>
      <vt:lpstr>Price elasticity of demand and supply – Implementation in TEMOA, exogenous</vt:lpstr>
      <vt:lpstr>Price elasticity of demand and supply – Implementation in TEMOA, exogenous</vt:lpstr>
      <vt:lpstr>Price elasticity of demand and supply – “Disruption” vs. “business‑cycle”</vt:lpstr>
      <vt:lpstr>Price elasticity of demand and supply – “Disruption” vs. “business‑cycle”</vt:lpstr>
      <vt:lpstr>Price elasticity of demand and supply – “Disruption” vs. “business‑cycle”</vt:lpstr>
      <vt:lpstr>Price elasticity of demand and supply –  Time horizons: short and long run</vt:lpstr>
      <vt:lpstr>Price elasticity of demand and supply –  CRMs lacking in literature</vt:lpstr>
      <vt:lpstr>Price elasticity of demand and supply –  CRMs lacking</vt:lpstr>
      <vt:lpstr>Price elasticity of demand and supply –  CRMs lacking</vt:lpstr>
      <vt:lpstr>Price elasticity of demand and supply –  Some studies:</vt:lpstr>
      <vt:lpstr>Price elasticity of demand and supply –  Some studies:</vt:lpstr>
      <vt:lpstr>Price elasticity of demand and supply –  Some studies:</vt:lpstr>
      <vt:lpstr>Price elasticity of demand and supply –  Some studies:</vt:lpstr>
      <vt:lpstr>Price elasticity of demand and supply –  Elasticity database</vt:lpstr>
      <vt:lpstr>Price elasticity of demand and supply –  Elasticity database - Medians</vt:lpstr>
      <vt:lpstr>Price elasticity of demand and supply –  Elasticity database post-procesing</vt:lpstr>
      <vt:lpstr>Price elasticity of demand and supply – Alternative implementation in TEMOA</vt:lpstr>
      <vt:lpstr>Tie specific scenario families to disruption types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Matteo  Nicoli</dc:creator>
  <cp:lastModifiedBy>Casarin  Pietro</cp:lastModifiedBy>
  <cp:revision>419</cp:revision>
  <dcterms:created xsi:type="dcterms:W3CDTF">2025-01-14T11:14:02Z</dcterms:created>
  <dcterms:modified xsi:type="dcterms:W3CDTF">2025-11-20T17:39:32Z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0x01010031B0168C57EBD84292E6139C5BBE06A3</vt:lpwstr>
  </property>
</Properties>
</file>